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scalability half of AT1's design — structured by the FOUR resource components that also</a:t>
            </a:r>
          </a:p>
          <a:p>
            <a:r>
              <a:t>become the AT2 team's work-split. Set the depth: design to the business needs, prove-by-test at AT3, no</a:t>
            </a:r>
          </a:p>
          <a:p>
            <a:r>
              <a:t>over-provisioning.</a:t>
            </a:r>
          </a:p>
          <a:p>
            <a:r>
              <a:t>• First two bullets: Topic 3 continues AT1 — design the scalability improvements for Ledgerline,</a:t>
            </a:r>
          </a:p>
          <a:p>
            <a:r>
              <a:t>structured by four components: network, compute, database, storage. These are the same four units the</a:t>
            </a:r>
          </a:p>
          <a:p>
            <a:r>
              <a:t>AT2 team later divides the IaC write by — flag the seam.</a:t>
            </a:r>
          </a:p>
          <a:p>
            <a:r>
              <a:t>• Third bullet: scalability here = elastic capacity-on-demand, demonstrable BY TEST at AT3 — not a</a:t>
            </a:r>
          </a:p>
          <a:p>
            <a:r>
              <a:t>forecast, and not over-provisioning.</a:t>
            </a:r>
          </a:p>
          <a:p>
            <a:r>
              <a:t>• Fourth bullet (the discipline): design only, to the business needs — the build is AT3.</a:t>
            </a:r>
          </a:p>
          <a:p>
            <a:r>
              <a:t>Misconception to pre-empt: "scalable = big enough for the busiest day." No — that's over-provisioning</a:t>
            </a:r>
          </a:p>
          <a:p>
            <a:r>
              <a:t>(paying for idle capacity); scalable means it GROWS and SHRINKS on demand. Different idea entirely.</a:t>
            </a:r>
          </a:p>
          <a:p>
            <a:r>
              <a:t>Question to pose: "What's the difference between a scalable design and just buying a bigger server?"</a:t>
            </a:r>
          </a:p>
          <a:p>
            <a:r>
              <a:t>(elastic capacity-on-demand vs fixed spare capacity you pay for whether used or not).</a:t>
            </a:r>
          </a:p>
          <a:p>
            <a:r>
              <a:t>UoC/AT1 tie: this Topic develops ICTCLD504 PC 2.2 and KE 6; the output is the resource-selection</a:t>
            </a:r>
          </a:p>
          <a:p>
            <a:r>
              <a:t>sections of the AT1 Solution Design + the object-storage KE-appendix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with the definition that governs the whole Topic — scalability is elasticity, and it's</a:t>
            </a:r>
          </a:p>
          <a:p>
            <a:r>
              <a:t>PROVEN by test, not asserted on paper.</a:t>
            </a:r>
          </a:p>
          <a:p>
            <a:r>
              <a:t>• First bullet: elastic capacity — add resources as load rises, release them as load falls; pay for what</a:t>
            </a:r>
          </a:p>
          <a:p>
            <a:r>
              <a:t>you use. Both directions matter.</a:t>
            </a:r>
          </a:p>
          <a:p>
            <a:r>
              <a:t>• Second bullet: the TEST of a scalable design is a demonstration — it scales on demand (proven at AT3),</a:t>
            </a:r>
          </a:p>
          <a:p>
            <a:r>
              <a:t>not a load forecast on paper. Design so it can be demonstrated.</a:t>
            </a:r>
          </a:p>
          <a:p>
            <a:r>
              <a:t>• Third bullet: over-provisioning fixed spare capacity is NOT scalability — it's gold-plating;</a:t>
            </a:r>
          </a:p>
          <a:p>
            <a:r>
              <a:t>right-size instead. The anti-over-engineering rule, made concrete.</a:t>
            </a:r>
          </a:p>
          <a:p>
            <a:r>
              <a:t>Misconception to pre-empt: "add auto scaling everywhere and you're scalable." No — only some tiers scale</a:t>
            </a:r>
          </a:p>
          <a:p>
            <a:r>
              <a:t>elastically (compute, storage); scalability is designed per tier to the need, and it must be</a:t>
            </a:r>
          </a:p>
          <a:p>
            <a:r>
              <a:t>demonstrable.</a:t>
            </a:r>
          </a:p>
          <a:p>
            <a:r>
              <a:t>Question to pose: "A design with a huge fixed server 'handles any load' — is it scalable?" (No — it's</a:t>
            </a:r>
          </a:p>
          <a:p>
            <a:r>
              <a:t>over-provisioned; scalable means capacity moves WITH load).</a:t>
            </a:r>
          </a:p>
          <a:p>
            <a:r>
              <a:t>UoC/AT1 tie: ICTCLD504 PC 2.2 (select &amp; improve resources for scalability) → AT1 Solution Design</a:t>
            </a:r>
          </a:p>
          <a:p>
            <a:r>
              <a:t>resource-selection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 the FOUR-COMPONENT structure off the diagram — the frame the whole scalability design (and the</a:t>
            </a:r>
          </a:p>
          <a:p>
            <a:r>
              <a:t>AT2 build) is organised by.</a:t>
            </a:r>
          </a:p>
          <a:p>
            <a:r>
              <a:t>• First bullet: split the design across four tiers — network, compute, database, storage. Point to each</a:t>
            </a:r>
          </a:p>
          <a:p>
            <a:r>
              <a:t>on the diagram.</a:t>
            </a:r>
          </a:p>
          <a:p>
            <a:r>
              <a:t>• Second bullet: compute and storage are the tiers that scale ELASTICALLY on demand; network and</a:t>
            </a:r>
          </a:p>
          <a:p>
            <a:r>
              <a:t>database are selected and configured to SUPPORT that scale. Not all four scale the same way.</a:t>
            </a:r>
          </a:p>
          <a:p>
            <a:r>
              <a:t>• Third bullet (the seam): these are the same four units the AT2 team later divides the IaC write by — a</a:t>
            </a:r>
          </a:p>
          <a:p>
            <a:r>
              <a:t>clean seam from design (now) to build (AT2/AT3). Flag it; it's a deliberate design-to-build hand-off.</a:t>
            </a:r>
          </a:p>
          <a:p>
            <a:r>
              <a:t>Misconception to pre-empt: "all four tiers scale the same way." No — compute/storage scale elastically;</a:t>
            </a:r>
          </a:p>
          <a:p>
            <a:r>
              <a:t>network/database are sized and configured to carry that scale. Treating them identically misdesigns the</a:t>
            </a:r>
          </a:p>
          <a:p>
            <a:r>
              <a:t>tier.</a:t>
            </a:r>
          </a:p>
          <a:p>
            <a:r>
              <a:t>Question to pose: "Which of the four tiers actually add and remove capacity on demand — and which just</a:t>
            </a:r>
          </a:p>
          <a:p>
            <a:r>
              <a:t>have to support that?" (compute + storage scale; network + database support).</a:t>
            </a:r>
          </a:p>
          <a:p>
            <a:r>
              <a:t>UoC/AT1 tie: ICTCLD504 PC 2.2 (select &amp; improve compute/storage/database/network resources) → AT1</a:t>
            </a:r>
          </a:p>
          <a:p>
            <a:r>
              <a:t>Solution Design; the four components are also the AT2 IaC work-split.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of the four tiers concretely — what "select and improve for scalability" means per tier. This</a:t>
            </a:r>
          </a:p>
          <a:p>
            <a:r>
              <a:t>is the how-to behind the four-component frame.</a:t>
            </a:r>
          </a:p>
          <a:p>
            <a:r>
              <a:t>• Network: right-size the path and the load-spreading so the tier below can scale OUT behind it.</a:t>
            </a:r>
          </a:p>
          <a:p>
            <a:r>
              <a:t>• Compute: move from fixed capacity to a POOL that grows and shrinks on demand (auto scaling) — the</a:t>
            </a:r>
          </a:p>
          <a:p>
            <a:r>
              <a:t>clearest example of elasticity.</a:t>
            </a:r>
          </a:p>
          <a:p>
            <a:r>
              <a:t>• Database: select a managed data service that scales READS without a rebuild, while keeping</a:t>
            </a:r>
          </a:p>
          <a:p>
            <a:r>
              <a:t>Ledgerline's accounting data consistent. (Note the consistency constraint — it's an accounting system.)</a:t>
            </a:r>
          </a:p>
          <a:p>
            <a:r>
              <a:t>• Storage: select storage that grows on demand rather than a fixed-size volume.</a:t>
            </a:r>
          </a:p>
          <a:p>
            <a:r>
              <a:t>Misconception to pre-empt: "scale the database by adding write replicas." No — an accounting system</a:t>
            </a:r>
          </a:p>
          <a:p>
            <a:r>
              <a:t>needs consistency; you scale READS and keep writes consistent, you don't shard the ledger for</a:t>
            </a:r>
          </a:p>
          <a:p>
            <a:r>
              <a:t>throughput.</a:t>
            </a:r>
          </a:p>
          <a:p>
            <a:r>
              <a:t>Question to pose: "Compute scales by a pool that grows/shrinks — what's the equivalent move for</a:t>
            </a:r>
          </a:p>
          <a:p>
            <a:r>
              <a:t>storage?" (grows on demand vs a fixed-size volume).</a:t>
            </a:r>
          </a:p>
          <a:p>
            <a:r>
              <a:t>UoC/AT1 tie: ICTCLD504 PC 2.2 (select &amp; improve each resource tier to business needs) → AT1 Solution</a:t>
            </a:r>
          </a:p>
          <a:p>
            <a:r>
              <a:t>Design resource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justification discipline — every resource choice ties to a stated business need, and nothing is</a:t>
            </a:r>
          </a:p>
          <a:p>
            <a:r>
              <a:t>scaled further than a need justifies. This is what turns selections into a defensible design.</a:t>
            </a:r>
          </a:p>
          <a:p>
            <a:r>
              <a:t>• First bullet: tie every resource choice to a stated Ledgerline business need — why THIS tier, why THIS</a:t>
            </a:r>
          </a:p>
          <a:p>
            <a:r>
              <a:t>size. No choice without a reason.</a:t>
            </a:r>
          </a:p>
          <a:p>
            <a:r>
              <a:t>• Second bullet: choose the simplest option that meets the need; note where capacity scales elastically</a:t>
            </a:r>
          </a:p>
          <a:p>
            <a:r>
              <a:t>and HOW it would be demonstrated by test (the AT3 link).</a:t>
            </a:r>
          </a:p>
          <a:p>
            <a:r>
              <a:t>• Third bullet: do not over-engineer — no tier scaled beyond what a need justifies.</a:t>
            </a:r>
          </a:p>
          <a:p>
            <a:r>
              <a:t>Misconception to pre-empt: "more headroom is safer, so scale up." No — unjustified capacity is</a:t>
            </a:r>
          </a:p>
          <a:p>
            <a:r>
              <a:t>gold-plating and loses marks; the defensible design is the simplest one that meets the need.</a:t>
            </a:r>
          </a:p>
          <a:p>
            <a:r>
              <a:t>Question to pose: "If I asked 'why is the compute tier sized like that?', what's your answer?" (a named</a:t>
            </a:r>
          </a:p>
          <a:p>
            <a:r>
              <a:t>business need + how it scales on demand — not 'to be safe').</a:t>
            </a:r>
          </a:p>
          <a:p>
            <a:r>
              <a:t>UoC/AT1 tie: ICTCLD504 PC 2.2 (select &amp; improve resources ACCORDING TO business needs) → AT1 Solution</a:t>
            </a:r>
          </a:p>
          <a:p>
            <a:r>
              <a:t>Design resource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practice; students select and improve the four tiers for the practice</a:t>
            </a:r>
          </a:p>
          <a:p>
            <a:r>
              <a:t>engagement, marking where capacity scales elastically and justifying each choice.</a:t>
            </a:r>
          </a:p>
          <a:p>
            <a:r>
              <a:t>Tell students: "For the practice engagement, select and improve the network, compute, database and</a:t>
            </a:r>
          </a:p>
          <a:p>
            <a:r>
              <a:t>storage tiers to its business needs. Mark where capacity scales elastically, and justify each choice</a:t>
            </a:r>
          </a:p>
          <a:p>
            <a:r>
              <a:t>against a named need."</a:t>
            </a:r>
          </a:p>
          <a:p>
            <a:r>
              <a:t>Steps (put on the board):</a:t>
            </a:r>
          </a:p>
          <a:p>
            <a:r>
              <a:t>1. Take the four tiers one at a time — network, compute, database, storage.</a:t>
            </a:r>
          </a:p>
          <a:p>
            <a:r>
              <a:t>2. For each, choose how to select/improve it for scalability to a stated need.</a:t>
            </a:r>
          </a:p>
          <a:p>
            <a:r>
              <a:t>3. Mark which tiers scale ELASTICALLY on demand, and note how you'd demonstrate it by test.</a:t>
            </a:r>
          </a:p>
          <a:p>
            <a:r>
              <a:t>Must produce: a four-tier resource design, each choice tied to a named need, elastic tiers marked.</a:t>
            </a:r>
          </a:p>
          <a:p>
            <a:r>
              <a:t>Timing: ~30 min then discuss. Where they get stuck: they over-provision "to be safe" (push</a:t>
            </a:r>
          </a:p>
          <a:p>
            <a:r>
              <a:t>right-sizing), and they mark network/database as elastic when those SUPPORT scale rather than scale</a:t>
            </a:r>
          </a:p>
          <a:p>
            <a:r>
              <a:t>themselves — circulate and correct.</a:t>
            </a:r>
          </a:p>
          <a:p>
            <a:r>
              <a:t>Share-back prompt: ask one student which tiers they marked elastic, and challenge any that are really</a:t>
            </a:r>
          </a:p>
          <a:p>
            <a:r>
              <a:t>just "big."</a:t>
            </a:r>
          </a:p>
          <a:p>
            <a:r>
              <a:t>No-leakage note: the website is the practice vehicle; AT1 assesses resource selection on Ledgerline —</a:t>
            </a:r>
          </a:p>
          <a:p>
            <a:r>
              <a:t>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object storage, taught as CONTEXTUAL knowledge (KE 6). It's not a Ledgerline</a:t>
            </a:r>
          </a:p>
          <a:p>
            <a:r>
              <a:t>requirement; it's the contrast that sharpens what Ledgerline's storage actually is.</a:t>
            </a:r>
          </a:p>
          <a:p>
            <a:r>
              <a:t>• First bullet: object storage holds whole objects (files) addressed by key — it scales storage on</a:t>
            </a:r>
          </a:p>
          <a:p>
            <a:r>
              <a:t>demand and serves static assets directly.</a:t>
            </a:r>
          </a:p>
          <a:p>
            <a:r>
              <a:t>• Second bullet: it's the natural home for a STATIC web site's content — HTML, images, downloads served</a:t>
            </a:r>
          </a:p>
          <a:p>
            <a:r>
              <a:t>without a server.</a:t>
            </a:r>
          </a:p>
          <a:p>
            <a:r>
              <a:t>• Third bullet (the framing): contextual here — not a Ledgerline need, but the contrast that sharpens</a:t>
            </a:r>
          </a:p>
          <a:p>
            <a:r>
              <a:t>what Ledgerline's storage actually needs. Signal this is a "know it for the KE question" slide.</a:t>
            </a:r>
          </a:p>
          <a:p>
            <a:r>
              <a:t>Misconception to pre-empt: "so we should put Ledgerline on object storage." No — Ledgerline is a</a:t>
            </a:r>
          </a:p>
          <a:p>
            <a:r>
              <a:t>transactional, database-backed system; object storage suits STATIC content. The next slide draws the</a:t>
            </a:r>
          </a:p>
          <a:p>
            <a:r>
              <a:t>contrast.</a:t>
            </a:r>
          </a:p>
          <a:p>
            <a:r>
              <a:t>Question to pose: "What kind of workload is object storage the natural home for — and is Ledgerline one</a:t>
            </a:r>
          </a:p>
          <a:p>
            <a:r>
              <a:t>of them?" (static websites; no — Ledgerline is stateful).</a:t>
            </a:r>
          </a:p>
          <a:p>
            <a:r>
              <a:t>UoC/AT1 tie: ICTCLD504 KE 6 (use of object storage for static web sites) → the object-storage-in-context</a:t>
            </a:r>
          </a:p>
          <a:p>
            <a:r>
              <a:t>question in the AT1 Part A KE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CONTRAST explicitly — Ledgerline (stateful) versus an object-storage-dependent static-website</a:t>
            </a:r>
          </a:p>
          <a:p>
            <a:r>
              <a:t>workload. The contrast is the answer to the KE-appendix question.</a:t>
            </a:r>
          </a:p>
          <a:p>
            <a:r>
              <a:t>• First bullet: Ledgerline is a stateful accounting system — transactional, consistent, database-backed;</a:t>
            </a:r>
          </a:p>
          <a:p>
            <a:r>
              <a:t>object storage is NOT its primary store.</a:t>
            </a:r>
          </a:p>
          <a:p>
            <a:r>
              <a:t>• Second bullet: an object-storage-dependent static-website workload is the OPPOSITE — its content lives</a:t>
            </a:r>
          </a:p>
          <a:p>
            <a:r>
              <a:t>in object storage and scales with it.</a:t>
            </a:r>
          </a:p>
          <a:p>
            <a:r>
              <a:t>• Third bullet: be able to explain how you would PROVISION object storage for such a workload if the need</a:t>
            </a:r>
          </a:p>
          <a:p>
            <a:r>
              <a:t>arose (the examinable skill).</a:t>
            </a:r>
          </a:p>
          <a:p>
            <a:r>
              <a:t>Misconception to pre-empt: "every system should use object storage because it scales." No — fit to the</a:t>
            </a:r>
          </a:p>
          <a:p>
            <a:r>
              <a:t>workload: static content → object storage; transactional accounting data → a managed database.</a:t>
            </a:r>
          </a:p>
          <a:p>
            <a:r>
              <a:t>Question to pose: "For a static website you'd reach for object storage — walk me through provisioning it.</a:t>
            </a:r>
          </a:p>
          <a:p>
            <a:r>
              <a:t>Now why is that the wrong store for Ledgerline's ledger?" (static vs transactional/consistent).</a:t>
            </a:r>
          </a:p>
          <a:p>
            <a:r>
              <a:t>UoC/AT1 tie: ICTCLD504 KE 6 → AT1 Part A KE appendix (the object-storage-in-context question).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practice; students answer the object-storage-in-context question in</a:t>
            </a:r>
          </a:p>
          <a:p>
            <a:r>
              <a:t>writing — a direct rehearsal of the AT1 KE-appendix question.</a:t>
            </a:r>
          </a:p>
          <a:p>
            <a:r>
              <a:t>Tell students: "Contrast Ledgerline's storage needs with an object-storage-dependent website workload.</a:t>
            </a:r>
          </a:p>
          <a:p>
            <a:r>
              <a:t>Then explain how you would provision object storage for the website workload if it were needed."</a:t>
            </a:r>
          </a:p>
          <a:p>
            <a:r>
              <a:t>Steps (put on the board):</a:t>
            </a:r>
          </a:p>
          <a:p>
            <a:r>
              <a:t>1. State Ledgerline's storage character — stateful, transactional, database-backed.</a:t>
            </a:r>
          </a:p>
          <a:p>
            <a:r>
              <a:t>2. Contrast the static-website workload — content in object storage, scales with it.</a:t>
            </a:r>
          </a:p>
          <a:p>
            <a:r>
              <a:t>3. Explain how you'd provision the object storage for that website workload.</a:t>
            </a:r>
          </a:p>
          <a:p>
            <a:r>
              <a:t>Must produce: a short written answer with the contrast plus a provisioning explanation.</a:t>
            </a:r>
          </a:p>
          <a:p>
            <a:r>
              <a:t>Timing: ~15 min then discuss. Where they get stuck: they describe object storage generically without the</a:t>
            </a:r>
          </a:p>
          <a:p>
            <a:r>
              <a:t>CONTRAST, or forget the provisioning step — circulate and check both halves are present.</a:t>
            </a:r>
          </a:p>
          <a:p>
            <a:r>
              <a:t>Share-back prompt: read one strong answer and ask the room whether it (a) contrasts and (b) provisions.</a:t>
            </a:r>
          </a:p>
          <a:p>
            <a:r>
              <a:t>No-leakage note: this rehearses the KE-appendix question shape; AT1 asks it for Ledgerline — comparable,</a:t>
            </a:r>
          </a:p>
          <a:p>
            <a:r>
              <a:t>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Designing for scalability and the four components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scalability improvements by selecting and improving the four resource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scalability half of 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3 continues AT1: you design the scalability improvements for Ledgerline (single-AZ cloud).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Structure the design by four resource components — network, compute, database, storage — the same four units the AT2 team later divides the IaC write by.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Scalability here means elastic capacity-on-demand, demonstrable by test at AT3 — not a forecast, and not over-provisioning.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business needs — the build is AT3.</a:t>
            </a:r>
          </a:p>
        </p:txBody>
      </p:sp>
      <p:pic>
        <p:nvPicPr>
          <p:cNvPr id="5" name="Picture 4" descr="gen-5b8488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four resource components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select and improve each tier to the business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Scalability = elastic capacity-on-demand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Elastic capacity: add resources as load rises, release them as load falls — pay for what you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test of a scalable design is a demonstration: it scales on demand (proven at AT3), not a load forecast on paper.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Over-provisioning fixed spare capacity is not scalability — it is gold-plating; right-size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four resource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Split the design across four tiers: network, compute, database,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Compute and storage are the tiers that scale elastically on demand; network and database are selected and configured to support that scale.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These are the same four units the AT2 team later divides the IaC write by — a clean seam from design to build.</a:t>
            </a:r>
          </a:p>
        </p:txBody>
      </p:sp>
      <p:pic>
        <p:nvPicPr>
          <p:cNvPr id="5" name="Picture 4" descr="four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31820"/>
            <a:ext cx="5120640" cy="1325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Selecting and improving each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Network: right-size the path and load-spreading so the tier below can scale out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Compute: move from fixed capacity to a pool that grows and shrinks on demand (auto scaling).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Database: select a managed data service that scales reads without a rebuild; keep Ledgerline's accounting data consistent.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Storage: select storage that grows on demand rather than a fixed-size volume.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Justify against the business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Tie every resource choice to a stated Ledgerline business need — why this tier, why this size.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the simplest option that meets the need; note where capacity scales elastically and how it would be demonstrated by test.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 not over-engineer: no tier scaled beyond what a need justifies.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four tiers for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practice-vehicle engagement, select and improve the network, compute, database and storage tiers to its business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Mark where capacity scales elastically, and justify each choice against a named need.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Object storage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contrast a stateful system with an object-storage-dependent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Object storage for static web sites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Object storage holds whole objects (files) addressed by key — it scales storage on demand and serves static assets directly.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is the natural home for a static web site's content: HTML, images, downloads served without a server.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Contextual knowledge here — not a Ledgerline requirement, but the contrast that sharpens what Ledgerline's storage actually needs.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Ledgerline vs a static-website workload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Ledgerline is a stateful accounting system: transactional, consistent, database-backed — object storage is not its primary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object-storage-dependent static-website workload is the opposite: its content lives in object storage and scales with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 able to explain how you would provision object storage for such a workload if the need arose.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object-storage-in-context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Contrast Ledgerline's storage needs with an object-storage-dependent website workload.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Explain how you would provision object storage for the website workload if it were needed.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3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Scalability = elastic capacity-on-demand, demonstrable by test — not a forecast, not over-provisioning.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Design across four resource components: network, compute, database, storage — the AT2 IaC seam.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each tier against a Ledgerline business need; right-size, choose the simplest that fits.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Object storage suits static-website workloads; Ledgerline is stateful and database-backed — know the contrast.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4 — document, present &amp; sign-off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scalability half across the four components; next you document and present the Solution Design for sign-off.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these resource selections and their justifications — they are the core of the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