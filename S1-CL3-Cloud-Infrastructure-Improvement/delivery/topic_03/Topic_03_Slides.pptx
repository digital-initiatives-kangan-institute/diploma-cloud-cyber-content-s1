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tasks 10 to 13, in order — three improvement passes then the cost-benefit case.</a:t>
            </a:r>
          </a:p>
          <a:p>
            <a:r>
              <a:t>The centrepiece lands in this Topic: rejecting an improvement can be the strongest design move in the cluster.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task 10 — the security pass. Encryption is assumed on by default, including any cross-region copy.</a:t>
            </a:r>
          </a:p>
          <a:p>
            <a:r>
              <a:t>Misconception: a DR copy is "just a backup" and can be looser. A weaker copy is the breach.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 practice workbook task 10.</a:t>
            </a:r>
          </a:p>
          <a:p>
            <a:r>
              <a:t>Push tightening-first: an improvement that adds a service before fixing a loose group has the order wrong.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 before the design. Map each building block to the failure it answers.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tier by tier. Leave the database tension unresolved for one slide on purpose.</a:t>
            </a:r>
          </a:p>
          <a:p>
            <a:r>
              <a:t>Redundancy is applied tier by tier, to the goal — not painted across everything.</a:t>
            </a:r>
          </a:p>
          <a:p>
            <a:r>
              <a:t>The diagram shows the database with a question mark deliberately. Do not resolve it for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assessed piece of reasoning in AT1 — slow down here.</a:t>
            </a:r>
          </a:p>
          <a:p>
            <a:r>
              <a:t>The assessed skill is arguing the trade-off, not naming the feature. A well-argued rejection outscores a feature added by reflex.</a:t>
            </a:r>
          </a:p>
          <a:p>
            <a:r>
              <a:t>Press them on availability class: a public marketing site losing an hour overnight is not the same as a system with an externally fixed deadline. Different systems, different answers, same method.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light — one constraint shaping where specific data sits, nothing more.</a:t>
            </a:r>
          </a:p>
          <a:p>
            <a:r>
              <a:t>Ties back to workbook task 3; the compliance reading becomes a design input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 practice workbook task 11.</a:t>
            </a:r>
          </a:p>
          <a:p>
            <a:r>
              <a:t>The data-tier call is theirs to make and argue. Two students can reach opposite verdicts and both be right, if both are argued against the goal and the cost. That's the learning, not a mistake.</a:t>
            </a:r>
          </a:p>
          <a:p>
            <a:r>
              <a:t>Watch for a verdict copied off the table rather than argued. The table is the shape of the argument, not its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task 12, first half. Elasticity's cost payoff is releasing capacity — connect back to Topic 2's definition.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12, second half. The metrics from Topic 2 come back as the things monitored — the thread is deliberate.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 practice workbook task 12.</a:t>
            </a:r>
          </a:p>
          <a:p>
            <a:r>
              <a:t>Every monitored metric should trace to task 8; every cost claim to a tier.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 task 13 — the written case. The operational costing document is the baseline; every claim cites it.</a:t>
            </a:r>
          </a:p>
          <a:p>
            <a:r>
              <a:t>The centrepiece rejection from C2 is the worked example of the form.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 practice workbook task 13.</a:t>
            </a:r>
          </a:p>
          <a:p>
            <a:r>
              <a:t>Push for numbers from the costing document, and for at least one argued rejection.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A2929"/>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515600" cy="2377440"/>
          </a:xfrm>
          <a:prstGeom prst="rect">
            <a:avLst/>
          </a:prstGeom>
          <a:noFill/>
        </p:spPr>
        <p:txBody>
          <a:bodyPr wrap="square" anchor="t" lIns="0" rIns="0" tIns="0" bIns="0">
            <a:spAutoFit/>
          </a:bodyPr>
          <a:lstStyle/>
          <a:p>
            <a:r>
              <a:rPr sz="2000" b="1" i="0">
                <a:solidFill>
                  <a:srgbClr val="FBB900"/>
                </a:solidFill>
                <a:latin typeface="Roboto"/>
              </a:rPr>
              <a:t>TOPIC 03</a:t>
            </a:r>
          </a:p>
          <a:p>
            <a:pPr>
              <a:spcBef>
                <a:spcPts val="800"/>
              </a:spcBef>
            </a:pPr>
            <a:r>
              <a:rPr sz="4600" b="1" i="0">
                <a:solidFill>
                  <a:srgbClr val="FFFFFF"/>
                </a:solidFill>
                <a:latin typeface="Roboto"/>
              </a:rPr>
              <a:t>Designing the improvements: security, reliability, cost</a:t>
            </a:r>
          </a:p>
          <a:p>
            <a:pPr>
              <a:spcBef>
                <a:spcPts val="1200"/>
              </a:spcBef>
            </a:pPr>
            <a:r>
              <a:rPr sz="2200" b="0" i="1">
                <a:solidFill>
                  <a:srgbClr val="D1D1D1"/>
                </a:solidFill>
                <a:latin typeface="Roboto Light"/>
              </a:rPr>
              <a:t>Design the security, reliability, scalability and cost improvements — and argue the cost-benefit case</a:t>
            </a:r>
          </a:p>
        </p:txBody>
      </p:sp>
      <p:sp>
        <p:nvSpPr>
          <p:cNvPr id="4" name="TextBox 3"/>
          <p:cNvSpPr txBox="1"/>
          <p:nvPr/>
        </p:nvSpPr>
        <p:spPr>
          <a:xfrm>
            <a:off x="914400" y="5943600"/>
            <a:ext cx="7315200" cy="457200"/>
          </a:xfrm>
          <a:prstGeom prst="rect">
            <a:avLst/>
          </a:prstGeom>
          <a:noFill/>
        </p:spPr>
        <p:txBody>
          <a:bodyPr wrap="square" anchor="t" lIns="0" rIns="0" tIns="0" bIns="0">
            <a:spAutoFit/>
          </a:bodyPr>
          <a:lstStyle/>
          <a:p>
            <a:r>
              <a:rPr sz="1600" b="1" i="0">
                <a:solidFill>
                  <a:srgbClr val="FFFFFF"/>
                </a:solidFill>
                <a:latin typeface="Roboto"/>
              </a:rPr>
              <a:t>Kangan </a:t>
            </a:r>
            <a:r>
              <a:rPr sz="1600" b="1" i="0">
                <a:solidFill>
                  <a:srgbClr val="EDAB0C"/>
                </a:solidFill>
                <a:latin typeface="Roboto"/>
              </a:rPr>
              <a:t>Institute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The improvement passes</a:t>
            </a:r>
          </a:p>
        </p:txBody>
      </p:sp>
      <p:sp>
        <p:nvSpPr>
          <p:cNvPr id="3" name="Rectangle 2"/>
          <p:cNvSpPr/>
          <p:nvPr/>
        </p:nvSpPr>
        <p:spPr>
          <a:xfrm>
            <a:off x="658368" y="13716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737360"/>
            <a:ext cx="5486400" cy="4297680"/>
          </a:xfrm>
          <a:prstGeom prst="rect">
            <a:avLst/>
          </a:prstGeom>
          <a:noFill/>
        </p:spPr>
        <p:txBody>
          <a:bodyPr wrap="square" anchor="t" lIns="0" rIns="0" tIns="0" bIns="0">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The tiers are designed; now you improve them — security, then reliability and scalability, then cost and monitoring.</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Each pass reviews the same architecture through a different lens, to the goals and metrics you set.</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It ends with the argument: every improvement justified on cost versus benefit.</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Design only — the build is AT3.</a:t>
            </a:r>
          </a:p>
        </p:txBody>
      </p:sp>
      <p:pic>
        <p:nvPicPr>
          <p:cNvPr id="5" name="Picture 4" descr="gen-4ef48ddc.png"/>
          <p:cNvPicPr>
            <a:picLocks noChangeAspect="1"/>
          </p:cNvPicPr>
          <p:nvPr/>
        </p:nvPicPr>
        <p:blipFill>
          <a:blip r:embed="rId2"/>
          <a:stretch>
            <a:fillRect/>
          </a:stretch>
        </p:blipFill>
        <p:spPr>
          <a:xfrm>
            <a:off x="6949440" y="1783080"/>
            <a:ext cx="4023360" cy="4023360"/>
          </a:xfrm>
          <a:prstGeom prst="rect">
            <a:avLst/>
          </a:prstGeom>
        </p:spPr>
      </p:pic>
      <p:sp>
        <p:nvSpPr>
          <p:cNvPr id="6" name="Rectangle 5"/>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8" name="TextBox 7"/>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103120"/>
            <a:ext cx="3291840" cy="2194560"/>
          </a:xfrm>
          <a:prstGeom prst="rect">
            <a:avLst/>
          </a:prstGeom>
          <a:noFill/>
        </p:spPr>
        <p:txBody>
          <a:bodyPr wrap="square" anchor="t" lIns="0" rIns="0" tIns="0" bIns="0">
            <a:spAutoFit/>
          </a:bodyPr>
          <a:lstStyle/>
          <a:p>
            <a:r>
              <a:rPr sz="13000" b="1" i="0">
                <a:solidFill>
                  <a:srgbClr val="FFFFFF"/>
                </a:solidFill>
                <a:latin typeface="Roboto"/>
              </a:rPr>
              <a:t>01</a:t>
            </a:r>
          </a:p>
        </p:txBody>
      </p:sp>
      <p:sp>
        <p:nvSpPr>
          <p:cNvPr id="4" name="TextBox 3"/>
          <p:cNvSpPr txBox="1"/>
          <p:nvPr/>
        </p:nvSpPr>
        <p:spPr>
          <a:xfrm>
            <a:off x="4480560" y="2468880"/>
            <a:ext cx="7132320" cy="2194560"/>
          </a:xfrm>
          <a:prstGeom prst="rect">
            <a:avLst/>
          </a:prstGeom>
          <a:noFill/>
        </p:spPr>
        <p:txBody>
          <a:bodyPr wrap="square" anchor="t" lIns="0" rIns="0" tIns="0" bIns="0">
            <a:spAutoFit/>
          </a:bodyPr>
          <a:lstStyle/>
          <a:p>
            <a:r>
              <a:rPr sz="1600" b="1" i="0">
                <a:solidFill>
                  <a:srgbClr val="92268F"/>
                </a:solidFill>
                <a:latin typeface="Roboto"/>
              </a:rPr>
              <a:t>SECTION</a:t>
            </a:r>
          </a:p>
          <a:p>
            <a:pPr>
              <a:spcBef>
                <a:spcPts val="600"/>
              </a:spcBef>
            </a:pPr>
            <a:r>
              <a:rPr sz="3800" b="1" i="0">
                <a:solidFill>
                  <a:srgbClr val="2A2929"/>
                </a:solidFill>
                <a:latin typeface="Roboto"/>
              </a:rPr>
              <a:t>The security improvements</a:t>
            </a:r>
          </a:p>
          <a:p>
            <a:pPr>
              <a:spcBef>
                <a:spcPts val="1000"/>
              </a:spcBef>
            </a:pPr>
            <a:r>
              <a:rPr sz="2000" b="0" i="1">
                <a:solidFill>
                  <a:srgbClr val="484848"/>
                </a:solidFill>
                <a:latin typeface="Roboto Light"/>
              </a:rPr>
              <a:t>the improvement stays secure</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Security layers, and improving them</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691640"/>
            <a:ext cx="10881360" cy="4480560"/>
          </a:xfrm>
          <a:prstGeom prst="rect">
            <a:avLst/>
          </a:prstGeom>
          <a:noFill/>
        </p:spPr>
        <p:txBody>
          <a:bodyPr wrap="square" anchor="ctr" lIns="0" rIns="0" tIns="0" bIns="0">
            <a:spAutoFit/>
          </a:bodyPr>
          <a:lstStyle/>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The layers: network isolation, security groups, least-privilege access, and encryption at rest and in transit as the baseline.</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Review each layer against the goals and design the improvements — tightening what exists before adding anything new.</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Every later change must inherit these layers, not bypass them — a DR copy of financial data carries the same protections as the primary.</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anchor="ctr" lIns="0" rIns="0" tIns="0" bIns="0">
            <a:spAutoFit/>
          </a:bodyPr>
          <a:lstStyle/>
          <a:p>
            <a:r>
              <a:rPr sz="2600" b="1" i="0">
                <a:solidFill>
                  <a:srgbClr val="FFFFFF"/>
                </a:solidFill>
                <a:latin typeface="Roboto"/>
              </a:rPr>
              <a:t>Design the security improvements</a:t>
            </a:r>
          </a:p>
        </p:txBody>
      </p:sp>
      <p:sp>
        <p:nvSpPr>
          <p:cNvPr id="5" name="TextBox 4"/>
          <p:cNvSpPr txBox="1"/>
          <p:nvPr/>
        </p:nvSpPr>
        <p:spPr>
          <a:xfrm>
            <a:off x="658368" y="1554480"/>
            <a:ext cx="10881360" cy="4297680"/>
          </a:xfrm>
          <a:prstGeom prst="rect">
            <a:avLst/>
          </a:prstGeom>
          <a:noFill/>
        </p:spPr>
        <p:txBody>
          <a:bodyPr wrap="square" anchor="t" lIns="0" rIns="0" tIns="0" bIns="0">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Workbook — task 10.</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Review the practice engagement's security layers and design the improvements, each tied to a goal.</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943600"/>
            <a:ext cx="3657600" cy="365760"/>
          </a:xfrm>
          <a:prstGeom prst="rect">
            <a:avLst/>
          </a:prstGeom>
          <a:noFill/>
        </p:spPr>
        <p:txBody>
          <a:bodyPr wrap="square" anchor="ctr" lIns="0" rIns="0" tIns="0" bIns="0">
            <a:spAutoFit/>
          </a:bodyPr>
          <a:lstStyle/>
          <a:p>
            <a:r>
              <a:rPr sz="1500" b="1" i="0">
                <a:solidFill>
                  <a:srgbClr val="2A2929"/>
                </a:solidFill>
                <a:latin typeface="Roboto"/>
              </a:rPr>
              <a:t>⏱  ~25 min</a:t>
            </a:r>
          </a:p>
        </p:txBody>
      </p:sp>
      <p:sp>
        <p:nvSpPr>
          <p:cNvPr id="8" name="Rectangle 7"/>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48640"/>
            <a:ext cx="10881360" cy="1097280"/>
          </a:xfrm>
          <a:prstGeom prst="rect">
            <a:avLst/>
          </a:prstGeom>
          <a:noFill/>
        </p:spPr>
        <p:txBody>
          <a:bodyPr wrap="square" anchor="t" lIns="0" rIns="0" tIns="0" bIns="0">
            <a:spAutoFit/>
          </a:bodyPr>
          <a:lstStyle/>
          <a:p>
            <a:r>
              <a:rPr sz="3200" b="1" i="0">
                <a:solidFill>
                  <a:srgbClr val="2A2929"/>
                </a:solidFill>
                <a:latin typeface="Roboto"/>
              </a:rPr>
              <a:t>Key takeaways</a:t>
            </a:r>
          </a:p>
          <a:p>
            <a:pPr>
              <a:spcBef>
                <a:spcPts val="200"/>
              </a:spcBef>
            </a:pPr>
            <a:r>
              <a:rPr sz="1800" b="1" i="0">
                <a:solidFill>
                  <a:srgbClr val="92268F"/>
                </a:solidFill>
                <a:latin typeface="Roboto"/>
              </a:rPr>
              <a:t>Section 1 · Security</a:t>
            </a:r>
          </a:p>
        </p:txBody>
      </p:sp>
      <p:sp>
        <p:nvSpPr>
          <p:cNvPr id="3" name="Rectangle 2"/>
          <p:cNvSpPr/>
          <p:nvPr/>
        </p:nvSpPr>
        <p:spPr>
          <a:xfrm>
            <a:off x="658368" y="16002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65960"/>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Isolation, groups, least privilege, encryption — the baseline layers.</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916936"/>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16936"/>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Improvements inherit the layers; copies carry the same protections.</a:t>
            </a:r>
          </a:p>
        </p:txBody>
      </p:sp>
      <p:sp>
        <p:nvSpPr>
          <p:cNvPr id="10" name="Rectangle 9"/>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2" name="TextBox 11"/>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103120"/>
            <a:ext cx="3291840" cy="2194560"/>
          </a:xfrm>
          <a:prstGeom prst="rect">
            <a:avLst/>
          </a:prstGeom>
          <a:noFill/>
        </p:spPr>
        <p:txBody>
          <a:bodyPr wrap="square" anchor="t" lIns="0" rIns="0" tIns="0" bIns="0">
            <a:spAutoFit/>
          </a:bodyPr>
          <a:lstStyle/>
          <a:p>
            <a:r>
              <a:rPr sz="13000" b="1" i="0">
                <a:solidFill>
                  <a:srgbClr val="FFFFFF"/>
                </a:solidFill>
                <a:latin typeface="Roboto"/>
              </a:rPr>
              <a:t>02</a:t>
            </a:r>
          </a:p>
        </p:txBody>
      </p:sp>
      <p:sp>
        <p:nvSpPr>
          <p:cNvPr id="4" name="TextBox 3"/>
          <p:cNvSpPr txBox="1"/>
          <p:nvPr/>
        </p:nvSpPr>
        <p:spPr>
          <a:xfrm>
            <a:off x="4480560" y="2468880"/>
            <a:ext cx="7132320" cy="2194560"/>
          </a:xfrm>
          <a:prstGeom prst="rect">
            <a:avLst/>
          </a:prstGeom>
          <a:noFill/>
        </p:spPr>
        <p:txBody>
          <a:bodyPr wrap="square" anchor="t" lIns="0" rIns="0" tIns="0" bIns="0">
            <a:spAutoFit/>
          </a:bodyPr>
          <a:lstStyle/>
          <a:p>
            <a:r>
              <a:rPr sz="1600" b="1" i="0">
                <a:solidFill>
                  <a:srgbClr val="27B5CE"/>
                </a:solidFill>
                <a:latin typeface="Roboto"/>
              </a:rPr>
              <a:t>SECTION</a:t>
            </a:r>
          </a:p>
          <a:p>
            <a:pPr>
              <a:spcBef>
                <a:spcPts val="600"/>
              </a:spcBef>
            </a:pPr>
            <a:r>
              <a:rPr sz="3800" b="1" i="0">
                <a:solidFill>
                  <a:srgbClr val="2A2929"/>
                </a:solidFill>
                <a:latin typeface="Roboto"/>
              </a:rPr>
              <a:t>The reliability and scalability improvements</a:t>
            </a:r>
          </a:p>
          <a:p>
            <a:pPr>
              <a:spcBef>
                <a:spcPts val="1000"/>
              </a:spcBef>
            </a:pPr>
            <a:r>
              <a:rPr sz="2000" b="0" i="1">
                <a:solidFill>
                  <a:srgbClr val="484848"/>
                </a:solidFill>
                <a:latin typeface="Roboto Light"/>
              </a:rPr>
              <a:t>improve reliability to the goal, not beyond it</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What makes a cloud system reliable</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691640"/>
            <a:ext cx="10881360" cy="4480560"/>
          </a:xfrm>
          <a:prstGeom prst="rect">
            <a:avLst/>
          </a:prstGeom>
          <a:noFill/>
        </p:spPr>
        <p:txBody>
          <a:bodyPr wrap="square" anchor="ctr" lIns="0" rIns="0" tIns="0" bIns="0">
            <a:spAutoFit/>
          </a:bodyPr>
          <a:lstStyle/>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Reliability: the system keeps serving through component and zone failures, and recovers from loss.</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Three building blocks: redundancy across zones, backup and restore, and cross-region disaster recovery.</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Backup recovers data in place; DR survives losing a whole region — different failures, different tools.</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The reliability target</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737360"/>
            <a:ext cx="5486400" cy="4297680"/>
          </a:xfrm>
          <a:prstGeom prst="rect">
            <a:avLst/>
          </a:prstGeom>
          <a:noFill/>
        </p:spPr>
        <p:txBody>
          <a:bodyPr wrap="square" anchor="t" lIns="0" rIns="0" tIns="0" bIns="0">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Review the single-zone baseline against the reliability goals; name where a single failure takes the system down.</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The shape of the target: a load balancer and a pool of instances across two zones; the database decision still open; a cross-region backup copy, onshore.</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The database tier is left unresolved on this slide on purpose — the next slide argues it.</a:t>
            </a:r>
          </a:p>
        </p:txBody>
      </p:sp>
      <p:pic>
        <p:nvPicPr>
          <p:cNvPr id="5" name="Picture 4" descr="reliability-target.png"/>
          <p:cNvPicPr>
            <a:picLocks noChangeAspect="1"/>
          </p:cNvPicPr>
          <p:nvPr/>
        </p:nvPicPr>
        <p:blipFill>
          <a:blip r:embed="rId2"/>
          <a:stretch>
            <a:fillRect/>
          </a:stretch>
        </p:blipFill>
        <p:spPr>
          <a:xfrm>
            <a:off x="6400800" y="2057400"/>
            <a:ext cx="5120640" cy="3474720"/>
          </a:xfrm>
          <a:prstGeom prst="rect">
            <a:avLst/>
          </a:prstGeom>
        </p:spPr>
      </p:pic>
      <p:sp>
        <p:nvSpPr>
          <p:cNvPr id="6" name="Rectangle 5"/>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8" name="TextBox 7"/>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The centrepiece: spending the money where it buys the most</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691640"/>
            <a:ext cx="10881360" cy="4480560"/>
          </a:xfrm>
          <a:prstGeom prst="rect">
            <a:avLst/>
          </a:prstGeom>
          <a:noFill/>
        </p:spPr>
        <p:txBody>
          <a:bodyPr wrap="square" anchor="ctr" lIns="0" rIns="0" tIns="0" bIns="0">
            <a:spAutoFit/>
          </a:bodyPr>
          <a:lstStyle/>
          <a:p>
            <a:pPr marL="0" indent="0">
              <a:lnSpc>
                <a:spcPct val="105000"/>
              </a:lnSpc>
              <a:spcBef>
                <a:spcPts val="0"/>
              </a:spcBef>
              <a:spcAft>
                <a:spcPts val="1000"/>
              </a:spcAft>
            </a:pPr>
            <a:r>
              <a:rPr sz="2200" b="1" i="0">
                <a:solidFill>
                  <a:srgbClr val="EDAB0C"/>
                </a:solidFill>
                <a:latin typeface="Roboto"/>
              </a:rPr>
              <a:t>■  </a:t>
            </a:r>
            <a:r>
              <a:rPr sz="2200" b="0" i="0">
                <a:solidFill>
                  <a:srgbClr val="2A2929"/>
                </a:solidFill>
                <a:latin typeface="Roboto"/>
              </a:rPr>
              <a:t>Every tier here is a single point of failure. You cannot fix them all — so which one first, and what do you leave?</a:t>
            </a:r>
          </a:p>
          <a:p>
            <a:pPr marL="0" indent="0">
              <a:lnSpc>
                <a:spcPct val="105000"/>
              </a:lnSpc>
              <a:spcBef>
                <a:spcPts val="0"/>
              </a:spcBef>
              <a:spcAft>
                <a:spcPts val="1000"/>
              </a:spcAft>
            </a:pPr>
            <a:r>
              <a:rPr sz="2200" b="1" i="0">
                <a:solidFill>
                  <a:srgbClr val="EDAB0C"/>
                </a:solidFill>
                <a:latin typeface="Roboto"/>
              </a:rPr>
              <a:t>■  </a:t>
            </a:r>
            <a:r>
              <a:rPr sz="2200" b="0" i="0">
                <a:solidFill>
                  <a:srgbClr val="2A2929"/>
                </a:solidFill>
                <a:latin typeface="Roboto"/>
              </a:rPr>
              <a:t>The compute tier is the cheapest and largest win: one instance with no load balancer means any instance failure is a total outage.</a:t>
            </a:r>
          </a:p>
          <a:p>
            <a:pPr marL="0" indent="0">
              <a:lnSpc>
                <a:spcPct val="105000"/>
              </a:lnSpc>
              <a:spcBef>
                <a:spcPts val="0"/>
              </a:spcBef>
              <a:spcAft>
                <a:spcPts val="1000"/>
              </a:spcAft>
            </a:pPr>
            <a:r>
              <a:rPr sz="2200" b="1" i="0">
                <a:solidFill>
                  <a:srgbClr val="EDAB0C"/>
                </a:solidFill>
                <a:latin typeface="Roboto"/>
              </a:rPr>
              <a:t>■  </a:t>
            </a:r>
            <a:r>
              <a:rPr sz="2200" b="0" i="0">
                <a:solidFill>
                  <a:srgbClr val="2A2929"/>
                </a:solidFill>
                <a:latin typeface="Roboto"/>
              </a:rPr>
              <a:t>The database is the expensive one: a failover standby roughly doubles the database line, for a site whose content changes rarely and restores cleanly from backup.</a:t>
            </a:r>
          </a:p>
          <a:p>
            <a:pPr marL="0" indent="0">
              <a:lnSpc>
                <a:spcPct val="105000"/>
              </a:lnSpc>
              <a:spcBef>
                <a:spcPts val="0"/>
              </a:spcBef>
              <a:spcAft>
                <a:spcPts val="1000"/>
              </a:spcAft>
            </a:pPr>
            <a:r>
              <a:rPr sz="2200" b="1" i="0">
                <a:solidFill>
                  <a:srgbClr val="EDAB0C"/>
                </a:solidFill>
                <a:latin typeface="Roboto"/>
              </a:rPr>
              <a:t>■  </a:t>
            </a:r>
            <a:r>
              <a:rPr sz="2200" b="0" i="0">
                <a:solidFill>
                  <a:srgbClr val="2A2929"/>
                </a:solidFill>
                <a:latin typeface="Roboto"/>
              </a:rPr>
              <a:t>"Reliable means Multi-AZ everywhere" is the reflex to resist. Rank by benefit per dollar against the stated goal, and be able to defend what you left out.</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Database reliability — the options weighed</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58368" y="1828800"/>
          <a:ext cx="10881360" cy="1828800"/>
        </p:xfrm>
        <a:graphic>
          <a:graphicData uri="http://schemas.openxmlformats.org/drawingml/2006/table">
            <a:tbl>
              <a:tblPr>
                <a:tableStyleId>{5C22544A-7EE6-4342-B048-85BDC9FD1C3A}</a:tableStyleId>
              </a:tblPr>
              <a:tblGrid>
                <a:gridCol w="2720340"/>
                <a:gridCol w="2720340"/>
                <a:gridCol w="2720340"/>
                <a:gridCol w="2720340"/>
              </a:tblGrid>
              <a:tr h="457200">
                <a:tc>
                  <a:txBody>
                    <a:bodyPr/>
                    <a:lstStyle/>
                    <a:p>
                      <a:r>
                        <a:rPr sz="1400" b="1" i="0">
                          <a:solidFill>
                            <a:srgbClr val="FFFFFF"/>
                          </a:solidFill>
                          <a:latin typeface="Roboto"/>
                        </a:rPr>
                        <a:t>Option</a:t>
                      </a:r>
                    </a:p>
                  </a:txBody>
                  <a:tcPr marL="76200" marR="76200">
                    <a:solidFill>
                      <a:srgbClr val="27B5CE"/>
                    </a:solidFill>
                  </a:tcPr>
                </a:tc>
                <a:tc>
                  <a:txBody>
                    <a:bodyPr/>
                    <a:lstStyle/>
                    <a:p>
                      <a:r>
                        <a:rPr sz="1400" b="1" i="0">
                          <a:solidFill>
                            <a:srgbClr val="FFFFFF"/>
                          </a:solidFill>
                          <a:latin typeface="Roboto"/>
                        </a:rPr>
                        <a:t>Reliability gain</a:t>
                      </a:r>
                    </a:p>
                  </a:txBody>
                  <a:tcPr marL="76200" marR="76200">
                    <a:solidFill>
                      <a:srgbClr val="27B5CE"/>
                    </a:solidFill>
                  </a:tcPr>
                </a:tc>
                <a:tc>
                  <a:txBody>
                    <a:bodyPr/>
                    <a:lstStyle/>
                    <a:p>
                      <a:r>
                        <a:rPr sz="1400" b="1" i="0">
                          <a:solidFill>
                            <a:srgbClr val="FFFFFF"/>
                          </a:solidFill>
                          <a:latin typeface="Roboto"/>
                        </a:rPr>
                        <a:t>Cost / risk</a:t>
                      </a:r>
                    </a:p>
                  </a:txBody>
                  <a:tcPr marL="76200" marR="76200">
                    <a:solidFill>
                      <a:srgbClr val="27B5CE"/>
                    </a:solidFill>
                  </a:tcPr>
                </a:tc>
                <a:tc>
                  <a:txBody>
                    <a:bodyPr/>
                    <a:lstStyle/>
                    <a:p>
                      <a:r>
                        <a:rPr sz="1400" b="1" i="0">
                          <a:solidFill>
                            <a:srgbClr val="FFFFFF"/>
                          </a:solidFill>
                          <a:latin typeface="Roboto"/>
                        </a:rPr>
                        <a:t>Verdict</a:t>
                      </a:r>
                    </a:p>
                  </a:txBody>
                  <a:tcPr marL="76200" marR="76200">
                    <a:solidFill>
                      <a:srgbClr val="27B5CE"/>
                    </a:solidFill>
                  </a:tcPr>
                </a:tc>
              </a:tr>
              <a:tr h="457200">
                <a:tc>
                  <a:txBody>
                    <a:bodyPr/>
                    <a:lstStyle/>
                    <a:p>
                      <a:r>
                        <a:rPr sz="1300" b="0" i="0">
                          <a:solidFill>
                            <a:srgbClr val="2A2929"/>
                          </a:solidFill>
                          <a:latin typeface="Roboto"/>
                        </a:rPr>
                        <a:t>Backup + tested restore</a:t>
                      </a:r>
                    </a:p>
                  </a:txBody>
                  <a:tcPr marL="76200" marR="76200" marT="50800" marB="50800">
                    <a:solidFill>
                      <a:srgbClr val="FFFFFF"/>
                    </a:solidFill>
                  </a:tcPr>
                </a:tc>
                <a:tc>
                  <a:txBody>
                    <a:bodyPr/>
                    <a:lstStyle/>
                    <a:p>
                      <a:r>
                        <a:rPr sz="1300" b="0" i="0">
                          <a:solidFill>
                            <a:srgbClr val="2A2929"/>
                          </a:solidFill>
                          <a:latin typeface="Roboto"/>
                        </a:rPr>
                        <a:t>recovers from loss; recovery measured in hours</a:t>
                      </a:r>
                    </a:p>
                  </a:txBody>
                  <a:tcPr marL="76200" marR="76200" marT="50800" marB="50800">
                    <a:solidFill>
                      <a:srgbClr val="FFFFFF"/>
                    </a:solidFill>
                  </a:tcPr>
                </a:tc>
                <a:tc>
                  <a:txBody>
                    <a:bodyPr/>
                    <a:lstStyle/>
                    <a:p>
                      <a:r>
                        <a:rPr sz="1300" b="0" i="0">
                          <a:solidFill>
                            <a:srgbClr val="2A2929"/>
                          </a:solidFill>
                          <a:latin typeface="Roboto"/>
                        </a:rPr>
                        <a:t>low — already largely in place</a:t>
                      </a:r>
                    </a:p>
                  </a:txBody>
                  <a:tcPr marL="76200" marR="76200" marT="50800" marB="50800">
                    <a:solidFill>
                      <a:srgbClr val="FFFFFF"/>
                    </a:solidFill>
                  </a:tcPr>
                </a:tc>
                <a:tc>
                  <a:txBody>
                    <a:bodyPr/>
                    <a:lstStyle/>
                    <a:p>
                      <a:r>
                        <a:rPr sz="1300" b="0" i="0">
                          <a:solidFill>
                            <a:srgbClr val="2A2929"/>
                          </a:solidFill>
                          <a:latin typeface="Roboto"/>
                        </a:rPr>
                        <a:t>defensible if the recovery target allows it</a:t>
                      </a:r>
                    </a:p>
                  </a:txBody>
                  <a:tcPr marL="76200" marR="76200" marT="50800" marB="50800">
                    <a:solidFill>
                      <a:srgbClr val="FFFFFF"/>
                    </a:solidFill>
                  </a:tcPr>
                </a:tc>
              </a:tr>
              <a:tr h="457200">
                <a:tc>
                  <a:txBody>
                    <a:bodyPr/>
                    <a:lstStyle/>
                    <a:p>
                      <a:r>
                        <a:rPr sz="1300" b="0" i="0">
                          <a:solidFill>
                            <a:srgbClr val="2A2929"/>
                          </a:solidFill>
                          <a:latin typeface="Roboto"/>
                        </a:rPr>
                        <a:t>Failover (Multi-AZ) database</a:t>
                      </a:r>
                    </a:p>
                  </a:txBody>
                  <a:tcPr marL="76200" marR="76200" marT="50800" marB="50800">
                    <a:solidFill>
                      <a:srgbClr val="F9F9F9"/>
                    </a:solidFill>
                  </a:tcPr>
                </a:tc>
                <a:tc>
                  <a:txBody>
                    <a:bodyPr/>
                    <a:lstStyle/>
                    <a:p>
                      <a:r>
                        <a:rPr sz="1300" b="0" i="0">
                          <a:solidFill>
                            <a:srgbClr val="2A2929"/>
                          </a:solidFill>
                          <a:latin typeface="Roboto"/>
                        </a:rPr>
                        <a:t>zero-downtime zone failover</a:t>
                      </a:r>
                    </a:p>
                  </a:txBody>
                  <a:tcPr marL="76200" marR="76200" marT="50800" marB="50800">
                    <a:solidFill>
                      <a:srgbClr val="F9F9F9"/>
                    </a:solidFill>
                  </a:tcPr>
                </a:tc>
                <a:tc>
                  <a:txBody>
                    <a:bodyPr/>
                    <a:lstStyle/>
                    <a:p>
                      <a:r>
                        <a:rPr sz="1300" b="0" i="0">
                          <a:solidFill>
                            <a:srgbClr val="2A2929"/>
                          </a:solidFill>
                          <a:latin typeface="Roboto"/>
                        </a:rPr>
                        <a:t>roughly doubles the database line, ongoing</a:t>
                      </a:r>
                    </a:p>
                  </a:txBody>
                  <a:tcPr marL="76200" marR="76200" marT="50800" marB="50800">
                    <a:solidFill>
                      <a:srgbClr val="F9F9F9"/>
                    </a:solidFill>
                  </a:tcPr>
                </a:tc>
                <a:tc>
                  <a:txBody>
                    <a:bodyPr/>
                    <a:lstStyle/>
                    <a:p>
                      <a:r>
                        <a:rPr sz="1300" b="0" i="0">
                          <a:solidFill>
                            <a:srgbClr val="2A2929"/>
                          </a:solidFill>
                          <a:latin typeface="Roboto"/>
                        </a:rPr>
                        <a:t>defensible if the recovery target does not</a:t>
                      </a:r>
                    </a:p>
                  </a:txBody>
                  <a:tcPr marL="76200" marR="76200" marT="50800" marB="50800">
                    <a:solidFill>
                      <a:srgbClr val="F9F9F9"/>
                    </a:solidFill>
                  </a:tcPr>
                </a:tc>
              </a:tr>
              <a:tr h="457200">
                <a:tc>
                  <a:txBody>
                    <a:bodyPr/>
                    <a:lstStyle/>
                    <a:p>
                      <a:r>
                        <a:rPr sz="1300" b="0" i="0">
                          <a:solidFill>
                            <a:srgbClr val="2A2929"/>
                          </a:solidFill>
                          <a:latin typeface="Roboto"/>
                        </a:rPr>
                        <a:t>Fix compute first, revisit the database after</a:t>
                      </a:r>
                    </a:p>
                  </a:txBody>
                  <a:tcPr marL="76200" marR="76200" marT="50800" marB="50800">
                    <a:solidFill>
                      <a:srgbClr val="FFFFFF"/>
                    </a:solidFill>
                  </a:tcPr>
                </a:tc>
                <a:tc>
                  <a:txBody>
                    <a:bodyPr/>
                    <a:lstStyle/>
                    <a:p>
                      <a:r>
                        <a:rPr sz="1300" b="0" i="0">
                          <a:solidFill>
                            <a:srgbClr val="2A2929"/>
                          </a:solidFill>
                          <a:latin typeface="Roboto"/>
                        </a:rPr>
                        <a:t>removes the largest exposure for the least money</a:t>
                      </a:r>
                    </a:p>
                  </a:txBody>
                  <a:tcPr marL="76200" marR="76200" marT="50800" marB="50800">
                    <a:solidFill>
                      <a:srgbClr val="FFFFFF"/>
                    </a:solidFill>
                  </a:tcPr>
                </a:tc>
                <a:tc>
                  <a:txBody>
                    <a:bodyPr/>
                    <a:lstStyle/>
                    <a:p>
                      <a:r>
                        <a:rPr sz="1300" b="0" i="0">
                          <a:solidFill>
                            <a:srgbClr val="2A2929"/>
                          </a:solidFill>
                          <a:latin typeface="Roboto"/>
                        </a:rPr>
                        <a:t>sequencing risk if the database then fails</a:t>
                      </a:r>
                    </a:p>
                  </a:txBody>
                  <a:tcPr marL="76200" marR="76200" marT="50800" marB="50800">
                    <a:solidFill>
                      <a:srgbClr val="FFFFFF"/>
                    </a:solidFill>
                  </a:tcPr>
                </a:tc>
                <a:tc>
                  <a:txBody>
                    <a:bodyPr/>
                    <a:lstStyle/>
                    <a:p>
                      <a:r>
                        <a:rPr sz="1300" b="0" i="0">
                          <a:solidFill>
                            <a:srgbClr val="2A2929"/>
                          </a:solidFill>
                          <a:latin typeface="Roboto"/>
                        </a:rPr>
                        <a:t>commonly the strongest argued position</a:t>
                      </a:r>
                    </a:p>
                  </a:txBody>
                  <a:tcPr marL="76200" marR="76200" marT="50800" marB="50800">
                    <a:solidFill>
                      <a:srgbClr val="FFFFFF"/>
                    </a:solidFill>
                  </a:tcPr>
                </a:tc>
              </a:tr>
            </a:tbl>
          </a:graphicData>
        </a:graphic>
      </p:graphicFrame>
      <p:sp>
        <p:nvSpPr>
          <p:cNvPr id="5" name="TextBox 4"/>
          <p:cNvSpPr txBox="1"/>
          <p:nvPr/>
        </p:nvSpPr>
        <p:spPr>
          <a:xfrm>
            <a:off x="658368" y="5943600"/>
            <a:ext cx="10881360" cy="457200"/>
          </a:xfrm>
          <a:prstGeom prst="rect">
            <a:avLst/>
          </a:prstGeom>
          <a:noFill/>
        </p:spPr>
        <p:txBody>
          <a:bodyPr wrap="square" anchor="t" lIns="0" rIns="0" tIns="0" bIns="0">
            <a:spAutoFit/>
          </a:bodyPr>
          <a:lstStyle/>
          <a:p>
            <a:r>
              <a:rPr sz="1500" b="0" i="1">
                <a:solidFill>
                  <a:srgbClr val="484848"/>
                </a:solidFill>
                <a:latin typeface="Roboto Light"/>
              </a:rPr>
              <a:t>There is no CHOSEN row. The verdict is the student's and the reasoning is the mark — this table is the shape of the argument, not its answer.</a:t>
            </a:r>
          </a:p>
        </p:txBody>
      </p:sp>
      <p:sp>
        <p:nvSpPr>
          <p:cNvPr id="6" name="Rectangle 5"/>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8" name="TextBox 7"/>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The residency slice</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691640"/>
            <a:ext cx="10881360" cy="4480560"/>
          </a:xfrm>
          <a:prstGeom prst="rect">
            <a:avLst/>
          </a:prstGeom>
          <a:noFill/>
        </p:spPr>
        <p:txBody>
          <a:bodyPr wrap="square" anchor="ctr" lIns="0" rIns="0" tIns="0" bIns="0">
            <a:spAutoFit/>
          </a:bodyPr>
          <a:lstStyle/>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A scoped constraint: specific regulated data must reside in a named region; the main system stays where it is.</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The design keeps the regulated data in-region — a slice of the reliability and DR design, not a second architecture.</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Constraints like this were read precisely in the compliance task; here they get built into the design.</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anchor="ctr" lIns="0" rIns="0" tIns="0" bIns="0">
            <a:spAutoFit/>
          </a:bodyPr>
          <a:lstStyle/>
          <a:p>
            <a:r>
              <a:rPr sz="2600" b="1" i="0">
                <a:solidFill>
                  <a:srgbClr val="FFFFFF"/>
                </a:solidFill>
                <a:latin typeface="Roboto"/>
              </a:rPr>
              <a:t>Design the reliability and scalability improvements</a:t>
            </a:r>
          </a:p>
        </p:txBody>
      </p:sp>
      <p:sp>
        <p:nvSpPr>
          <p:cNvPr id="5" name="TextBox 4"/>
          <p:cNvSpPr txBox="1"/>
          <p:nvPr/>
        </p:nvSpPr>
        <p:spPr>
          <a:xfrm>
            <a:off x="658368" y="1554480"/>
            <a:ext cx="10881360" cy="4297680"/>
          </a:xfrm>
          <a:prstGeom prst="rect">
            <a:avLst/>
          </a:prstGeom>
          <a:noFill/>
        </p:spPr>
        <p:txBody>
          <a:bodyPr wrap="square" anchor="t" lIns="0" rIns="0" tIns="0" bIns="0">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Workbook — task 11.</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Design the reliability and scalability improvements for the practice engagement to your goals, and argue one cost-benefit trade-off explicitly.</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943600"/>
            <a:ext cx="3657600" cy="365760"/>
          </a:xfrm>
          <a:prstGeom prst="rect">
            <a:avLst/>
          </a:prstGeom>
          <a:noFill/>
        </p:spPr>
        <p:txBody>
          <a:bodyPr wrap="square" anchor="ctr" lIns="0" rIns="0" tIns="0" bIns="0">
            <a:spAutoFit/>
          </a:bodyPr>
          <a:lstStyle/>
          <a:p>
            <a:r>
              <a:rPr sz="1500" b="1" i="0">
                <a:solidFill>
                  <a:srgbClr val="2A2929"/>
                </a:solidFill>
                <a:latin typeface="Roboto"/>
              </a:rPr>
              <a:t>⏱  ~35 min</a:t>
            </a:r>
          </a:p>
        </p:txBody>
      </p:sp>
      <p:sp>
        <p:nvSpPr>
          <p:cNvPr id="8" name="Rectangle 7"/>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48640"/>
            <a:ext cx="10881360" cy="1097280"/>
          </a:xfrm>
          <a:prstGeom prst="rect">
            <a:avLst/>
          </a:prstGeom>
          <a:noFill/>
        </p:spPr>
        <p:txBody>
          <a:bodyPr wrap="square" anchor="t" lIns="0" rIns="0" tIns="0" bIns="0">
            <a:spAutoFit/>
          </a:bodyPr>
          <a:lstStyle/>
          <a:p>
            <a:r>
              <a:rPr sz="3200" b="1" i="0">
                <a:solidFill>
                  <a:srgbClr val="2A2929"/>
                </a:solidFill>
                <a:latin typeface="Roboto"/>
              </a:rPr>
              <a:t>Key takeaways</a:t>
            </a:r>
          </a:p>
          <a:p>
            <a:pPr>
              <a:spcBef>
                <a:spcPts val="200"/>
              </a:spcBef>
            </a:pPr>
            <a:r>
              <a:rPr sz="1800" b="1" i="0">
                <a:solidFill>
                  <a:srgbClr val="27B5CE"/>
                </a:solidFill>
                <a:latin typeface="Roboto"/>
              </a:rPr>
              <a:t>Section 2 · Reliability</a:t>
            </a:r>
          </a:p>
        </p:txBody>
      </p:sp>
      <p:sp>
        <p:nvSpPr>
          <p:cNvPr id="3" name="Rectangle 2"/>
          <p:cNvSpPr/>
          <p:nvPr/>
        </p:nvSpPr>
        <p:spPr>
          <a:xfrm>
            <a:off x="658368" y="16002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65960"/>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Redundancy tier by tier, to the goal.</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916936"/>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16936"/>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The rejection, argued on cost versus benefit, is the centrepiece.</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867912"/>
            <a:ext cx="109728" cy="841248"/>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867912"/>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Regulated data placed by the compliance reading.</a:t>
            </a:r>
          </a:p>
        </p:txBody>
      </p:sp>
      <p:sp>
        <p:nvSpPr>
          <p:cNvPr id="13" name="Rectangle 12"/>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5" name="TextBox 14"/>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103120"/>
            <a:ext cx="3291840" cy="2194560"/>
          </a:xfrm>
          <a:prstGeom prst="rect">
            <a:avLst/>
          </a:prstGeom>
          <a:noFill/>
        </p:spPr>
        <p:txBody>
          <a:bodyPr wrap="square" anchor="t" lIns="0" rIns="0" tIns="0" bIns="0">
            <a:spAutoFit/>
          </a:bodyPr>
          <a:lstStyle/>
          <a:p>
            <a:r>
              <a:rPr sz="13000" b="1" i="0">
                <a:solidFill>
                  <a:srgbClr val="FFFFFF"/>
                </a:solidFill>
                <a:latin typeface="Roboto"/>
              </a:rPr>
              <a:t>03</a:t>
            </a:r>
          </a:p>
        </p:txBody>
      </p:sp>
      <p:sp>
        <p:nvSpPr>
          <p:cNvPr id="4" name="TextBox 3"/>
          <p:cNvSpPr txBox="1"/>
          <p:nvPr/>
        </p:nvSpPr>
        <p:spPr>
          <a:xfrm>
            <a:off x="4480560" y="2468880"/>
            <a:ext cx="7132320" cy="2194560"/>
          </a:xfrm>
          <a:prstGeom prst="rect">
            <a:avLst/>
          </a:prstGeom>
          <a:noFill/>
        </p:spPr>
        <p:txBody>
          <a:bodyPr wrap="square" anchor="t" lIns="0" rIns="0" tIns="0" bIns="0">
            <a:spAutoFit/>
          </a:bodyPr>
          <a:lstStyle/>
          <a:p>
            <a:r>
              <a:rPr sz="1600" b="1" i="0">
                <a:solidFill>
                  <a:srgbClr val="205F61"/>
                </a:solidFill>
                <a:latin typeface="Roboto"/>
              </a:rPr>
              <a:t>SECTION</a:t>
            </a:r>
          </a:p>
          <a:p>
            <a:pPr>
              <a:spcBef>
                <a:spcPts val="600"/>
              </a:spcBef>
            </a:pPr>
            <a:r>
              <a:rPr sz="3800" b="1" i="0">
                <a:solidFill>
                  <a:srgbClr val="2A2929"/>
                </a:solidFill>
                <a:latin typeface="Roboto"/>
              </a:rPr>
              <a:t>Cost optimisation and monitoring</a:t>
            </a:r>
          </a:p>
          <a:p>
            <a:pPr>
              <a:spcBef>
                <a:spcPts val="1000"/>
              </a:spcBef>
            </a:pPr>
            <a:r>
              <a:rPr sz="2000" b="0" i="1">
                <a:solidFill>
                  <a:srgbClr val="484848"/>
                </a:solidFill>
                <a:latin typeface="Roboto Light"/>
              </a:rPr>
              <a:t>pay for what the goals need, and watch it</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The cost pass</a:t>
            </a:r>
          </a:p>
        </p:txBody>
      </p:sp>
      <p:sp>
        <p:nvSpPr>
          <p:cNvPr id="3" name="Rectangle 2"/>
          <p:cNvSpPr/>
          <p:nvPr/>
        </p:nvSpPr>
        <p:spPr>
          <a:xfrm>
            <a:off x="658368" y="13716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691640"/>
            <a:ext cx="10881360" cy="4480560"/>
          </a:xfrm>
          <a:prstGeom prst="rect">
            <a:avLst/>
          </a:prstGeom>
          <a:noFill/>
        </p:spPr>
        <p:txBody>
          <a:bodyPr wrap="square" anchor="ctr" lIns="0" rIns="0" tIns="0" bIns="0">
            <a:spAutoFit/>
          </a:bodyPr>
          <a:lstStyle/>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Review the design for cost: right-size every tier, release what elasticity makes releasable, and price the improvements.</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The techniques that deliver the improvements — redundant deployment, health checks, automated backups and snapshots, cross-region copies — each has a running cost; know it.</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A design that meets its goals at lower cost beats the same design at higher cost, every time.</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Design the monitoring in</a:t>
            </a:r>
          </a:p>
        </p:txBody>
      </p:sp>
      <p:sp>
        <p:nvSpPr>
          <p:cNvPr id="3" name="Rectangle 2"/>
          <p:cNvSpPr/>
          <p:nvPr/>
        </p:nvSpPr>
        <p:spPr>
          <a:xfrm>
            <a:off x="658368" y="13716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691640"/>
            <a:ext cx="10881360" cy="4480560"/>
          </a:xfrm>
          <a:prstGeom prst="rect">
            <a:avLst/>
          </a:prstGeom>
          <a:noFill/>
        </p:spPr>
        <p:txBody>
          <a:bodyPr wrap="square" anchor="ctr" lIns="0" rIns="0" tIns="0" bIns="0">
            <a:spAutoFit/>
          </a:bodyPr>
          <a:lstStyle/>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Decide now what the improved system reports: the metrics from task 8, watched by alarms with owners.</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Monitoring designed in is cheap; monitoring bolted on later is a retrofit.</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This design is what the build's monitoring task implements — the numbers are already set.</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anchor="ctr" lIns="0" rIns="0" tIns="0" bIns="0">
            <a:spAutoFit/>
          </a:bodyPr>
          <a:lstStyle/>
          <a:p>
            <a:r>
              <a:rPr sz="2600" b="1" i="0">
                <a:solidFill>
                  <a:srgbClr val="FFFFFF"/>
                </a:solidFill>
                <a:latin typeface="Roboto"/>
              </a:rPr>
              <a:t>Cost and monitoring</a:t>
            </a:r>
          </a:p>
        </p:txBody>
      </p:sp>
      <p:sp>
        <p:nvSpPr>
          <p:cNvPr id="5" name="TextBox 4"/>
          <p:cNvSpPr txBox="1"/>
          <p:nvPr/>
        </p:nvSpPr>
        <p:spPr>
          <a:xfrm>
            <a:off x="658368" y="1554480"/>
            <a:ext cx="10881360" cy="4297680"/>
          </a:xfrm>
          <a:prstGeom prst="rect">
            <a:avLst/>
          </a:prstGeom>
          <a:noFill/>
        </p:spPr>
        <p:txBody>
          <a:bodyPr wrap="square" anchor="t" lIns="0" rIns="0" tIns="0" bIns="0">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Workbook — task 12.</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Design the cost optimisation and the monitoring for the practice engagement — what is right-sized, what is released, what is watched.</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943600"/>
            <a:ext cx="3657600" cy="365760"/>
          </a:xfrm>
          <a:prstGeom prst="rect">
            <a:avLst/>
          </a:prstGeom>
          <a:noFill/>
        </p:spPr>
        <p:txBody>
          <a:bodyPr wrap="square" anchor="ctr" lIns="0" rIns="0" tIns="0" bIns="0">
            <a:spAutoFit/>
          </a:bodyPr>
          <a:lstStyle/>
          <a:p>
            <a:r>
              <a:rPr sz="1500" b="1" i="0">
                <a:solidFill>
                  <a:srgbClr val="2A2929"/>
                </a:solidFill>
                <a:latin typeface="Roboto"/>
              </a:rPr>
              <a:t>⏱  ~25 min</a:t>
            </a:r>
          </a:p>
        </p:txBody>
      </p:sp>
      <p:sp>
        <p:nvSpPr>
          <p:cNvPr id="8" name="Rectangle 7"/>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48640"/>
            <a:ext cx="10881360" cy="1097280"/>
          </a:xfrm>
          <a:prstGeom prst="rect">
            <a:avLst/>
          </a:prstGeom>
          <a:noFill/>
        </p:spPr>
        <p:txBody>
          <a:bodyPr wrap="square" anchor="t" lIns="0" rIns="0" tIns="0" bIns="0">
            <a:spAutoFit/>
          </a:bodyPr>
          <a:lstStyle/>
          <a:p>
            <a:r>
              <a:rPr sz="3200" b="1" i="0">
                <a:solidFill>
                  <a:srgbClr val="2A2929"/>
                </a:solidFill>
                <a:latin typeface="Roboto"/>
              </a:rPr>
              <a:t>Key takeaways</a:t>
            </a:r>
          </a:p>
          <a:p>
            <a:pPr>
              <a:spcBef>
                <a:spcPts val="200"/>
              </a:spcBef>
            </a:pPr>
            <a:r>
              <a:rPr sz="1800" b="1" i="0">
                <a:solidFill>
                  <a:srgbClr val="205F61"/>
                </a:solidFill>
                <a:latin typeface="Roboto"/>
              </a:rPr>
              <a:t>Section 3 · Cost and monitoring</a:t>
            </a:r>
          </a:p>
        </p:txBody>
      </p:sp>
      <p:sp>
        <p:nvSpPr>
          <p:cNvPr id="3" name="Rectangle 2"/>
          <p:cNvSpPr/>
          <p:nvPr/>
        </p:nvSpPr>
        <p:spPr>
          <a:xfrm>
            <a:off x="658368" y="16002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65960"/>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Right-size, release, price the improvements.</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916936"/>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16936"/>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Monitor the metrics you set, by design not retrofit.</a:t>
            </a:r>
          </a:p>
        </p:txBody>
      </p:sp>
      <p:sp>
        <p:nvSpPr>
          <p:cNvPr id="10" name="Rectangle 9"/>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2" name="TextBox 11"/>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103120"/>
            <a:ext cx="3291840" cy="2194560"/>
          </a:xfrm>
          <a:prstGeom prst="rect">
            <a:avLst/>
          </a:prstGeom>
          <a:noFill/>
        </p:spPr>
        <p:txBody>
          <a:bodyPr wrap="square" anchor="t" lIns="0" rIns="0" tIns="0" bIns="0">
            <a:spAutoFit/>
          </a:bodyPr>
          <a:lstStyle/>
          <a:p>
            <a:r>
              <a:rPr sz="13000" b="1" i="0">
                <a:solidFill>
                  <a:srgbClr val="FFFFFF"/>
                </a:solidFill>
                <a:latin typeface="Roboto"/>
              </a:rPr>
              <a:t>04</a:t>
            </a:r>
          </a:p>
        </p:txBody>
      </p:sp>
      <p:sp>
        <p:nvSpPr>
          <p:cNvPr id="4" name="TextBox 3"/>
          <p:cNvSpPr txBox="1"/>
          <p:nvPr/>
        </p:nvSpPr>
        <p:spPr>
          <a:xfrm>
            <a:off x="4480560" y="2468880"/>
            <a:ext cx="7132320" cy="2194560"/>
          </a:xfrm>
          <a:prstGeom prst="rect">
            <a:avLst/>
          </a:prstGeom>
          <a:noFill/>
        </p:spPr>
        <p:txBody>
          <a:bodyPr wrap="square" anchor="t" lIns="0" rIns="0" tIns="0" bIns="0">
            <a:spAutoFit/>
          </a:bodyPr>
          <a:lstStyle/>
          <a:p>
            <a:r>
              <a:rPr sz="1600" b="1" i="0">
                <a:solidFill>
                  <a:srgbClr val="004488"/>
                </a:solidFill>
                <a:latin typeface="Roboto"/>
              </a:rPr>
              <a:t>SECTION</a:t>
            </a:r>
          </a:p>
          <a:p>
            <a:pPr>
              <a:spcBef>
                <a:spcPts val="600"/>
              </a:spcBef>
            </a:pPr>
            <a:r>
              <a:rPr sz="3800" b="1" i="0">
                <a:solidFill>
                  <a:srgbClr val="2A2929"/>
                </a:solidFill>
                <a:latin typeface="Roboto"/>
              </a:rPr>
              <a:t>The cost-benefit justification</a:t>
            </a:r>
          </a:p>
          <a:p>
            <a:pPr>
              <a:spcBef>
                <a:spcPts val="1000"/>
              </a:spcBef>
            </a:pPr>
            <a:r>
              <a:rPr sz="2000" b="0" i="1">
                <a:solidFill>
                  <a:srgbClr val="484848"/>
                </a:solidFill>
                <a:latin typeface="Roboto Light"/>
              </a:rPr>
              <a:t>every improvement earns its place</a:t>
            </a:r>
          </a:p>
        </p:txBody>
      </p:sp>
      <p:sp>
        <p:nvSpPr>
          <p:cNvPr id="5" name="Rectangle 4"/>
          <p:cNvSpPr/>
          <p:nvPr/>
        </p:nvSpPr>
        <p:spPr>
          <a:xfrm>
            <a:off x="0" y="6565392"/>
            <a:ext cx="12191695" cy="38100"/>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881360" cy="960120"/>
          </a:xfrm>
          <a:prstGeom prst="rect">
            <a:avLst/>
          </a:prstGeom>
          <a:noFill/>
        </p:spPr>
        <p:txBody>
          <a:bodyPr wrap="square" anchor="t" lIns="0" rIns="0" tIns="0" bIns="0">
            <a:spAutoFit/>
          </a:bodyPr>
          <a:lstStyle/>
          <a:p>
            <a:r>
              <a:rPr sz="2800" b="1" i="0">
                <a:solidFill>
                  <a:srgbClr val="2A2929"/>
                </a:solidFill>
                <a:latin typeface="Roboto"/>
              </a:rPr>
              <a:t>Justify on cost versus benefit</a:t>
            </a:r>
          </a:p>
        </p:txBody>
      </p:sp>
      <p:sp>
        <p:nvSpPr>
          <p:cNvPr id="3" name="Rectangle 2"/>
          <p:cNvSpPr/>
          <p:nvPr/>
        </p:nvSpPr>
        <p:spPr>
          <a:xfrm>
            <a:off x="658368" y="1371600"/>
            <a:ext cx="1463040" cy="50800"/>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691640"/>
            <a:ext cx="10881360" cy="4480560"/>
          </a:xfrm>
          <a:prstGeom prst="rect">
            <a:avLst/>
          </a:prstGeom>
          <a:noFill/>
        </p:spPr>
        <p:txBody>
          <a:bodyPr wrap="square" anchor="ctr" lIns="0" rIns="0" tIns="0" bIns="0">
            <a:spAutoFit/>
          </a:bodyPr>
          <a:lstStyle/>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Every improvement is justified on cost versus benefit, against the current run cost as the baseline.</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The shape: what it costs, what it buys, and why that trade is worth it for this business.</a:t>
            </a:r>
          </a:p>
          <a:p>
            <a:pPr marL="0" indent="0">
              <a:lnSpc>
                <a:spcPct val="105000"/>
              </a:lnSpc>
              <a:spcBef>
                <a:spcPts val="0"/>
              </a:spcBef>
              <a:spcAft>
                <a:spcPts val="1000"/>
              </a:spcAft>
            </a:pPr>
            <a:r>
              <a:rPr sz="2400" b="1" i="0">
                <a:solidFill>
                  <a:srgbClr val="EDAB0C"/>
                </a:solidFill>
                <a:latin typeface="Roboto"/>
              </a:rPr>
              <a:t>■  </a:t>
            </a:r>
            <a:r>
              <a:rPr sz="2400" b="0" i="0">
                <a:solidFill>
                  <a:srgbClr val="2A2929"/>
                </a:solidFill>
                <a:latin typeface="Roboto"/>
              </a:rPr>
              <a:t>The rejected options belong in the argument too — what you didn't build, and why, is half the case.</a:t>
            </a:r>
          </a:p>
        </p:txBody>
      </p:sp>
      <p:sp>
        <p:nvSpPr>
          <p:cNvPr id="5" name="Rectangle 4"/>
          <p:cNvSpPr/>
          <p:nvPr/>
        </p:nvSpPr>
        <p:spPr>
          <a:xfrm>
            <a:off x="0" y="6565392"/>
            <a:ext cx="12191695" cy="38100"/>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anchor="ctr" lIns="0" rIns="0" tIns="0" bIns="0">
            <a:spAutoFit/>
          </a:bodyPr>
          <a:lstStyle/>
          <a:p>
            <a:r>
              <a:rPr sz="2600" b="1" i="0">
                <a:solidFill>
                  <a:srgbClr val="FFFFFF"/>
                </a:solidFill>
                <a:latin typeface="Roboto"/>
              </a:rPr>
              <a:t>Write the cost-benefit justification</a:t>
            </a:r>
          </a:p>
        </p:txBody>
      </p:sp>
      <p:sp>
        <p:nvSpPr>
          <p:cNvPr id="5" name="TextBox 4"/>
          <p:cNvSpPr txBox="1"/>
          <p:nvPr/>
        </p:nvSpPr>
        <p:spPr>
          <a:xfrm>
            <a:off x="658368" y="1554480"/>
            <a:ext cx="10881360" cy="4297680"/>
          </a:xfrm>
          <a:prstGeom prst="rect">
            <a:avLst/>
          </a:prstGeom>
          <a:noFill/>
        </p:spPr>
        <p:txBody>
          <a:bodyPr wrap="square" anchor="t" lIns="0" rIns="0" tIns="0" bIns="0">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Workbook — task 13.</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Justify each improvement for the practice engagement on cost versus benefit, citing the current run cost as the baseline.</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943600"/>
            <a:ext cx="3657600" cy="365760"/>
          </a:xfrm>
          <a:prstGeom prst="rect">
            <a:avLst/>
          </a:prstGeom>
          <a:noFill/>
        </p:spPr>
        <p:txBody>
          <a:bodyPr wrap="square" anchor="ctr" lIns="0" rIns="0" tIns="0" bIns="0">
            <a:spAutoFit/>
          </a:bodyPr>
          <a:lstStyle/>
          <a:p>
            <a:r>
              <a:rPr sz="1500" b="1" i="0">
                <a:solidFill>
                  <a:srgbClr val="2A2929"/>
                </a:solidFill>
                <a:latin typeface="Roboto"/>
              </a:rPr>
              <a:t>⏱  ~30 min</a:t>
            </a:r>
          </a:p>
        </p:txBody>
      </p:sp>
      <p:sp>
        <p:nvSpPr>
          <p:cNvPr id="8" name="Rectangle 7"/>
          <p:cNvSpPr/>
          <p:nvPr/>
        </p:nvSpPr>
        <p:spPr>
          <a:xfrm>
            <a:off x="0" y="6565392"/>
            <a:ext cx="12191695" cy="38100"/>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48640"/>
            <a:ext cx="10881360" cy="1097280"/>
          </a:xfrm>
          <a:prstGeom prst="rect">
            <a:avLst/>
          </a:prstGeom>
          <a:noFill/>
        </p:spPr>
        <p:txBody>
          <a:bodyPr wrap="square" anchor="t" lIns="0" rIns="0" tIns="0" bIns="0">
            <a:spAutoFit/>
          </a:bodyPr>
          <a:lstStyle/>
          <a:p>
            <a:r>
              <a:rPr sz="3200" b="1" i="0">
                <a:solidFill>
                  <a:srgbClr val="2A2929"/>
                </a:solidFill>
                <a:latin typeface="Roboto"/>
              </a:rPr>
              <a:t>Key takeaways</a:t>
            </a:r>
          </a:p>
          <a:p>
            <a:pPr>
              <a:spcBef>
                <a:spcPts val="200"/>
              </a:spcBef>
            </a:pPr>
            <a:r>
              <a:rPr sz="1800" b="1" i="0">
                <a:solidFill>
                  <a:srgbClr val="004488"/>
                </a:solidFill>
                <a:latin typeface="Roboto"/>
              </a:rPr>
              <a:t>Topic 3 · Key takeaways</a:t>
            </a:r>
          </a:p>
        </p:txBody>
      </p:sp>
      <p:sp>
        <p:nvSpPr>
          <p:cNvPr id="3" name="Rectangle 2"/>
          <p:cNvSpPr/>
          <p:nvPr/>
        </p:nvSpPr>
        <p:spPr>
          <a:xfrm>
            <a:off x="658368" y="1600200"/>
            <a:ext cx="1463040" cy="50800"/>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65960"/>
            <a:ext cx="109728" cy="841248"/>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Three passes over one architecture: security, reliability, cost.</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916936"/>
            <a:ext cx="109728" cy="841248"/>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16936"/>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The strongest design move can be a rejection, argued on cost versus benefit.</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3867912"/>
            <a:ext cx="109728" cy="841248"/>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867912"/>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Monitoring designed in against the metrics you set.</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818888"/>
            <a:ext cx="109728" cy="841248"/>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818888"/>
            <a:ext cx="10424160" cy="841248"/>
          </a:xfrm>
          <a:prstGeom prst="rect">
            <a:avLst/>
          </a:prstGeom>
          <a:noFill/>
        </p:spPr>
        <p:txBody>
          <a:bodyPr wrap="square" anchor="ctr" lIns="0" rIns="0" tIns="0" bIns="0">
            <a:spAutoFit/>
          </a:bodyPr>
          <a:lstStyle/>
          <a:p>
            <a:pPr>
              <a:lnSpc>
                <a:spcPct val="100000"/>
              </a:lnSpc>
            </a:pPr>
            <a:r>
              <a:rPr sz="1700" b="0" i="0">
                <a:solidFill>
                  <a:srgbClr val="2A2929"/>
                </a:solidFill>
                <a:latin typeface="Roboto"/>
              </a:rPr>
              <a:t>Every improvement earns its place against the run-cost baseline.</a:t>
            </a:r>
          </a:p>
        </p:txBody>
      </p:sp>
      <p:sp>
        <p:nvSpPr>
          <p:cNvPr id="16" name="Rectangle 15"/>
          <p:cNvSpPr/>
          <p:nvPr/>
        </p:nvSpPr>
        <p:spPr>
          <a:xfrm>
            <a:off x="0" y="6565392"/>
            <a:ext cx="12191695" cy="38100"/>
          </a:xfrm>
          <a:prstGeom prst="rect">
            <a:avLst/>
          </a:prstGeom>
          <a:solidFill>
            <a:srgbClr val="004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400800"/>
            <a:ext cx="5486400" cy="320040"/>
          </a:xfrm>
          <a:prstGeom prst="rect">
            <a:avLst/>
          </a:prstGeom>
          <a:noFill/>
        </p:spPr>
        <p:txBody>
          <a:bodyPr wrap="square" anchor="t" lIns="0" rIns="0" tIns="0" bIns="0">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anchor="t" lIns="0" rIns="0" tIns="0" bIns="0">
            <a:spAutoFit/>
          </a:bodyPr>
          <a:lstStyle/>
          <a:p>
            <a:pPr algn="r"/>
            <a:r>
              <a:rPr sz="1100" b="0" i="0">
                <a:solidFill>
                  <a:srgbClr val="7A7A7A"/>
                </a:solidFill>
                <a:latin typeface="Roboto"/>
              </a:rPr>
              <a:t>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A2929"/>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515600" cy="4023360"/>
          </a:xfrm>
          <a:prstGeom prst="rect">
            <a:avLst/>
          </a:prstGeom>
          <a:noFill/>
        </p:spPr>
        <p:txBody>
          <a:bodyPr wrap="square" anchor="t" lIns="0" rIns="0" tIns="0" bIns="0">
            <a:spAutoFit/>
          </a:bodyPr>
          <a:lstStyle/>
          <a:p>
            <a:r>
              <a:rPr sz="4000" b="1" i="0">
                <a:solidFill>
                  <a:srgbClr val="FFFFFF"/>
                </a:solidFill>
                <a:latin typeface="Roboto"/>
              </a:rPr>
              <a:t>Next: Topic 4 — draw it, document it, present it</a:t>
            </a:r>
          </a:p>
          <a:p>
            <a:pPr>
              <a:lnSpc>
                <a:spcPct val="105000"/>
              </a:lnSpc>
              <a:spcBef>
                <a:spcPts val="1200"/>
              </a:spcBef>
            </a:pPr>
            <a:r>
              <a:rPr sz="1900" b="0" i="0">
                <a:solidFill>
                  <a:srgbClr val="E8E8E8"/>
                </a:solidFill>
                <a:latin typeface="Roboto Light"/>
              </a:rPr>
              <a:t>The design is complete: analysed, targeted, improved and justified.</a:t>
            </a:r>
          </a:p>
          <a:p>
            <a:pPr>
              <a:lnSpc>
                <a:spcPct val="105000"/>
              </a:lnSpc>
              <a:spcBef>
                <a:spcPts val="1200"/>
              </a:spcBef>
            </a:pPr>
            <a:r>
              <a:rPr sz="1900" b="0" i="0">
                <a:solidFill>
                  <a:srgbClr val="E8E8E8"/>
                </a:solidFill>
                <a:latin typeface="Roboto Light"/>
              </a:rPr>
              <a:t>Next you draw the improved architecture, document the proposal, and present it for sign-off.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