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whole cluster's opening move — before you improve a cloud system you first understand the</a:t>
            </a:r>
          </a:p>
          <a:p>
            <a:r>
              <a:t>one you have. This is the ANALYSIS half of AT1's Solution Design; set the posture, don't teach a</a:t>
            </a:r>
          </a:p>
          <a:p>
            <a:r>
              <a:t>section yet.</a:t>
            </a:r>
          </a:p>
          <a:p>
            <a:r>
              <a:t>• First two bullets: Topic 1 opens AT1 — review the baseline, evaluate it, set the goals; the design</a:t>
            </a:r>
          </a:p>
          <a:p>
            <a:r>
              <a:t>of the fix is Topics 2–4. Diagnosis precedes design.</a:t>
            </a:r>
          </a:p>
          <a:p>
            <a:r>
              <a:t>• Third bullet: name the vehicle — Ledgerline, YAT's Accounting system, running single-AZ in the</a:t>
            </a:r>
          </a:p>
          <a:p>
            <a:r>
              <a:t>cloud. It is the system they analyse and improve for the assessment.</a:t>
            </a:r>
          </a:p>
          <a:p>
            <a:r>
              <a:t>• Fourth bullet (the discipline): stay at analysis — diagnose and justify, do NOT design the changes</a:t>
            </a:r>
          </a:p>
          <a:p>
            <a:r>
              <a:t>yet. Hold that line all Topic.</a:t>
            </a:r>
          </a:p>
          <a:p>
            <a:r>
              <a:t>Misconception to pre-empt: "we already know the fix is Multi-AZ, let's design it." No — you must first</a:t>
            </a:r>
          </a:p>
          <a:p>
            <a:r>
              <a:t>review, evaluate business impact and set goals; a fix proposed before the goals exist has nothing to</a:t>
            </a:r>
          </a:p>
          <a:p>
            <a:r>
              <a:t>be measured against.</a:t>
            </a:r>
          </a:p>
          <a:p>
            <a:r>
              <a:t>Question to pose: "Why analyse a system you're about to change — why not go straight to the</a:t>
            </a:r>
          </a:p>
          <a:p>
            <a:r>
              <a:t>improvement?" (you can't justify or measure a change without the baseline + goals it answers).</a:t>
            </a:r>
          </a:p>
          <a:p>
            <a:r>
              <a:t>UoC/AT1 tie: this Topic develops ICTCLD504 PC 1.1–1.6, PC 2.1 and PE 3; the output is the analysis +</a:t>
            </a:r>
          </a:p>
          <a:p>
            <a:r>
              <a:t>goals/metrics sections of the AT1 Solution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1 with the vendor-neutral METHOD — how you read any cloud architecture — before applying</a:t>
            </a:r>
          </a:p>
          <a:p>
            <a:r>
              <a:t>it to Ledgerline. This is a technique slide; teach the frame, not the system yet.</a:t>
            </a:r>
          </a:p>
          <a:p>
            <a:r>
              <a:t>• First bullet: a structured review reads an architecture against pillars — security, reliability,</a:t>
            </a:r>
          </a:p>
          <a:p>
            <a:r>
              <a:t>performance, cost. Name the four; they recur all cluster.</a:t>
            </a:r>
          </a:p>
          <a:p>
            <a:r>
              <a:t>• Second bullet: frame the review with the industry technology standards used in cloud solutions</a:t>
            </a:r>
          </a:p>
          <a:p>
            <a:r>
              <a:t>(KE 1) and the standard hardware/software products the platform is built on — compute families,</a:t>
            </a:r>
          </a:p>
          <a:p>
            <a:r>
              <a:t>managed databases, object/block storage (KE 2). This is the vocabulary the review is written in.</a:t>
            </a:r>
          </a:p>
          <a:p>
            <a:r>
              <a:t>• Third bullet: keep it vendor-neutral HERE; they apply it to Ledgerline, a real AWS baseline, on the</a:t>
            </a:r>
          </a:p>
          <a:p>
            <a:r>
              <a:t>next slide.</a:t>
            </a:r>
          </a:p>
          <a:p>
            <a:r>
              <a:t>Misconception to pre-empt: "reviewing = listing what's there." No — a review EVALUATES against the</a:t>
            </a:r>
          </a:p>
          <a:p>
            <a:r>
              <a:t>pillars; an inventory with no judgement isn't a review.</a:t>
            </a:r>
          </a:p>
          <a:p>
            <a:r>
              <a:t>Question to pose: "Name the four pillars you read an architecture against — and which one a single-AZ</a:t>
            </a:r>
          </a:p>
          <a:p>
            <a:r>
              <a:t>design most obviously fails." (reliability — sets up the Ledgerline slide).</a:t>
            </a:r>
          </a:p>
          <a:p>
            <a:r>
              <a:t>UoC/AT1 tie: ICTCLD504 KE 1 / KE 2 (the standards + standard products the review draws on) → AT1</a:t>
            </a:r>
          </a:p>
          <a:p>
            <a:r>
              <a:t>Solution Design baseline analysis + the Part A KE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the method to the actual system — walk the Ledgerline baseline off the diagram so students can</a:t>
            </a:r>
          </a:p>
          <a:p>
            <a:r>
              <a:t>SEE the single-AZ topology they'll evaluate next.</a:t>
            </a:r>
          </a:p>
          <a:p>
            <a:r>
              <a:t>• First bullet: identify and review the current architecture — a VPC, ONE Availability Zone, an app</a:t>
            </a:r>
          </a:p>
          <a:p>
            <a:r>
              <a:t>tier and a single RDS database. Point to each on the diagram.</a:t>
            </a:r>
          </a:p>
          <a:p>
            <a:r>
              <a:t>• Second bullet: read the topology top-down — network → compute → database → storage — noting how each</a:t>
            </a:r>
          </a:p>
          <a:p>
            <a:r>
              <a:t>resource is deployed today. Model the reading order; it's the same order they'll design in.</a:t>
            </a:r>
          </a:p>
          <a:p>
            <a:r>
              <a:t>• Third bullet: cloud adoption reshapes the IT system — managed services, elasticity and shared</a:t>
            </a:r>
          </a:p>
          <a:p>
            <a:r>
              <a:t>responsibility change how you run and improve it (KE 3). This is why "review" here isn't the same as</a:t>
            </a:r>
          </a:p>
          <a:p>
            <a:r>
              <a:t>reviewing an on-prem box.</a:t>
            </a:r>
          </a:p>
          <a:p>
            <a:r>
              <a:t>Misconception to pre-empt: "single-AZ just means one server." No — it means every tier shares one</a:t>
            </a:r>
          </a:p>
          <a:p>
            <a:r>
              <a:t>failure domain; the whole VPC's resources sit in one AZ, so one AZ outage takes it all down.</a:t>
            </a:r>
          </a:p>
          <a:p>
            <a:r>
              <a:t>Question to pose: "Trace the request path on the diagram — where is the single point of failure?"</a:t>
            </a:r>
          </a:p>
          <a:p>
            <a:r>
              <a:t>(the one AZ; every tier lives in it).</a:t>
            </a:r>
          </a:p>
          <a:p>
            <a:r>
              <a:t>UoC/AT1 tie: ICTCLD504 PC 1.1 (identify &amp; review the architecture) + KE 3 → AT1 Solution Design</a:t>
            </a:r>
          </a:p>
          <a:p>
            <a:r>
              <a:t>baseline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evaluation slide — teach students to state impact in BUSINESS terms, and plant the constraint that</a:t>
            </a:r>
          </a:p>
          <a:p>
            <a:r>
              <a:t>drives the whole cluster. This is the analytical heart of Section 1.</a:t>
            </a:r>
          </a:p>
          <a:p>
            <a:r>
              <a:t>• First bullet: evaluate the baseline and name the business impact of its design decisions — single-AZ</a:t>
            </a:r>
          </a:p>
          <a:p>
            <a:r>
              <a:t>means single points of failure; one AZ outage takes Accounting down.</a:t>
            </a:r>
          </a:p>
          <a:p>
            <a:r>
              <a:t>• Second bullet (plant it deliberately): the accounting product is vendor-certified single-instance</a:t>
            </a:r>
          </a:p>
          <a:p>
            <a:r>
              <a:t>only, so the database CANNOT go Multi-AZ. Have them write it down now — it is the reliability</a:t>
            </a:r>
          </a:p>
          <a:p>
            <a:r>
              <a:t>cost-benefit centrepiece in Topic 2.</a:t>
            </a:r>
          </a:p>
          <a:p>
            <a:r>
              <a:t>• Third bullet: impact is a BUSINESS statement, not a technical one — downtime, lost billing, risk to</a:t>
            </a:r>
          </a:p>
          <a:p>
            <a:r>
              <a:t>close-of-month. That's the language the goals in C3 will answer.</a:t>
            </a:r>
          </a:p>
          <a:p>
            <a:r>
              <a:t>Misconception to pre-empt: "the impact is 'the server goes down'." No — that's the technical event; the</a:t>
            </a:r>
          </a:p>
          <a:p>
            <a:r>
              <a:t>business impact is what it COSTS (billing halts, month-end close at risk). Push them from event to cost.</a:t>
            </a:r>
          </a:p>
          <a:p>
            <a:r>
              <a:t>Question to pose: "If the single AZ fails during end-of-month close, what does that cost YAT — in</a:t>
            </a:r>
          </a:p>
          <a:p>
            <a:r>
              <a:t>business terms?" (draws out the impact language the goals answer).</a:t>
            </a:r>
          </a:p>
          <a:p>
            <a:r>
              <a:t>UoC/AT1 tie: ICTCLD504 PC 1.2 (evaluate architecture &amp; identify business impact of design decisions) →</a:t>
            </a:r>
          </a:p>
          <a:p>
            <a:r>
              <a:t>AT1 Solution Design baseline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1 practice; students run the SAME baseline review on the practice</a:t>
            </a:r>
          </a:p>
          <a:p>
            <a:r>
              <a:t>engagement (the website) before doing it on Ledgerline for the assessment.</a:t>
            </a:r>
          </a:p>
          <a:p>
            <a:r>
              <a:t>Tell students: "On the practice engagement — the website — identify and review its current</a:t>
            </a:r>
          </a:p>
          <a:p>
            <a:r>
              <a:t>architecture the same way we just read Ledgerline. Evaluate it and name the business impact of its</a:t>
            </a:r>
          </a:p>
          <a:p>
            <a:r>
              <a:t>design decisions."</a:t>
            </a:r>
          </a:p>
          <a:p>
            <a:r>
              <a:t>Steps (put on the board):</a:t>
            </a:r>
          </a:p>
          <a:p>
            <a:r>
              <a:t>1. Read the practice architecture top-down — network, compute, database, storage.</a:t>
            </a:r>
          </a:p>
          <a:p>
            <a:r>
              <a:t>2. Note how each tier is deployed today and where a single failure or bottleneck sits.</a:t>
            </a:r>
          </a:p>
          <a:p>
            <a:r>
              <a:t>3. For each weak point, write the BUSINESS impact — where would an outage or a bottleneck hurt the</a:t>
            </a:r>
          </a:p>
          <a:p>
            <a:r>
              <a:t>business?</a:t>
            </a:r>
          </a:p>
          <a:p>
            <a:r>
              <a:t>Must produce: a short written review of the practice baseline with at least two business-impact</a:t>
            </a:r>
          </a:p>
          <a:p>
            <a:r>
              <a:t>statements (not technical events).</a:t>
            </a:r>
          </a:p>
          <a:p>
            <a:r>
              <a:t>Timing: ~25 min then discuss. Where they get stuck: they list resources without evaluating them —</a:t>
            </a:r>
          </a:p>
          <a:p>
            <a:r>
              <a:t>circulate and push "so what does that cost the business?"; also watch for technical-only impacts.</a:t>
            </a:r>
          </a:p>
          <a:p>
            <a:r>
              <a:t>Share-back prompt: take one student's biggest business impact and ask the room whether it's stated in</a:t>
            </a:r>
          </a:p>
          <a:p>
            <a:r>
              <a:t>business or technical language.</a:t>
            </a:r>
          </a:p>
          <a:p>
            <a:r>
              <a:t>No-leakage note: the website is the PRACTICE vehicle — AT1 assesses this same review skill on</a:t>
            </a:r>
          </a:p>
          <a:p>
            <a:r>
              <a:t>Ledgerline (comparable, not identical); keep them on the practice engagement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with the OPTION SPACE — the patterns a cloud architecture can use — kept deliberately</a:t>
            </a:r>
          </a:p>
          <a:p>
            <a:r>
              <a:t>abstract so the next slide can narrow them to Ledgerline. A menu, not a decision.</a:t>
            </a:r>
          </a:p>
          <a:p>
            <a:r>
              <a:t>• First bullet: name the options — Multi-AZ redundancy, horizontal scaling + load balancing, managed</a:t>
            </a:r>
          </a:p>
          <a:p>
            <a:r>
              <a:t>vs self-run data tiers, caching, decoupling. Give each a one-line "what it buys."</a:t>
            </a:r>
          </a:p>
          <a:p>
            <a:r>
              <a:t>• Second bullet (the framing): each option is a pattern with a COST and a BENEFIT — there is no single</a:t>
            </a:r>
          </a:p>
          <a:p>
            <a:r>
              <a:t>right answer, only a fit to the business. This is the mindset the whole cluster runs on.</a:t>
            </a:r>
          </a:p>
          <a:p>
            <a:r>
              <a:t>• Third bullet: the four improvement concerns you weigh options against — security, reliability,</a:t>
            </a:r>
          </a:p>
          <a:p>
            <a:r>
              <a:t>scalability, cost.</a:t>
            </a:r>
          </a:p>
          <a:p>
            <a:r>
              <a:t>Misconception to pre-empt: "more redundancy / more scaling is always better." No — every option costs;</a:t>
            </a:r>
          </a:p>
          <a:p>
            <a:r>
              <a:t>the skill is fit, not maximising. Gold-plating loses marks.</a:t>
            </a:r>
          </a:p>
          <a:p>
            <a:r>
              <a:t>Question to pose: "Multi-AZ improves reliability — so should every system have it?" (No — only where the</a:t>
            </a:r>
          </a:p>
          <a:p>
            <a:r>
              <a:t>reliability benefit justifies the cost; sets up the Ledgerline DB call in Topic 2).</a:t>
            </a:r>
          </a:p>
          <a:p>
            <a:r>
              <a:t>UoC/AT1 tie: ICTCLD504 PC 1.3 (identify design patterns &amp; architectural options) → AT1 Solution Design</a:t>
            </a:r>
          </a:p>
          <a:p>
            <a:r>
              <a:t>options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Narrow the menu to Ledgerline — teach students to assess options AGAINST a specific business model,</a:t>
            </a:r>
          </a:p>
          <a:p>
            <a:r>
              <a:t>then commit to a shortlist. This is where analysis becomes decisions.</a:t>
            </a:r>
          </a:p>
          <a:p>
            <a:r>
              <a:t>• First bullet: determine and assess the benefits and differences of the options against Ledgerline's</a:t>
            </a:r>
          </a:p>
          <a:p>
            <a:r>
              <a:t>CURRENT business model and needs — not in the abstract. The same option can be right for one business</a:t>
            </a:r>
          </a:p>
          <a:p>
            <a:r>
              <a:t>and wrong for another.</a:t>
            </a:r>
          </a:p>
          <a:p>
            <a:r>
              <a:t>• Second bullet: the single-instance-DB constraint (from C1) rules some reliability options out — which</a:t>
            </a:r>
          </a:p>
          <a:p>
            <a:r>
              <a:t>actually SHARPENS the ones that remain. A constraint is analytical signal, not just a limitation.</a:t>
            </a:r>
          </a:p>
          <a:p>
            <a:r>
              <a:t>• Third bullet: confirm the system design decisions to carry forward according to business needs — the</a:t>
            </a:r>
          </a:p>
          <a:p>
            <a:r>
              <a:t>shortlist Topics 2–3 will actually design.</a:t>
            </a:r>
          </a:p>
          <a:p>
            <a:r>
              <a:t>Misconception to pre-empt: "assess = describe each option." No — assess means judge FIT and pick; they</a:t>
            </a:r>
          </a:p>
          <a:p>
            <a:r>
              <a:t>must end with confirmed decisions, not a balanced-sounding list.</a:t>
            </a:r>
          </a:p>
          <a:p>
            <a:r>
              <a:t>Question to pose: "The single-instance DB rules out a Multi-AZ database — does that make the analysis</a:t>
            </a:r>
          </a:p>
          <a:p>
            <a:r>
              <a:t>harder or easier?" (easier — it removes an option, so you argue the remaining ones).</a:t>
            </a:r>
          </a:p>
          <a:p>
            <a:r>
              <a:t>UoC/AT1 tie: ICTCLD504 PC 1.4 (assess options against the business model) + PC 1.5 (confirm design</a:t>
            </a:r>
          </a:p>
          <a:p>
            <a:r>
              <a:t>decisions) → AT1 Solution Design options +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2 practice; students list and assess options for the practice engagement,</a:t>
            </a:r>
          </a:p>
          <a:p>
            <a:r>
              <a:t>then commit to decisions — mirroring the Ledgerline options work.</a:t>
            </a:r>
          </a:p>
          <a:p>
            <a:r>
              <a:t>Tell students: "For the practice engagement, list the architectural options open to it and assess each</a:t>
            </a:r>
          </a:p>
          <a:p>
            <a:r>
              <a:t>against its business model and needs. Then confirm which decisions you'd carry forward — and note what</a:t>
            </a:r>
          </a:p>
          <a:p>
            <a:r>
              <a:t>you rule out, and why."</a:t>
            </a:r>
          </a:p>
          <a:p>
            <a:r>
              <a:t>Steps (put on the board):</a:t>
            </a:r>
          </a:p>
          <a:p>
            <a:r>
              <a:t>1. List the options open to the practice architecture (redundancy, scaling, managed vs self-run,</a:t>
            </a:r>
          </a:p>
          <a:p>
            <a:r>
              <a:t>caching, decoupling).</a:t>
            </a:r>
          </a:p>
          <a:p>
            <a:r>
              <a:t>2. Assess each against the practice engagement's business model and needs — cost vs benefit, fit not</a:t>
            </a:r>
          </a:p>
          <a:p>
            <a:r>
              <a:t>maximum.</a:t>
            </a:r>
          </a:p>
          <a:p>
            <a:r>
              <a:t>3. Confirm the decisions worth carrying forward; record the ones you RULE OUT and the reason.</a:t>
            </a:r>
          </a:p>
          <a:p>
            <a:r>
              <a:t>Must produce: a shortlist of confirmed design decisions plus a short "ruled out, because…" list.</a:t>
            </a:r>
          </a:p>
          <a:p>
            <a:r>
              <a:t>Timing: ~25 min then discuss. Where they get stuck: they keep every option "just in case" — push them</a:t>
            </a:r>
          </a:p>
          <a:p>
            <a:r>
              <a:t>to commit and to justify a rejection (rejecting an option with a reason is a marked skill).</a:t>
            </a:r>
          </a:p>
          <a:p>
            <a:r>
              <a:t>Share-back prompt: ask one student for an option they RULED OUT and why — the reasoning is the skill.</a:t>
            </a:r>
          </a:p>
          <a:p>
            <a:r>
              <a:t>No-leakage note: the website is the practice vehicle; AT1 assesses the same options-and-decisions skill</a:t>
            </a:r>
          </a:p>
          <a:p>
            <a:r>
              <a:t>on Ledgerline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3 by teaching what a GOAL is versus a METRIC — the yardstick discipline the whole</a:t>
            </a:r>
          </a:p>
          <a:p>
            <a:r>
              <a:t>improvement is later measured against.</a:t>
            </a:r>
          </a:p>
          <a:p>
            <a:r>
              <a:t>• First bullet: set business goals across the four well-architected concerns — security, reliability,</a:t>
            </a:r>
          </a:p>
          <a:p>
            <a:r>
              <a:t>high-performance and cost efficiency (PC 1.6, PE 3).</a:t>
            </a:r>
          </a:p>
          <a:p>
            <a:r>
              <a:t>• Second bullet: a goal is directional and business-owned ("survive an AZ failure without data loss");</a:t>
            </a:r>
          </a:p>
          <a:p>
            <a:r>
              <a:t>a METRIC makes it measurable (availability %, RTO/RPO). Say both words; students blur them.</a:t>
            </a:r>
          </a:p>
          <a:p>
            <a:r>
              <a:t>• Third bullet: goals come from business REQUIREMENTS and needs — not from the technology you happen to</a:t>
            </a:r>
          </a:p>
          <a:p>
            <a:r>
              <a:t>like. Technology-led goals are the classic trap.</a:t>
            </a:r>
          </a:p>
          <a:p>
            <a:r>
              <a:t>Misconception to pre-empt: "the goal is 'use Multi-AZ'." No — that's a solution masquerading as a goal;</a:t>
            </a:r>
          </a:p>
          <a:p>
            <a:r>
              <a:t>the goal is the business outcome ("survive an AZ failure"), and the solution is chosen to meet it.</a:t>
            </a:r>
          </a:p>
          <a:p>
            <a:r>
              <a:t>Question to pose: "'Go Multi-AZ' — is that a goal or a solution? What's the goal underneath it?"</a:t>
            </a:r>
          </a:p>
          <a:p>
            <a:r>
              <a:t>(survive an AZ failure without data loss — the outcome the solution serves).</a:t>
            </a:r>
          </a:p>
          <a:p>
            <a:r>
              <a:t>UoC/AT1 tie: ICTCLD504 PC 1.6 + PE 3 (set business goals across the four concerns) → AT1 Solution</a:t>
            </a:r>
          </a:p>
          <a:p>
            <a:r>
              <a:t>Design goals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the goal/metric discipline to Ledgerline — set concrete goals and confirm the metrics that make</a:t>
            </a:r>
          </a:p>
          <a:p>
            <a:r>
              <a:t>them testable. This slide produces the yardstick the rest of the cluster measures against.</a:t>
            </a:r>
          </a:p>
          <a:p>
            <a:r>
              <a:t>• First bullet: set the security / reliability / high-performance / cost goals for Ledgerline FROM its</a:t>
            </a:r>
          </a:p>
          <a:p>
            <a:r>
              <a:t>business requirements — trace each to a stated need.</a:t>
            </a:r>
          </a:p>
          <a:p>
            <a:r>
              <a:t>• Second bullet: evaluate and confirm the performance METRICS the improved application is measured</a:t>
            </a:r>
          </a:p>
          <a:p>
            <a:r>
              <a:t>against — availability %, RTO/RPO, response time, cost per period (PC 2.1). A goal without a metric</a:t>
            </a:r>
          </a:p>
          <a:p>
            <a:r>
              <a:t>can't be tested.</a:t>
            </a:r>
          </a:p>
          <a:p>
            <a:r>
              <a:t>• Third bullet (the payoff): write them so a LATER Topic can test against them — these goals and</a:t>
            </a:r>
          </a:p>
          <a:p>
            <a:r>
              <a:t>metrics are the yardstick for the design (Topics 2–3) and the AT3 build.</a:t>
            </a:r>
          </a:p>
          <a:p>
            <a:r>
              <a:t>Misconception to pre-empt: "the metric is 'be reliable'." No — that's the goal restated; a metric is a</a:t>
            </a:r>
          </a:p>
          <a:p>
            <a:r>
              <a:t>number with a target (e.g. availability ≥ 99.5%, RTO ≤ 1 business day). Push them to numbers.</a:t>
            </a:r>
          </a:p>
          <a:p>
            <a:r>
              <a:t>Question to pose: "Reliability goal: survive an AZ failure. What metric proves it, and what's the</a:t>
            </a:r>
          </a:p>
          <a:p>
            <a:r>
              <a:t>target?" (availability % / RTO / RPO with a number).</a:t>
            </a:r>
          </a:p>
          <a:p>
            <a:r>
              <a:t>UoC/AT1 tie: ICTCLD504 PC 1.6 (goals) + PC 2.1 (confirm performance metrics) + PE 3 → AT1 Solution</a:t>
            </a:r>
          </a:p>
          <a:p>
            <a:r>
              <a:t>Design goals &amp; metrics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3 practice; students set goals + metrics for the practice engagement, the</a:t>
            </a:r>
          </a:p>
          <a:p>
            <a:r>
              <a:t>yardstick they'll design against in the practice work that mirrors Topics 2–3.</a:t>
            </a:r>
          </a:p>
          <a:p>
            <a:r>
              <a:t>Tell students: "For the practice engagement, set goals across security, reliability, performance and</a:t>
            </a:r>
          </a:p>
          <a:p>
            <a:r>
              <a:t>cost. Then confirm the metric each goal is measured by — a number with a target."</a:t>
            </a:r>
          </a:p>
          <a:p>
            <a:r>
              <a:t>Steps (put on the board):</a:t>
            </a:r>
          </a:p>
          <a:p>
            <a:r>
              <a:t>1. Write one goal per concern — security, reliability, performance, cost — each traced to a business</a:t>
            </a:r>
          </a:p>
          <a:p>
            <a:r>
              <a:t>need.</a:t>
            </a:r>
          </a:p>
          <a:p>
            <a:r>
              <a:t>2. For each goal, confirm the metric that proves it and set a target (availability %, RTO/RPO, response</a:t>
            </a:r>
          </a:p>
          <a:p>
            <a:r>
              <a:t>time, cost per period).</a:t>
            </a:r>
          </a:p>
          <a:p>
            <a:r>
              <a:t>3. Sanity-check: could a later Topic TEST against these? If not, tighten them.</a:t>
            </a:r>
          </a:p>
          <a:p>
            <a:r>
              <a:t>Must produce: four goals, each with a named metric and a target value.</a:t>
            </a:r>
          </a:p>
          <a:p>
            <a:r>
              <a:t>Timing: ~25 min then discuss. Where they get stuck: goals that are really solutions ("use auto</a:t>
            </a:r>
          </a:p>
          <a:p>
            <a:r>
              <a:t>scaling"), and metrics with no number — circulate and push outcome-goals + numeric targets.</a:t>
            </a:r>
          </a:p>
          <a:p>
            <a:r>
              <a:t>Share-back prompt: take one goal/metric pair and ask the room whether the metric actually proves the</a:t>
            </a:r>
          </a:p>
          <a:p>
            <a:r>
              <a:t>goal.</a:t>
            </a:r>
          </a:p>
          <a:p>
            <a:r>
              <a:t>No-leakage note: the website is the practice vehicle; AT1 assesses goal/metric setting on Ledgerline —</a:t>
            </a:r>
          </a:p>
          <a:p>
            <a:r>
              <a:t>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01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Analysing the baseline architecture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Review and evaluate the existing Ledgerline cloud architecture, then set the improvement goals and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analysis to improvement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1 opens AT1: before you improve a cloud system you first understand the one you have.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 is the analysis half of the Solution Design — review the baseline, evaluate it, set the goals. The design of the fix is Topics 2–4.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Vehicle: **Ledgerline**, YAT's Accounting system, runs single-AZ in the cloud — the system you analyse and improve.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Stay at analysis: diagnose and justify, don't design the changes yet.</a:t>
            </a:r>
          </a:p>
        </p:txBody>
      </p:sp>
      <p:pic>
        <p:nvPicPr>
          <p:cNvPr id="5" name="Picture 4" descr="gen-95de8c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Reviewing the baseline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understand what you have before you change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How to review a cloud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structured review reads an architecture against pillars: security, reliability, performance,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Frame the review with industry technology standards used in cloud solutions (KE 1) and the standard hardware/software products the platform is built on — compute families, managed databases, object/block storage (KE 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Keep the method vendor-neutral here; you apply it to Ledgerline (a real AWS baseline)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Ledgerline baseline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Identify and review Ledgerline's current cloud architecture: a VPC, one Availability Zone, an app tier and a single RDS database.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Read the topology top-down — network, compute, database, storage — and note how each resource is deployed today.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Cloud adoption changes the IT system: managed services, elasticity and shared responsibility reshape how you run and improve it (KE 3).</a:t>
            </a:r>
          </a:p>
        </p:txBody>
      </p:sp>
      <p:pic>
        <p:nvPicPr>
          <p:cNvPr id="5" name="Picture 4" descr="ledgerline-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1206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Evaluate the design decisions &amp; their business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Evaluate the baseline and name the business impact of its design decisions: single-AZ means single points of failure — one AZ outage takes Accounting 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seeded constraint surfaces here: the accounting product is **vendor-certified single-instance only → the database cannot go Multi-AZ**. Record it now — it is the reliability cost-benefit centrepiece in Topic 2.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Impact is a business statement, not a technical one: downtime, lost billing, risk to close-of-month — the language the goals in C3 answer.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Review the practice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**practice engagement (the website)**, identify and review its current architecture the same way.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Evaluate it and name the business impact of its design decisions — where would an outage or a bottleneck hurt the business?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Options &amp; fit against the business model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could change, and what fits the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Design patterns &amp; architectural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Identify the options available to a cloud architecture: multi-AZ redundancy, horizontal scaling and load balancing, managed vs self-run data tiers, caching, decoupling.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Each option is a pattern with a cost and a benefit — there is no single right answer, only a fit.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four improvement concerns to weigh against: security, reliability, scalability, cost.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Assess the options against Ledgerline &amp; confirm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Determine and assess the benefits and differences of cloud/architectural options **against Ledgerline's current business model and needs** — not in the abstract.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Weigh what fits: the single-instance DB constraint rules some reliability options out, which sharpens the ones that remain.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 the system design decisions to carry forward according to business needs — the shortlist Topics 2–3 will actually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Weigh options on the practice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engagement, list the architectural options open to it and assess each against its business model and needs.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design decisions worth carrying forward — and note the ones you rule out and why.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Goals &amp; metrics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set the target the improvement is measured against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Goals across the four concerns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Set business goals across the four well-architected concerns: security, reliability, high-performance and cost efficiency (PC 1.6, PE 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goal is directional and business-owned ("survive an AZ failure without data loss"); a metric makes it measurable.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Goals come from business requirements and needs, not from the technology you happen to like.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Set Ledgerline's goals &amp; confirm the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Set the security / reliability / high-performance / cost goals for Ledgerline from its business requirements.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Evaluate and confirm the performance metrics the improved application is measured against — availability %, RTO/RPO, response time, cost per period (PC 2.1).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goals and metrics are the yardstick for the design (Topics 2–3) and the AT3 build — write them so a later Topic can test against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Draft goals &amp; metrics for the practice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engagement, set the goals across security, reliability, performance and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metrics each goal is measured by — you will design against them in the practice work that mirrors Topics 2–3.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1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Review the baseline against the four pillars before changing anything; name the business impact of each design decision.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Ledgerline is single-AZ with a **vendor-certified single-instance DB that cannot go Multi-AZ** — carry that constraint into Topic 2.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Assess options against the business model, then confirm the decisions to carry forward.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Set goals across security, reliability, performance and cost, and confirm the metrics — that is the yardstick for the whole improvement.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2 — designing the reliability improvements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reviewed the baseline, weighed the options and set the goals; next you design the reliability changes.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the single-instance-DB constraint — it is the reliability cost-benefit centrepiece Topic 2 opens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