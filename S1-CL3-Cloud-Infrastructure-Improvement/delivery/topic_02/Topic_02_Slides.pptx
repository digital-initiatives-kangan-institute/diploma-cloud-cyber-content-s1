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pivot from analysis to DESIGN — with Topic 1's goals set, they now design the reliability</a:t>
            </a:r>
          </a:p>
          <a:p>
            <a:r>
              <a:t>changes. Set the depth ceiling: design on paper, to the goals, not beyond; the build is AT3.</a:t>
            </a:r>
          </a:p>
          <a:p>
            <a:r>
              <a:t>• First two bullets: Topic 2 continues AT1 — design the changes that make Ledgerline reliable,</a:t>
            </a:r>
          </a:p>
          <a:p>
            <a:r>
              <a:t>reliability optimised JOINTLY with security, scalability and cost. Improve without over-building.</a:t>
            </a:r>
          </a:p>
          <a:p>
            <a:r>
              <a:t>• Third bullet: name the target — application-tier Multi-AZ + database backup/restore + cross-Region</a:t>
            </a:r>
          </a:p>
          <a:p>
            <a:r>
              <a:t>DR to Melbourne (data stays in Australia). Say "Melbourne — onshore" out loud.</a:t>
            </a:r>
          </a:p>
          <a:p>
            <a:r>
              <a:t>• Fourth bullet (the discipline): design only, to the goals — the build is AT3. Resist drawing console</a:t>
            </a:r>
          </a:p>
          <a:p>
            <a:r>
              <a:t>steps.</a:t>
            </a:r>
          </a:p>
          <a:p>
            <a:r>
              <a:t>Misconception to pre-empt: "reliable = make everything Multi-AZ." No — this Topic's centrepiece is</a:t>
            </a:r>
          </a:p>
          <a:p>
            <a:r>
              <a:t>REJECTING a Multi-AZ database on a cost-benefit call. Reliability is targeted, not maximised.</a:t>
            </a:r>
          </a:p>
          <a:p>
            <a:r>
              <a:t>Question to pose: "Topic 1 set the reliability goal — what does 'design to the goal, not beyond it' rule</a:t>
            </a:r>
          </a:p>
          <a:p>
            <a:r>
              <a:t>out?" (gold-plating; any redundancy the goal doesn't justify).</a:t>
            </a:r>
          </a:p>
          <a:p>
            <a:r>
              <a:t>UoC/AT1 tie: this Topic develops ICTCLD504 PC 2.3, PE 1 and KE 4/5/8/9; the output is the reliability</a:t>
            </a:r>
          </a:p>
          <a:p>
            <a:r>
              <a:t>sections + KE appendix of the AT1 Solution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1 with the vendor-neutral definition of reliability and its building blocks — the frame</a:t>
            </a:r>
          </a:p>
          <a:p>
            <a:r>
              <a:t>before the Ledgerline-specific design.</a:t>
            </a:r>
          </a:p>
          <a:p>
            <a:r>
              <a:t>• First bullet: reliability = the system keeps serving through component and zone failures, AND recovers</a:t>
            </a:r>
          </a:p>
          <a:p>
            <a:r>
              <a:t>from loss. Two halves — continuity and recovery.</a:t>
            </a:r>
          </a:p>
          <a:p>
            <a:r>
              <a:t>• Second bullet: the three building blocks — redundancy across AZs (Multi-AZ), backup/restore, and</a:t>
            </a:r>
          </a:p>
          <a:p>
            <a:r>
              <a:t>cross-Region DR. Map each to which half it serves.</a:t>
            </a:r>
          </a:p>
          <a:p>
            <a:r>
              <a:t>• Third bullet: reliability is designed JOINTLY with security, scalability and cost — each choice is a</a:t>
            </a:r>
          </a:p>
          <a:p>
            <a:r>
              <a:t>trade-off, not a maximum. This is the anti-gold-plating rule again.</a:t>
            </a:r>
          </a:p>
          <a:p>
            <a:r>
              <a:t>Misconception to pre-empt: "backup and DR are the same thing." No — backup/restore recovers data in</a:t>
            </a:r>
          </a:p>
          <a:p>
            <a:r>
              <a:t>place; cross-Region DR survives losing a whole Region. Different failures, different tools.</a:t>
            </a:r>
          </a:p>
          <a:p>
            <a:r>
              <a:t>Question to pose: "Which building block protects against an AZ failure, and which against losing the</a:t>
            </a:r>
          </a:p>
          <a:p>
            <a:r>
              <a:t>whole Region?" (Multi-AZ vs cross-Region DR — separates the two).</a:t>
            </a:r>
          </a:p>
          <a:p>
            <a:r>
              <a:t>UoC/AT1 tie: ICTCLD504 KE 9 (features/techniques to improve reliability) → AT1 Solution Design</a:t>
            </a:r>
          </a:p>
          <a:p>
            <a:r>
              <a:t>reliability design + KE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concrete reliability TARGET off the diagram — where the design adds redundancy, and the one</a:t>
            </a:r>
          </a:p>
          <a:p>
            <a:r>
              <a:t>place it deliberately does NOT. This tees up the centrepiece on the next slide.</a:t>
            </a:r>
          </a:p>
          <a:p>
            <a:r>
              <a:t>• First bullet: review the single-AZ baseline against the reliability goals; name where a single</a:t>
            </a:r>
          </a:p>
          <a:p>
            <a:r>
              <a:t>failure takes the system down (from Topic 1's analysis).</a:t>
            </a:r>
          </a:p>
          <a:p>
            <a:r>
              <a:t>• Second bullet: the target — app tier goes Multi-AZ behind a load balancer; the database gets automated</a:t>
            </a:r>
          </a:p>
          <a:p>
            <a:r>
              <a:t>backup/restore; a cross-Region DR copy goes to Melbourne (Australian data stays onshore). Point to each</a:t>
            </a:r>
          </a:p>
          <a:p>
            <a:r>
              <a:t>on the diagram.</a:t>
            </a:r>
          </a:p>
          <a:p>
            <a:r>
              <a:t>• Third bullet: flag it now — the database is deliberately NOT Multi-AZ; the next slide argues why.</a:t>
            </a:r>
          </a:p>
          <a:p>
            <a:r>
              <a:t>Leave the tension unresolved for one slide on purpose.</a:t>
            </a:r>
          </a:p>
          <a:p>
            <a:r>
              <a:t>Misconception to pre-empt: "the whole system goes Multi-AZ." No — only the APP tier does; the DB is</a:t>
            </a:r>
          </a:p>
          <a:p>
            <a:r>
              <a:t>handled by backup/restore + DR. Redundancy is applied tier by tier, to the goal.</a:t>
            </a:r>
          </a:p>
          <a:p>
            <a:r>
              <a:t>Question to pose: "The app tier goes Multi-AZ but the database doesn't — what could possibly justify</a:t>
            </a:r>
          </a:p>
          <a:p>
            <a:r>
              <a:t>treating them differently?" (sets up the cost-benefit centrepiece).</a:t>
            </a:r>
          </a:p>
          <a:p>
            <a:r>
              <a:t>UoC/AT1 tie: ICTCLD504 PC 2.3 (review &amp; improve architecture for reliability) + PE 1 → AT1 Solution</a:t>
            </a:r>
          </a:p>
          <a:p>
            <a:r>
              <a:t>Design reliability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centrepiece of the whole cluster — teach the cost-benefit REJECTION of a Multi-AZ database. Slow</a:t>
            </a:r>
          </a:p>
          <a:p>
            <a:r>
              <a:t>down here; this is the single most assessed piece of reasoning in AT1.</a:t>
            </a:r>
          </a:p>
          <a:p>
            <a:r>
              <a:t>• First bullet: Ledgerline is a legacy accounting app, vendor-certified single-instance only — a</a:t>
            </a:r>
          </a:p>
          <a:p>
            <a:r>
              <a:t>Multi-AZ (failover) database is simply not available for it.</a:t>
            </a:r>
          </a:p>
          <a:p>
            <a:r>
              <a:t>• Second bullet: the only route to DB failover is to REPLACE the accounting product — new licence, data</a:t>
            </a:r>
          </a:p>
          <a:p>
            <a:r>
              <a:t>migration, change management, migration risk. Spell out the true cost.</a:t>
            </a:r>
          </a:p>
          <a:p>
            <a:r>
              <a:t>• Third bullet (the call): that cost is disproportionate to the reliability gained, so the design REJECTS</a:t>
            </a:r>
          </a:p>
          <a:p>
            <a:r>
              <a:t>a Multi-AZ database and leaves the DB single-AZ with backup/restore + cross-Region DR. This is the heart</a:t>
            </a:r>
          </a:p>
          <a:p>
            <a:r>
              <a:t>of the Topic.</a:t>
            </a:r>
          </a:p>
          <a:p>
            <a:r>
              <a:t>• Fourth bullet: warn against the reflex — "reliable database = Multi-AZ database" is wrong HERE; justify</a:t>
            </a:r>
          </a:p>
          <a:p>
            <a:r>
              <a:t>against the goal and the cost, not a checklist.</a:t>
            </a:r>
          </a:p>
          <a:p>
            <a:r>
              <a:t>Misconception to pre-empt: exactly that reflex — students pattern-match "reliability → Multi-AZ" and lose</a:t>
            </a:r>
          </a:p>
          <a:p>
            <a:r>
              <a:t>the marks. The assessed skill is arguing the trade-off, not naming the feature.</a:t>
            </a:r>
          </a:p>
          <a:p>
            <a:r>
              <a:t>Question to pose: "You could get DB failover by replacing the product — why is that the WRONG call here?"</a:t>
            </a:r>
          </a:p>
          <a:p>
            <a:r>
              <a:t>(cost + risk disproportionate to the reliability the goal actually needs).</a:t>
            </a:r>
          </a:p>
          <a:p>
            <a:r>
              <a:t>UoC/AT1 tie: ICTCLD504 PC 2.3 + PE 1; this is the AT1 cost-benefit centrepiece — the Solution Design</a:t>
            </a:r>
          </a:p>
          <a:p>
            <a:r>
              <a:t>must ARGUE it, not just state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techniques slide — name the concrete cloud-service features the reliability design leans on, and</a:t>
            </a:r>
          </a:p>
          <a:p>
            <a:r>
              <a:t>introduce the parameterised template that carries the design to AT3.</a:t>
            </a:r>
          </a:p>
          <a:p>
            <a:r>
              <a:t>• First bullet: the techniques (KE 9) — Multi-AZ deployment, load-balancer health checks, automated</a:t>
            </a:r>
          </a:p>
          <a:p>
            <a:r>
              <a:t>database backups/snapshots, and cross-Region snapshot/DR copy. Tie each to the target from two slides</a:t>
            </a:r>
          </a:p>
          <a:p>
            <a:r>
              <a:t>back.</a:t>
            </a:r>
          </a:p>
          <a:p>
            <a:r>
              <a:t>• Second bullet: express the design as a PARAMETERISED CloudFormation template — Region and environment</a:t>
            </a:r>
          </a:p>
          <a:p>
            <a:r>
              <a:t>as parameters — so the same design deploys repeatably, and to Melbourne for DR. One template, many</a:t>
            </a:r>
          </a:p>
          <a:p>
            <a:r>
              <a:t>deploys.</a:t>
            </a:r>
          </a:p>
          <a:p>
            <a:r>
              <a:t>• Third bullet: choose the feature that meets the goal at LEAST cost; each choice cites the goal it</a:t>
            </a:r>
          </a:p>
          <a:p>
            <a:r>
              <a:t>serves. Traceability from feature back to goal.</a:t>
            </a:r>
          </a:p>
          <a:p>
            <a:r>
              <a:t>Misconception to pre-empt: "parameterised = more complex." No — parameters are what stop you writing the</a:t>
            </a:r>
          </a:p>
          <a:p>
            <a:r>
              <a:t>design twice for two Regions; the DR copy IS the same template with a different Region parameter.</a:t>
            </a:r>
          </a:p>
          <a:p>
            <a:r>
              <a:t>Question to pose: "Why parameterise Region instead of hard-coding Sydney?" (the Melbourne DR copy is the</a:t>
            </a:r>
          </a:p>
          <a:p>
            <a:r>
              <a:t>same template, Region-swapped — repeatable, not rewritten).</a:t>
            </a:r>
          </a:p>
          <a:p>
            <a:r>
              <a:t>UoC/AT1 tie: ICTCLD504 KE 9 (features/techniques to improve reliability) → AT1 Solution Design + KE</a:t>
            </a:r>
          </a:p>
          <a:p>
            <a:r>
              <a:t>appendix; the parameterised template is the seam to the AT3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residency as an INPUT CONSTRAINT on the reliability/DR design — a scoped slice, not a second</a:t>
            </a:r>
          </a:p>
          <a:p>
            <a:r>
              <a:t>architecture. Keep it light; it's one constraint, not a whole new system.</a:t>
            </a:r>
          </a:p>
          <a:p>
            <a:r>
              <a:t>• First bullet: the constraint — CERT-In-mandated logs and Companies-Act books-of-account must reside in</a:t>
            </a:r>
          </a:p>
          <a:p>
            <a:r>
              <a:t>Mumbai (ap-south-1); the main system stays in Sydney.</a:t>
            </a:r>
          </a:p>
          <a:p>
            <a:r>
              <a:t>• Second bullet: the design keeps the regulated data IN-Region — residency is an input constraint the</a:t>
            </a:r>
          </a:p>
          <a:p>
            <a:r>
              <a:t>design is shaped around, not a bolt-on added at the end.</a:t>
            </a:r>
          </a:p>
          <a:p>
            <a:r>
              <a:t>• Third bullet: frame it as a scoped slice of the reliability/DR design (where the regulated data lives,</a:t>
            </a:r>
          </a:p>
          <a:p>
            <a:r>
              <a:t>and its DR), not a second architecture to design in full.</a:t>
            </a:r>
          </a:p>
          <a:p>
            <a:r>
              <a:t>Misconception to pre-empt: "residency means build a whole separate Indian system." No — it constrains</a:t>
            </a:r>
          </a:p>
          <a:p>
            <a:r>
              <a:t>WHERE specific regulated data (logs, books-of-account) sits; the rest of the design is unchanged.</a:t>
            </a:r>
          </a:p>
          <a:p>
            <a:r>
              <a:t>Question to pose: "Which data must stay in Mumbai, and which stays in Sydney — and how does that change</a:t>
            </a:r>
          </a:p>
          <a:p>
            <a:r>
              <a:t>the DR design?" (only the regulated slice is pinned to ap-south-1).</a:t>
            </a:r>
          </a:p>
          <a:p>
            <a:r>
              <a:t>UoC/AT1 tie: reinforces ICTCLD504 PC 2.3 (improve architecture jointly for security/reliability) — the</a:t>
            </a:r>
          </a:p>
          <a:p>
            <a:r>
              <a:t>residency constraint is part of the reliability/DR design in the AT1 Solution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1 practice; students design the reliability improvements for the practice</a:t>
            </a:r>
          </a:p>
          <a:p>
            <a:r>
              <a:t>vehicle, arguing one cost-benefit trade-off explicitly. The key teaching move: same REASONING, possibly</a:t>
            </a:r>
          </a:p>
          <a:p>
            <a:r>
              <a:t>the OPPOSITE call to Ledgerline.</a:t>
            </a:r>
          </a:p>
          <a:p>
            <a:r>
              <a:t>Tell students: "For the practice vehicle — the website — design the reliability improvements to your</a:t>
            </a:r>
          </a:p>
          <a:p>
            <a:r>
              <a:t>Topic-1 goals across the app, data and DR tiers. You decide what each tier needs — to the goals and no</a:t>
            </a:r>
          </a:p>
          <a:p>
            <a:r>
              <a:t>further — and you argue at least one cost-benefit trade-off out loud."</a:t>
            </a:r>
          </a:p>
          <a:p>
            <a:r>
              <a:t>Steps (put on the board):</a:t>
            </a:r>
          </a:p>
          <a:p>
            <a:r>
              <a:t>1. Design the app tier, the data tier and DR to your Topic-1 reliability goals.</a:t>
            </a:r>
          </a:p>
          <a:p>
            <a:r>
              <a:t>2. Pick ONE trade-off and argue it explicitly — cost vs the reliability it buys.</a:t>
            </a:r>
          </a:p>
          <a:p>
            <a:r>
              <a:t>3. Show how each change meets a NAMED goal.</a:t>
            </a:r>
          </a:p>
          <a:p>
            <a:r>
              <a:t>Must produce: a reliability design across the three tiers with one written cost-benefit argument, each</a:t>
            </a:r>
          </a:p>
          <a:p>
            <a:r>
              <a:t>change tied to a goal.</a:t>
            </a:r>
          </a:p>
          <a:p>
            <a:r>
              <a:t>Timing: ~30 min then discuss. Key point to surface: the website runs MySQL with NO legacy</a:t>
            </a:r>
          </a:p>
          <a:p>
            <a:r>
              <a:t>single-instance constraint, so the data-tier call (e.g. whether to go Multi-AZ) is theirs to justify —</a:t>
            </a:r>
          </a:p>
          <a:p>
            <a:r>
              <a:t>potentially the OPPOSITE decision to Ledgerline's, reached by the SAME cost-benefit reasoning. That's</a:t>
            </a:r>
          </a:p>
          <a:p>
            <a:r>
              <a:t>the learning, not a mistake.</a:t>
            </a:r>
          </a:p>
          <a:p>
            <a:r>
              <a:t>Where they get stuck: they copy Ledgerline's "reject Multi-AZ DB" verdict — remind them the constraint</a:t>
            </a:r>
          </a:p>
          <a:p>
            <a:r>
              <a:t>is different here, so re-run the reasoning, don't copy the answer.</a:t>
            </a:r>
          </a:p>
          <a:p>
            <a:r>
              <a:t>Share-back prompt: ask two students their data-tier call and WHY — expect different verdicts, same</a:t>
            </a:r>
          </a:p>
          <a:p>
            <a:r>
              <a:t>reasoning shape.</a:t>
            </a:r>
          </a:p>
          <a:p>
            <a:r>
              <a:t>No-leakage note: the website is the practice vehicle; AT1 assesses the reliability design on Ledgerline</a:t>
            </a:r>
          </a:p>
          <a:p>
            <a:r>
              <a:t>— comparable, not identical, and the DB constraint differs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— the design PRINCIPLES that justify the reliability choices already made. Teach them as</a:t>
            </a:r>
          </a:p>
          <a:p>
            <a:r>
              <a:t>the "why" behind Multi-AZ and health checks, not as new features.</a:t>
            </a:r>
          </a:p>
          <a:p>
            <a:r>
              <a:t>• First bullet: the principles (KE 4) — design for failure, loose coupling, statelessness, right-sizing,</a:t>
            </a:r>
          </a:p>
          <a:p>
            <a:r>
              <a:t>and automation over manual steps. Give a one-line example of each.</a:t>
            </a:r>
          </a:p>
          <a:p>
            <a:r>
              <a:t>• Second bullet: improve the architecture TO these principles — they are why Multi-AZ and health checks</a:t>
            </a:r>
          </a:p>
          <a:p>
            <a:r>
              <a:t>belong in the design. Principles explain the choices.</a:t>
            </a:r>
          </a:p>
          <a:p>
            <a:r>
              <a:t>• Third bullet: the simplest design that meets the goal wins; principles justify choices, they don't</a:t>
            </a:r>
          </a:p>
          <a:p>
            <a:r>
              <a:t>mandate maximums. Same anti-gold-plating rule.</a:t>
            </a:r>
          </a:p>
          <a:p>
            <a:r>
              <a:t>Misconception to pre-empt: "'design for failure' means add every redundancy." No — it means assume</a:t>
            </a:r>
          </a:p>
          <a:p>
            <a:r>
              <a:t>components WILL fail and design so the system copes at the level the goal needs; it's a mindset, not a</a:t>
            </a:r>
          </a:p>
          <a:p>
            <a:r>
              <a:t>maximum.</a:t>
            </a:r>
          </a:p>
          <a:p>
            <a:r>
              <a:t>Question to pose: "'Design for failure' — how does it justify the Multi-AZ app tier but NOT a Multi-AZ</a:t>
            </a:r>
          </a:p>
          <a:p>
            <a:r>
              <a:t>database here?" (cope with AZ failure at the app tier; the DB copes via backup/restore + DR at</a:t>
            </a:r>
          </a:p>
          <a:p>
            <a:r>
              <a:t>acceptable cost).</a:t>
            </a:r>
          </a:p>
          <a:p>
            <a:r>
              <a:t>UoC/AT1 tie: ICTCLD504 KE 4 (design principles for cloud applications) → AT1 Solution Design KE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MIGRATION principles — how you move the single-AZ baseline to the improved target without a</a:t>
            </a:r>
          </a:p>
          <a:p>
            <a:r>
              <a:t>big-bang cutover. Design-level here; the actual migration is AT3.</a:t>
            </a:r>
          </a:p>
          <a:p>
            <a:r>
              <a:t>• First bullet: the migration principles (KE 5) — move incrementally, keep the system serving, evidence</a:t>
            </a:r>
          </a:p>
          <a:p>
            <a:r>
              <a:t>each step, and be able to ROLL BACK. Say each as a rule.</a:t>
            </a:r>
          </a:p>
          <a:p>
            <a:r>
              <a:t>• Second bullet: sequence the improvement so single-AZ becomes Multi-AZ + DR without a big-bang cutover.</a:t>
            </a:r>
          </a:p>
          <a:p>
            <a:r>
              <a:t>It's a path, not a switch.</a:t>
            </a:r>
          </a:p>
          <a:p>
            <a:r>
              <a:t>• Third bullet: this is design-level HERE — the actual migration/build is AT3. Hold the depth ceiling.</a:t>
            </a:r>
          </a:p>
          <a:p>
            <a:r>
              <a:t>Misconception to pre-empt: "migration = turn off the old, turn on the new." No — you move incrementally</a:t>
            </a:r>
          </a:p>
          <a:p>
            <a:r>
              <a:t>and keep serving; the ability to roll back is a design requirement, not an afterthought.</a:t>
            </a:r>
          </a:p>
          <a:p>
            <a:r>
              <a:t>Question to pose: "Why sequence the migration instead of cutting over in one weekend?" (keep serving,</a:t>
            </a:r>
          </a:p>
          <a:p>
            <a:r>
              <a:t>evidence each step, roll back if a step fails — lower risk to a live accounting system).</a:t>
            </a:r>
          </a:p>
          <a:p>
            <a:r>
              <a:t>UoC/AT1 tie: ICTCLD504 KE 5 (migrating principles for cloud applications) → AT1 Solution Design KE</a:t>
            </a:r>
          </a:p>
          <a:p>
            <a:r>
              <a:t>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practice; students write the KE-appendix justification for their practice</a:t>
            </a:r>
          </a:p>
          <a:p>
            <a:r>
              <a:t>reliability design — naming the principle behind each choice.</a:t>
            </a:r>
          </a:p>
          <a:p>
            <a:r>
              <a:t>Tell students: "For your practice design, write the KE-appendix justification: for each reliability</a:t>
            </a:r>
          </a:p>
          <a:p>
            <a:r>
              <a:t>choice, name the cloud design principle behind it, and describe the migration approach that reaches the</a:t>
            </a:r>
          </a:p>
          <a:p>
            <a:r>
              <a:t>improved architecture."</a:t>
            </a:r>
          </a:p>
          <a:p>
            <a:r>
              <a:t>Steps (put on the board):</a:t>
            </a:r>
          </a:p>
          <a:p>
            <a:r>
              <a:t>1. List each reliability choice from your Section-1 practice design.</a:t>
            </a:r>
          </a:p>
          <a:p>
            <a:r>
              <a:t>2. Against each, name the design principle that justifies it (design for failure, loose coupling,</a:t>
            </a:r>
          </a:p>
          <a:p>
            <a:r>
              <a:t>right-sizing, automation…).</a:t>
            </a:r>
          </a:p>
          <a:p>
            <a:r>
              <a:t>3. Describe the migration approach — incremental, keep-serving, roll-back — that reaches the target.</a:t>
            </a:r>
          </a:p>
          <a:p>
            <a:r>
              <a:t>Must produce: a short KE-appendix passage linking each choice to a principle plus a migration approach.</a:t>
            </a:r>
          </a:p>
          <a:p>
            <a:r>
              <a:t>Timing: ~20 min then discuss. Where they get stuck: they restate the choice instead of naming the</a:t>
            </a:r>
          </a:p>
          <a:p>
            <a:r>
              <a:t>PRINCIPLE behind it — circulate and ask "which principle makes that the right move?"</a:t>
            </a:r>
          </a:p>
          <a:p>
            <a:r>
              <a:t>Share-back prompt: take one choice and ask the room which principle best justifies it.</a:t>
            </a:r>
          </a:p>
          <a:p>
            <a:r>
              <a:t>No-leakage note: the website is the practice vehicle; the AT1 KE appendix is written for Ledgerline —</a:t>
            </a:r>
          </a:p>
          <a:p>
            <a:r>
              <a:t>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— the security layers that keep the improved design secure. Short section; the message is that</a:t>
            </a:r>
          </a:p>
          <a:p>
            <a:r>
              <a:t>reliability changes must INHERIT security, never bypass it.</a:t>
            </a:r>
          </a:p>
          <a:p>
            <a:r>
              <a:t>• First bullet: the tools/uses of security layers (KE 8) — network isolation, security groups, IAM</a:t>
            </a:r>
          </a:p>
          <a:p>
            <a:r>
              <a:t>least-privilege, and encryption as the baseline. Name the layers.</a:t>
            </a:r>
          </a:p>
          <a:p>
            <a:r>
              <a:t>• Second bullet: encryption is assumed ON by default — at rest and in transit — INCLUDING the</a:t>
            </a:r>
          </a:p>
          <a:p>
            <a:r>
              <a:t>cross-Region DR copy and the residency data. Nothing regulated travels or rests unencrypted.</a:t>
            </a:r>
          </a:p>
          <a:p>
            <a:r>
              <a:t>• Third bullet: reliability changes must not weaken security — each new tier (Multi-AZ app, DR copy)</a:t>
            </a:r>
          </a:p>
          <a:p>
            <a:r>
              <a:t>inherits the security layers, not bypasses them.</a:t>
            </a:r>
          </a:p>
          <a:p>
            <a:r>
              <a:t>Misconception to pre-empt: "the DR copy is just a backup, so it's lower-security." No — a DR copy of</a:t>
            </a:r>
          </a:p>
          <a:p>
            <a:r>
              <a:t>regulated financial data carries the SAME encryption and access controls as the primary; a weaker copy</a:t>
            </a:r>
          </a:p>
          <a:p>
            <a:r>
              <a:t>is the breach.</a:t>
            </a:r>
          </a:p>
          <a:p>
            <a:r>
              <a:t>Question to pose: "You add a cross-Region DR copy — what security must travel with it?" (encryption in</a:t>
            </a:r>
          </a:p>
          <a:p>
            <a:r>
              <a:t>transit + at rest, IAM controls — the DR copy inherits the primary's security layers).</a:t>
            </a:r>
          </a:p>
          <a:p>
            <a:r>
              <a:t>UoC/AT1 tie: ICTCLD504 KE 8 (tools &amp; uses of security layers in cloud services) → AT1 Solution Design KE</a:t>
            </a:r>
          </a:p>
          <a:p>
            <a:r>
              <a:t>appendix; security is optimised jointly with reliability (PC 2.3).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Designing for reliability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reliability improvements to the goals — and know when NOT to build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Designing for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2 continues AT1: with the goals set in Topic 1, you now design the changes that make Ledgerline's infrastructure reliable.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Reliability, jointly with security, scalability and cost — improve the architecture without over-building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Target: application-tier Multi-AZ + database backup/restore + cross-Region DR to Melbourne (data stays in Australia).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Design only, to the goals — the build is AT3.</a:t>
            </a:r>
          </a:p>
        </p:txBody>
      </p:sp>
      <p:pic>
        <p:nvPicPr>
          <p:cNvPr id="5" name="Picture 4" descr="gen-4ef48d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Reliability improvement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improve reliability to the goal, not beyond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a cloud system reliable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 = the system keeps serving through component and zone failures, and recovers from loss.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Three building blocks: redundancy across Availability Zones (Multi-AZ), backup/restore, and cross-Region disaster recovery.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 is designed jointly with security, scalability and cost — each choice is a trade-off, not a maximum.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architecture, set the reliability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Ledgerline's single-AZ baseline against the reliability goals; name where a single failure takes the system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Target: the application tier goes Multi-AZ behind a load balancer; the database gets automated backup/restore; a cross-Region DR copy goes to Melbourne (Australian data stays onshore).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database is deliberately NOT Multi-AZ — the next slide argues why.</a:t>
            </a:r>
          </a:p>
        </p:txBody>
      </p:sp>
      <p:pic>
        <p:nvPicPr>
          <p:cNvPr id="5" name="Picture 4" descr="reliability-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centrepiece — reject the Multi-AZ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Ledgerline is a legacy accounting app, vendor-certified single-instance only — a Multi-AZ (failover) database is simply not available for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The only route to DB failover is to replace the accounting product: new licence, data migration, change management, and migration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That cost is disproportionate to the reliability gained — so the design REJECTS a Multi-AZ database and leaves the DB single-AZ with backup/restore + cross-Region DR. This cost-benefit call is the heart of the Topic.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200" b="0" i="0">
                <a:solidFill>
                  <a:srgbClr val="2A2929"/>
                </a:solidFill>
                <a:latin typeface="Roboto"/>
              </a:rPr>
              <a:t>Warn against the reflex: "reliable database = Multi-AZ database" is wrong here — justify against the goal and the cost, not against a checklist.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Database reliability — the options weighed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Option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Reliability gain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Cost / risk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Verdict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Single-AZ + backup/restore + cross-Region DR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recover from loss; DR to Melbourne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low — no product change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CHOSEN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Multi-AZ (failover) database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zero-downtime AZ failover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not available — vendor single-instance only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infeasible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Replace the accounting product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enables Multi-AZ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licence + data migration + change mgmt + risk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disproportionate — rejected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The chosen row is the AT1 cost-benefit centrepiece — the design must argue it, not just state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Cloud-service features that deliver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techniques the design leans on: Multi-AZ deployment, load-balancer health checks, automated database backups and snapshots, and cross-Region snapshot/DR copy (KE 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Express the design as a parameterised CloudFormation template — Region and environment as parameters — so the same design deploys repeatably (and to Melbourne for DR).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Choose the feature that meets the goal at least cost; each choice cites the goal it serves.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India residency slice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light residency constraint: CERT-In-mandated logs and Companies-Act books-of-account must reside in Mumbai (ap-south-1); the main system stays in Sydney.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Design keeps the regulated data in-Region — the residency requirement is an input constraint on the design, not a bolt-on.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Note it as a scoped slice of the reliability/DR design, not a second architecture.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reliability 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vehicle (the website), design the reliability improvements to the Topic-1 goals across the app, data and DR tiers — you decide what each tier needs, to the goals and no further.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Argue ONE cost-benefit trade-off explicitly and show how each change meets a named goal. NB the website runs MySQL with no legacy single-instance constraint, so the data-tier call (e.g. whether to go Multi-AZ) is yours to justify — potentially the OPPOSITE call to Ledgerline's, reached by the same cost-benefit reasoning.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Cloud design &amp; migration principles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principles under the improvement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Cloud design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Design for failure, loose coupling, statelessness, right-sizing, and automation over manual steps (KE 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Improve the architecture to these principles — they are why Multi-AZ and health checks belong in the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Simplest design that meets the goal wins; principles justify choices, they don't mandate maximums.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Migrating the baseline to the improved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Migration principles: move incrementally, keep the system serving, evidence each step, and be able to roll back (KE 5).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Sequence the improvement so the single-AZ baseline becomes the Multi-AZ + DR target without a big-bang cutover.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design-level here — the actual migration/build is AT3.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Justify the design in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your practice design, write the KE-appendix justification: name the cloud design principle behind each reliability choice and the migration approach that reaches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Security layers underpinning the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improvement stays secure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Security layers that keep the design secure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tools and uses of security layers in cloud services: network isolation, security groups, IAM least-privilege, and encryption as the baseline (KE 8).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Encryption is assumed on by default (at rest and in transit) — including the cross-Region DR copy and the residency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 changes must not weaken security — each new tier (Multi-AZ app, DR copy) inherits the security layers, not bypasses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Topic 2 · Key takeaways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Reliability = Multi-AZ app tier + DB backup/restore + cross-Region DR to Melbourne (data onshore).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centrepiece: reject a Multi-AZ database — the DB is single-AZ by a cost-benefit call, argued explicitly.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Justify every reliability choice against a goal and against cost; don't over-engineer.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Cloud design/migration principles and encryption-baseline security layers underpin the whole improvement.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3 — designing for scalability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designed the reliability half of the Solution Design; next you design the scalability half and the four resource components.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this design — scalability builds on the same reviewed architecture.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