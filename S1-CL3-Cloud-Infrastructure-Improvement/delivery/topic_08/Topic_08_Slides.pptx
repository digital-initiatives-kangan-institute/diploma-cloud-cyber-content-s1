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Topic 8 as the CLOSE of AT3 and the cluster — Topic 7 built and tested; Topic 8 writes it up and</a:t>
            </a:r>
          </a:p>
          <a:p>
            <a:r>
              <a:t>signs it off. No new build.</a:t>
            </a:r>
          </a:p>
          <a:p>
            <a:r>
              <a:t>• First bullet: Topic 7 deployed, monitored and tested the improvement; Topic 8 writes it up and closes</a:t>
            </a:r>
          </a:p>
          <a:p>
            <a:r>
              <a:t>the cluster.</a:t>
            </a:r>
          </a:p>
          <a:p>
            <a:r>
              <a:t>• Second bullet: three moves — document the AS-DEPLOYED system against the approved design, describe</a:t>
            </a:r>
          </a:p>
          <a:p>
            <a:r>
              <a:t>the LONG-TERM improvement strategy, and obtain the FINAL SIGN-OFF. Those three are C1, C2, C3.</a:t>
            </a:r>
          </a:p>
          <a:p>
            <a:r>
              <a:t>• Third bullet: the deliverable is the DEPLOYMENT REPORT — the whole system across all four concerns:</a:t>
            </a:r>
          </a:p>
          <a:p>
            <a:r>
              <a:t>security, reliability, scalability, cost.</a:t>
            </a:r>
          </a:p>
          <a:p>
            <a:r>
              <a:t>• Fourth bullet: NO new build — the report is assembled from what you captured LIVE during the Topic 7</a:t>
            </a:r>
          </a:p>
          <a:p>
            <a:r>
              <a:t>deploy and test. That's why live capture mattered.</a:t>
            </a:r>
          </a:p>
          <a:p>
            <a:r>
              <a:t>Misconception to pre-empt: "documentation is where I finally build the missing bits." No — nothing new</a:t>
            </a:r>
          </a:p>
          <a:p>
            <a:r>
              <a:t>is built here; if evidence wasn't captured in Topic 7 you can't manufacture it now. The report assembles</a:t>
            </a:r>
          </a:p>
          <a:p>
            <a:r>
              <a:t>what exists.</a:t>
            </a:r>
          </a:p>
          <a:p>
            <a:r>
              <a:t>Question to pose: "If you didn't screenshot the SPOF test in Topic 7, can you put it in the report now?"</a:t>
            </a:r>
          </a:p>
          <a:p>
            <a:r>
              <a:t>(no — capture was live; reinforces why Topic 7 discipline mattered).</a:t>
            </a:r>
          </a:p>
          <a:p>
            <a:r>
              <a:t>UoC/AT3 tie: opens the AT3 finalisation arc — ICTCLD504 el 4; everything today produces the as-deployed</a:t>
            </a:r>
          </a:p>
          <a:p>
            <a:r>
              <a:t>report, long-term strategy and sign-off evidenced in AT3.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1 — teach what an AS-DEPLOYED record is and what the Deployment Report assembles. PC 4.1</a:t>
            </a:r>
          </a:p>
          <a:p>
            <a:r>
              <a:t>and PE 5 land across C1.</a:t>
            </a:r>
          </a:p>
          <a:p>
            <a:r>
              <a:t>• First bullet: an as-deployed record documents the system AS IT WAS ACTUALLY DEPLOYED — not the</a:t>
            </a:r>
          </a:p>
          <a:p>
            <a:r>
              <a:t>design on paper, the resources actually running. The distinction is the whole idea.</a:t>
            </a:r>
          </a:p>
          <a:p>
            <a:r>
              <a:t>• Second bullet: the Deployment Report assembles it — the as-deployed architecture, the test results,</a:t>
            </a:r>
          </a:p>
          <a:p>
            <a:r>
              <a:t>the changes from the approved design, and the deployment/testing steps. Name the four parts.</a:t>
            </a:r>
          </a:p>
          <a:p>
            <a:r>
              <a:t>• Third bullet: it's COMPLETE and READABLE by someone who wasn't in the room — a reviewer can follow it</a:t>
            </a:r>
          </a:p>
          <a:p>
            <a:r>
              <a:t>end to end. Write for the absent reader.</a:t>
            </a:r>
          </a:p>
          <a:p>
            <a:r>
              <a:t>Misconception to pre-empt: "as-deployed = the approved design document." No — the point is documenting</a:t>
            </a:r>
          </a:p>
          <a:p>
            <a:r>
              <a:t>what ACTUALLY ran (which differs from the design, e.g. DB-tier DR at design level only); copying the</a:t>
            </a:r>
          </a:p>
          <a:p>
            <a:r>
              <a:t>design defeats it.</a:t>
            </a:r>
          </a:p>
          <a:p>
            <a:r>
              <a:t>Question to pose: "Name one thing that will differ between the approved design and the as-deployed</a:t>
            </a:r>
          </a:p>
          <a:p>
            <a:r>
              <a:t>record on this build" (draws out the DB-tier DR / us-east-1 substitution).</a:t>
            </a:r>
          </a:p>
          <a:p>
            <a:r>
              <a:t>UoC/AT3 tie: ICTCLD504 PC 4.1 + PE 5 → the as-deployed record and step documentation evidenced in AT3.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of C1 — the report must HIGHLIGHT where reality differed from the approved design. PC 4.1</a:t>
            </a:r>
          </a:p>
          <a:p>
            <a:r>
              <a:t>lands here.</a:t>
            </a:r>
          </a:p>
          <a:p>
            <a:r>
              <a:t>• First bullet: document the as-deployed architecture and test results, and HIGHLIGHT the changes and</a:t>
            </a:r>
          </a:p>
          <a:p>
            <a:r>
              <a:t>improvements from the approved design (PC 4.1). Highlighting the deltas is the assessed act.</a:t>
            </a:r>
          </a:p>
          <a:p>
            <a:r>
              <a:t>• Second bullet: every difference is NAMED and JUSTIFIED — e.g. DB-tier DR stayed at design level</a:t>
            </a:r>
          </a:p>
          <a:p>
            <a:r>
              <a:t>because the lab couldn't modify the database; app-tier Multi-AZ was built and evidenced. Difference +</a:t>
            </a:r>
          </a:p>
          <a:p>
            <a:r>
              <a:t>reason, every time.</a:t>
            </a:r>
          </a:p>
          <a:p>
            <a:r>
              <a:t>• Third bullet: test results cover ALL FOUR concerns — security, reliability, scalability, cost — each</a:t>
            </a:r>
          </a:p>
          <a:p>
            <a:r>
              <a:t>against the goals set in Topic 1. Close the loop back to the AT1 goals.</a:t>
            </a:r>
          </a:p>
          <a:p>
            <a:r>
              <a:t>Misconception to pre-empt: "a difference from the design is a failure to hide." No — a named, justified</a:t>
            </a:r>
          </a:p>
          <a:p>
            <a:r>
              <a:t>difference is good engineering documentation; the unnamed difference is the problem. Surface them.</a:t>
            </a:r>
          </a:p>
          <a:p>
            <a:r>
              <a:t>Question to pose: "The DB-tier DR is design-level, not deployed — how do you write that up so it reads</a:t>
            </a:r>
          </a:p>
          <a:p>
            <a:r>
              <a:t>as a justified decision, not a gap?" (rehearses name + justify).</a:t>
            </a:r>
          </a:p>
          <a:p>
            <a:r>
              <a:t>UoC/AT3 tie: ICTCLD504 PC 4.1 → the as-deployed-vs-design section of the AT3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step-documentation slide — PE 5 lands here. Teach it as a repeatable record.</a:t>
            </a:r>
          </a:p>
          <a:p>
            <a:r>
              <a:t>• First bullet: create the documentation of the DEPLOYMENT AND TESTING STEPS (PE 5) — the step-by-step</a:t>
            </a:r>
          </a:p>
          <a:p>
            <a:r>
              <a:t>record of how the improvement was deployed and tested.</a:t>
            </a:r>
          </a:p>
          <a:p>
            <a:r>
              <a:t>• Second bullet: written so a reader could REPEAT it — the stacks/changes applied, in order, and each</a:t>
            </a:r>
          </a:p>
          <a:p>
            <a:r>
              <a:t>test run with its outcome. Repeatability is the standard.</a:t>
            </a:r>
          </a:p>
          <a:p>
            <a:r>
              <a:t>• Third bullet: assembled from the SCREENSHOTS, EXPORTS and LOGS captured as you went in Topic 7 — you</a:t>
            </a:r>
          </a:p>
          <a:p>
            <a:r>
              <a:t>can't reconstruct it after the fact. Live capture again.</a:t>
            </a:r>
          </a:p>
          <a:p>
            <a:r>
              <a:t>Misconception to pre-empt: "step documentation is a vague summary." No — the bar is 'a reader could</a:t>
            </a:r>
          </a:p>
          <a:p>
            <a:r>
              <a:t>repeat it'; a summary that skips the order or the outcomes fails PE 5.</a:t>
            </a:r>
          </a:p>
          <a:p>
            <a:r>
              <a:t>Question to pose: "Hand your step doc to someone who wasn't here — could they redeploy and re-test from</a:t>
            </a:r>
          </a:p>
          <a:p>
            <a:r>
              <a:t>it alone? What's missing if not?" (tests the repeatability bar).</a:t>
            </a:r>
          </a:p>
          <a:p>
            <a:r>
              <a:t>UoC/AT3 tie: ICTCLD504 PE 5 → the deployment/testing-steps documentation evidenced in AT3.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— LONG-TERM strategy, described (not built). PC 4.2 lands here; contrast with Topic 7's</a:t>
            </a:r>
          </a:p>
          <a:p>
            <a:r>
              <a:t>short-term refinements.</a:t>
            </a:r>
          </a:p>
          <a:p>
            <a:r>
              <a:t>• First bullet: describe long-term improvement strategies and their benefits AS APPLIED TO the deployed</a:t>
            </a:r>
          </a:p>
          <a:p>
            <a:r>
              <a:t>resources (PC 4.2) — what a next iteration would improve and the BENEFIT it buys. Description + benefit,</a:t>
            </a:r>
          </a:p>
          <a:p>
            <a:r>
              <a:t>tied to the actual deploy.</a:t>
            </a:r>
          </a:p>
          <a:p>
            <a:r>
              <a:t>• Second bullet (the headline): this is where DB-TIER DR lives — built at design level here, it's the</a:t>
            </a:r>
          </a:p>
          <a:p>
            <a:r>
              <a:t>headline long-term strategy: cross-Region database resilience and the availability benefit it delivers.</a:t>
            </a:r>
          </a:p>
          <a:p>
            <a:r>
              <a:t>• Third bullet: include other future improvements across the four concerns — tighter cost controls,</a:t>
            </a:r>
          </a:p>
          <a:p>
            <a:r>
              <a:t>further scalability headroom, security hardening — each tied to a BENEFIT, not a wish-list.</a:t>
            </a:r>
          </a:p>
          <a:p>
            <a:r>
              <a:t>Misconception to pre-empt: "long-term strategy is the same as the short-term refinements." No —</a:t>
            </a:r>
          </a:p>
          <a:p>
            <a:r>
              <a:t>short-term was APPLIED now on the running stack (Topic 7, PC 3.4); long-term is DESCRIBED for a future</a:t>
            </a:r>
          </a:p>
          <a:p>
            <a:r>
              <a:t>iteration (PC 4.2). Different verb, different topic.</a:t>
            </a:r>
          </a:p>
          <a:p>
            <a:r>
              <a:t>Question to pose: "DB-tier DR couldn't be deployed in the lab — why does that make it the perfect</a:t>
            </a:r>
          </a:p>
          <a:p>
            <a:r>
              <a:t>LONG-TERM strategy item, and what benefit do you cite?" (ties the constraint to the long-term narrative).</a:t>
            </a:r>
          </a:p>
          <a:p>
            <a:r>
              <a:t>UoC/AT3 tie: ICTCLD504 PC 4.2 → the long-term-strategy section of the AT3 report; DB-tier DR is the</a:t>
            </a:r>
          </a:p>
          <a:p>
            <a:r>
              <a:t>headline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the FINAL SIGN-OFF, the formal acceptance that closes the cluster. PC 4.3 lands here.</a:t>
            </a:r>
          </a:p>
          <a:p>
            <a:r>
              <a:t>• First bullet: obtain final sign-off from the REQUIRED PERSONNEL (PC 4.3) — the formal acceptance of</a:t>
            </a:r>
          </a:p>
          <a:p>
            <a:r>
              <a:t>the deployed and tested improvement.</a:t>
            </a:r>
          </a:p>
          <a:p>
            <a:r>
              <a:t>• Second bullet: WALK the Deployment Report — the as-deployed system, the test results against the</a:t>
            </a:r>
          </a:p>
          <a:p>
            <a:r>
              <a:t>goals, and the long-term strategy — confirm requirements met FOR THE AUDIENCE, not in jargon.</a:t>
            </a:r>
          </a:p>
          <a:p>
            <a:r>
              <a:t>• Third bullet: RECORD it — who approved, on what, when — as the closing section of the report. An</a:t>
            </a:r>
          </a:p>
          <a:p>
            <a:r>
              <a:t>unrecorded sign-off isn't evidence.</a:t>
            </a:r>
          </a:p>
          <a:p>
            <a:r>
              <a:t>Misconception to pre-empt: "sign-off is a rubber stamp at the end." No — you have to demonstrate the</a:t>
            </a:r>
          </a:p>
          <a:p>
            <a:r>
              <a:t>goals were met, in the audience's language; the approver accepts on evidence, not assertion.</a:t>
            </a:r>
          </a:p>
          <a:p>
            <a:r>
              <a:t>Question to pose: "You're presenting to the YAT sponsor, not an engineer — how do you show 'reliability</a:t>
            </a:r>
          </a:p>
          <a:p>
            <a:r>
              <a:t>improved' without the jargon?" (draws out audience-appropriate demonstration).</a:t>
            </a:r>
          </a:p>
          <a:p>
            <a:r>
              <a:t>UoC/AT3 tie: ICTCLD504 PC 4.3 (obtain final sign-off from required personnel) → the sign-off record in</a:t>
            </a:r>
          </a:p>
          <a:p>
            <a:r>
              <a:t>the AT3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clarifier slide — students conflate the cluster's TWO approval moments. Teach the distinction</a:t>
            </a:r>
          </a:p>
          <a:p>
            <a:r>
              <a:t>explicitly.</a:t>
            </a:r>
          </a:p>
          <a:p>
            <a:r>
              <a:t>• First bullet: this is the cluster's SECOND approval — the final sign-off at AT3, on the DEPLOYED and</a:t>
            </a:r>
          </a:p>
          <a:p>
            <a:r>
              <a:t>TESTED improvement.</a:t>
            </a:r>
          </a:p>
          <a:p>
            <a:r>
              <a:t>• Second bullet: the FIRST was the AT1 deploy sign-off — the approval to PROCEED to deployment, on the</a:t>
            </a:r>
          </a:p>
          <a:p>
            <a:r>
              <a:t>DESIGN (Topic 4). Different object, different moment.</a:t>
            </a:r>
          </a:p>
          <a:p>
            <a:r>
              <a:t>• Third bullet: the first gate AUTHORISED the build; this gate ACCEPTS the result and closes the</a:t>
            </a:r>
          </a:p>
          <a:p>
            <a:r>
              <a:t>cluster. Authorise vs accept — the two verbs.</a:t>
            </a:r>
          </a:p>
          <a:p>
            <a:r>
              <a:t>Misconception to pre-empt: "there's one sign-off at the end." No — there are two: AT1 approved the</a:t>
            </a:r>
          </a:p>
          <a:p>
            <a:r>
              <a:t>design to proceed; AT3 accepts the deployed result. Naming which one you're doing is the assessable</a:t>
            </a:r>
          </a:p>
          <a:p>
            <a:r>
              <a:t>clarity.</a:t>
            </a:r>
          </a:p>
          <a:p>
            <a:r>
              <a:t>Question to pose: "Which sign-off approved a DESIGN, and which accepts a RUNNING SYSTEM — and what's the</a:t>
            </a:r>
          </a:p>
          <a:p>
            <a:r>
              <a:t>object of each?" (forces the authorise-vs-accept distinction).</a:t>
            </a:r>
          </a:p>
          <a:p>
            <a:r>
              <a:t>UoC/AT3 tie: ICTCLD504 PC 4.3 → the final (second) sign-off in AT3; distinct from the AT1 deploy</a:t>
            </a:r>
          </a:p>
          <a:p>
            <a:r>
              <a:t>sign-off (Topic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Topic 8 practice; students write the as-deployed report section AND rehearse the</a:t>
            </a:r>
          </a:p>
          <a:p>
            <a:r>
              <a:t>sign-off conversation for the PRACTICE engagement (the website vehicle).</a:t>
            </a:r>
          </a:p>
          <a:p>
            <a:r>
              <a:t>Tell students, in these words: "For the practice engagement, write the as-deployed / test-results</a:t>
            </a:r>
          </a:p>
          <a:p>
            <a:r>
              <a:t>section of the Deployment Report — highlight the changes from the approved design. Then rehearse the</a:t>
            </a:r>
          </a:p>
          <a:p>
            <a:r>
              <a:t>final sign-off conversation to a mock panel: walk the report, confirm the goals met, and obtain</a:t>
            </a:r>
          </a:p>
          <a:p>
            <a:r>
              <a:t>acceptance."</a:t>
            </a:r>
          </a:p>
          <a:p>
            <a:r>
              <a:t>Steps (put on the board):</a:t>
            </a:r>
          </a:p>
          <a:p>
            <a:r>
              <a:t>1. Write the as-deployed architecture + test results section; highlight and justify each change from</a:t>
            </a:r>
          </a:p>
          <a:p>
            <a:r>
              <a:t>the approved design.</a:t>
            </a:r>
          </a:p>
          <a:p>
            <a:r>
              <a:t>2. Prepare to present it to a non-technical panel — goals met, in plain language.</a:t>
            </a:r>
          </a:p>
          <a:p>
            <a:r>
              <a:t>3. Rehearse the sign-off conversation; obtain (mock) acceptance and record who/what/when.</a:t>
            </a:r>
          </a:p>
          <a:p>
            <a:r>
              <a:t>Must produce: an as-deployed / test-results report section (changes highlighted) plus a rehearsed</a:t>
            </a:r>
          </a:p>
          <a:p>
            <a:r>
              <a:t>sign-off with a recorded acceptance — the practice run of the AT3 finalisation.</a:t>
            </a:r>
          </a:p>
          <a:p>
            <a:r>
              <a:t>Timing: ~30 min. Where they get stuck: the report reads as the approved DESIGN rather than what was</a:t>
            </a:r>
          </a:p>
          <a:p>
            <a:r>
              <a:t>actually deployed — push "what actually ran, and where did it differ?"; and in the sign-off they slip</a:t>
            </a:r>
          </a:p>
          <a:p>
            <a:r>
              <a:t>into jargon — make them confirm goals for the AUDIENCE.</a:t>
            </a:r>
          </a:p>
          <a:p>
            <a:r>
              <a:t>Share-back prompt: pick one pair, have them run 60 seconds of the sign-off; ask the room whether the</a:t>
            </a:r>
          </a:p>
          <a:p>
            <a:r>
              <a:t>goals were shown met in plain language.</a:t>
            </a:r>
          </a:p>
          <a:p>
            <a:r>
              <a:t>No-leakage note: the website is the PRACTICE vehicle — AT3 assesses the same finalisation on the</a:t>
            </a:r>
          </a:p>
          <a:p>
            <a:r>
              <a:t>Ledgerline implementation (comparable, not identical); keep them on the practice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08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Testing, refining and documenting the whole system; final sign-off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Document the as-deployed system against the approved design, describe the long-term strategy, and obtain the final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Closing AT3 — document, refine, sign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 7 deployed, monitored and tested the improvement; Topic 8 writes it up and closes the cluster.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Three moves: document the as-deployed system against the approved design, describe the long-term improvement strategy, and obtain the final sign-off.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deliverable is the Deployment Report — the whole system across all four concerns: security, reliability, scalability, cost.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No new build — the report is assembled from what you captured live during the Topic 7 deploy and test.</a:t>
            </a:r>
          </a:p>
        </p:txBody>
      </p:sp>
      <p:pic>
        <p:nvPicPr>
          <p:cNvPr id="5" name="Picture 4" descr="gen-73246a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Document as-deployed + test results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record what you actually deployed, and prove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as-deployed record &amp; the Deployment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as-deployed record documents the system as it was actually deployed — not the design on paper, the resources actually running.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Deployment Report assembles it: the as-deployed architecture, the test results, the changes from the approved design, and the deployment/testing steps.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complete and readable by someone who wasn't in the room — a reviewer can follow it end to 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As-deployed vs the approved design — highlight the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Document the as-deployed architecture and test results, and highlight the changes and improvements from the approved design (PC 4.1).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difference is named and justified — e.g. the DB-tier DR stayed at design level because the lab couldn't modify the database; the app-tier Multi-AZ was built and evidenced.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Test results cover all four concerns — security, reliability, scalability, cost — each against the goals set in Topic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Document the deployment &amp; testing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Create the documentation of the deployment and testing steps (PE 5) — the step-by-step record of how the improvement was deployed and tested.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Written so a reader could repeat it: the stacks/changes applied, in order, and each test run with its outcome.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Assembled from the screenshots, exports and logs you captured as you went in Topic 7 — you can't reconstruct it after the fact.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Deployment Report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Section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What it contains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As-deployed architecture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system as actually deployed to us-east-1 — diagrams and resource inventory across all four concerns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Changes from approved design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Where the as-deployed differs from the approved design, and why (e.g. DB-tier DR left at design level)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Test results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tests run against the deployment and their outcomes — security, reliability, scalability, cost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Deployment &amp; testing steps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step-by-step record of how it was deployed and tested (PE 5) — repeatable by a reader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Long-term improvement strategy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next-iteration improvements and their benefits (C2)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Final sign-off record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approval accepting the deployed system — who, on what, when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The four concerns run across the as-deployed record and test results; the sign-off record closes the document.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Long-term improvement strategies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the next iteration would improve,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Describe the long-term improvement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Describe long-term improvement strategies and their benefits as applied to the deployed resources (PC 4.2) — what a next iteration would improve and the benefit it buys.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where the DB-tier DR lives: built at design level here, it is the headline long-term strategy — cross-Region database resilience and the availability benefit it delivers.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Include other future improvements across the four concerns — tighter cost controls, further scalability headroom, security hardening — each tied to a benefit, not a wish-list.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Final sign-off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get the deployed system accepted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Obtain the final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Obtain final sign-off from the required personnel (PC 4.3) — the formal acceptance of the deployed and tested improvement.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Walk the Deployment Report: the as-deployed system, the test results against the goals, and the long-term strategy — confirm requirements met for the audience, not in jargon.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it — who approved, on what, when — as the closing section of the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Two approval moments — don't confuse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cluster's second approval: the final sign-off at AT3, on the deployed and tested improvement.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first was the AT1 deploy sign-off — the approval to proceed to deployment, on the design (Topic 4).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first gate authorised the build; this gate accepts the result and closes the cluster.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report section &amp; rehearse the final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the practice engagement (the website vehicle), write the as-deployed / test-results section of the Deployment Report — highlight the changes from the approved design.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Rehearse the final sign-off conversation to a mock panel: walk the report, confirm the goals met, and obtain acceptance.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Produce it before finalising the assessed Ledgerline report — this is the practice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Topic 8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Document the as-deployed architecture and test results, highlighting the changes and improvements from the approved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Create the deployment and testing step documentation from your live-captured evidence — repeatable by a reader.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Describe the long-term improvement strategy and its benefits — the DB-tier DR and other next-iteration improvements.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Obtain and record the final sign-off — the AT3 gate that accepts the deployed system, distinct from the AT1 deploy sign-off.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Cluster complete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AT3 is documented, refined and signed off — the deployed improvement is accepted against the approved design.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analysed the baseline (AT1), designed and got the design approved (AT1), led the build (AT2), deployed and tested it (AT3), and closed it with the final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