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 i="0">
                <a:solidFill>
                  <a:srgbClr val="FBB900"/>
                </a:solidFill>
                <a:latin typeface="Roboto"/>
              </a:rPr>
              <a:t>TOPIC 03</a:t>
            </a:r>
          </a:p>
          <a:p>
            <a:pPr>
              <a:spcBef>
                <a:spcPts val="800"/>
              </a:spcBef>
            </a:pPr>
            <a:r>
              <a:rPr sz="4600" b="1" i="0">
                <a:solidFill>
                  <a:srgbClr val="FFFFFF"/>
                </a:solidFill>
                <a:latin typeface="Roboto"/>
              </a:rPr>
              <a:t>Building the evidence</a:t>
            </a:r>
          </a:p>
          <a:p>
            <a:pPr>
              <a:spcBef>
                <a:spcPts val="1200"/>
              </a:spcBef>
            </a:pPr>
            <a:r>
              <a:rPr sz="2200" b="0" i="1">
                <a:solidFill>
                  <a:srgbClr val="D1D1D1"/>
                </a:solidFill>
                <a:latin typeface="Roboto Light"/>
              </a:rPr>
              <a:t>Options, cost and risk — the case a board can act 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Roboto"/>
              </a:rPr>
              <a:t>Kangan </a:t>
            </a:r>
            <a:r>
              <a:rPr sz="1600" b="1" i="0">
                <a:solidFill>
                  <a:srgbClr val="EDAB0C"/>
                </a:solidFill>
                <a:latin typeface="Roboto"/>
              </a:rPr>
              <a:t>Institute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From diagnosis to evidence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you've proved the problem — now build the answer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board doesn't fund a problem — it funds a well-evidenced answer.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2400" b="1" i="0">
                <a:solidFill>
                  <a:srgbClr val="92268F"/>
                </a:solidFill>
                <a:latin typeface="Roboto"/>
              </a:rPr>
              <a:t>Three moves: lay out the options → cost them over time → weigh the risks.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These become the next sections of the same business case.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You still don't recommend yet — you assemble the evidence a recommendation rests 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92268F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Options &amp; evaluation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compare before you choose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You don't recommend until you've compared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single proposal isn't a case — it's an assertion.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Credible advice compares realistic options on a level field.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2400" b="1" i="0">
                <a:solidFill>
                  <a:srgbClr val="92268F"/>
                </a:solidFill>
                <a:latin typeface="Roboto"/>
              </a:rPr>
              <a:t>Your job here: lay the options out and evaluate them — not pick one.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Define the workload first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options are judged against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Before comparing options, state what any option must satisfy — from your gap analysis + the migration requirements: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1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2100" b="0" i="0">
                <a:solidFill>
                  <a:srgbClr val="2A2929"/>
                </a:solidFill>
                <a:latin typeface="Roboto"/>
              </a:rPr>
              <a:t>capacity &amp; peaks · availability target · recovery (RPO/RTO)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1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2100" b="0" i="0">
                <a:solidFill>
                  <a:srgbClr val="2A2929"/>
                </a:solidFill>
                <a:latin typeface="Roboto"/>
              </a:rPr>
              <a:t>data residency &amp; retention · integrations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2400" b="1" i="0">
                <a:solidFill>
                  <a:srgbClr val="92268F"/>
                </a:solidFill>
                <a:latin typeface="Roboto"/>
              </a:rPr>
              <a:t>Write it down first — it's the yardstick every option is measured against.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Identify the realistic options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Keep the option set honest and small: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1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2100" b="0" i="0">
                <a:solidFill>
                  <a:srgbClr val="2A2929"/>
                </a:solidFill>
                <a:latin typeface="Roboto"/>
              </a:rPr>
              <a:t>Option A — renew / stay on-prem (the status-quo baseline)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1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2100" b="0" i="0">
                <a:solidFill>
                  <a:srgbClr val="2A2929"/>
                </a:solidFill>
                <a:latin typeface="Roboto"/>
              </a:rPr>
              <a:t>Option B — migrate to the cloud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Name a third only if it's genuinely real.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2400" b="1" i="0">
                <a:solidFill>
                  <a:srgbClr val="92268F"/>
                </a:solidFill>
                <a:latin typeface="Roboto"/>
              </a:rPr>
              <a:t>Every comparison needs the status-quo option — or “moving” has nothing to beat.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Choosing an evaluation method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criteria, not gut feel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Evaluate each option on two stated lenses: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1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2100" b="0" i="0">
                <a:solidFill>
                  <a:srgbClr val="2A2929"/>
                </a:solidFill>
                <a:latin typeface="Roboto"/>
              </a:rPr>
              <a:t>Impact against the strategic objectives — does it move the org toward its goals?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1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2100" b="0" i="0">
                <a:solidFill>
                  <a:srgbClr val="2A2929"/>
                </a:solidFill>
                <a:latin typeface="Roboto"/>
              </a:rPr>
              <a:t>Difficulty of implementing — effort, disruption, skills, dependencies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Score each option on each lens and show your reasoning. (Cost comes next.)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Impact &amp; difficulty — a first read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simple matrix communicates it: each option × {impact, difficulty}.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High impact + low difficulty = strong candidate.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High impact + high difficulty = real, but plan for it.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2400" b="1" i="0">
                <a:solidFill>
                  <a:srgbClr val="92268F"/>
                </a:solidFill>
                <a:latin typeface="Roboto"/>
              </a:rPr>
              <a:t>This is the qualitative shortlist — the CBA and risk sections test it next.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Define the options &amp; evaluate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A2929"/>
                </a:solidFill>
                <a:latin typeface="Roboto"/>
              </a:rPr>
              <a:t>In your working copy of the Business Case, add the Options Considered and Evaluation section for the Accounting System (Ledgerline).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Remember to: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State the workload/requirements an option must satisfy (from your gap table + migration reqs).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Lay out Option A (renew on-prem) and Option B (migrate to cloud).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Pick an evaluation method; assess each option's impact (vs objectives) and difficulty.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~½–1 page.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1700" b="0" i="0">
                <a:solidFill>
                  <a:srgbClr val="92268F"/>
                </a:solidFill>
                <a:latin typeface="Roboto"/>
              </a:rPr>
              <a:t>⚠  Evaluate, don't decide — the recommendation comes later.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~20 min, then we discuss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92268F"/>
                </a:solidFill>
                <a:latin typeface="Roboto"/>
              </a:rPr>
              <a:t>Section 1 · Options &amp; evaluation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Compare realistic options on a level field — always include the status-quo.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Define the workload/requirements first; options are judged against it.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Evaluate on stated criteria: impact vs objectives + implementation difficulty.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This is evaluation, not the decision.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7B5CE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Cost-Benefit Analysis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put a number on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Put a number on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CBA compares the options in money, over time — here, 5 years.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It turns “cloud feels cheaper” into evidence — or disproves it.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2400" b="1" i="0">
                <a:solidFill>
                  <a:srgbClr val="27B5CE"/>
                </a:solidFill>
                <a:latin typeface="Roboto"/>
              </a:rPr>
              <a:t>The board decides on total cost + benefit, not a monthly price.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What a good CBA contains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becomes §7 + Appendix 1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Assumptions → per-option 5-year costs → benefits (incl. avoided downtime) → comparison → sensitivity.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Compare like-for-like over the same horizon.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2400" b="1" i="0">
                <a:solidFill>
                  <a:srgbClr val="27B5CE"/>
                </a:solidFill>
                <a:latin typeface="Roboto"/>
              </a:rPr>
              <a:t>State every assumption — an unstated assumption is a hole in the case.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Detailed line items go in Appendix 1; the section shows the summary.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Costing the on-prem option (Option A)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Option A = renew / keep on-prem. Cost it from the operational-costing facts: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1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2100" b="0" i="0">
                <a:solidFill>
                  <a:srgbClr val="2A2929"/>
                </a:solidFill>
                <a:latin typeface="Roboto"/>
              </a:rPr>
              <a:t>capex (server refresh) + opex (power, maintenance, licences, admin time), over 5 years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2400" b="1" i="0">
                <a:solidFill>
                  <a:srgbClr val="27B5CE"/>
                </a:solidFill>
                <a:latin typeface="Roboto"/>
              </a:rPr>
              <a:t>Watch software licensing (Windows / SQL Server) — it rides on BOTH options; don't drop 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AWS Pricing Calculator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size the cloud option before you build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Use it to: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estimate monthly costs and find ways to reduce them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model a solution before building it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find instance types &amp; contract terms; group services into an estimate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1">
                <a:solidFill>
                  <a:srgbClr val="484848"/>
                </a:solidFill>
                <a:latin typeface="Roboto"/>
              </a:rPr>
              <a:t>calculator.aws</a:t>
            </a:r>
          </a:p>
        </p:txBody>
      </p:sp>
      <p:pic>
        <p:nvPicPr>
          <p:cNvPr id="5" name="Picture 4" descr="03-pricing-calcula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297709"/>
            <a:ext cx="5120640" cy="2994101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Build a cost estimate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A2929"/>
                </a:solidFill>
                <a:latin typeface="Roboto"/>
              </a:rPr>
              <a:t>In groups, use the AWS Pricing Calculator + the supplied specifications to build a cost estimate for the cloud option.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Remember to: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Size the Accounting System's compute, storage, database and data transfer.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Name your estimate; group the services; capture the monthly + annual figures.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Be ready to report your findings back to the class.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7B5CE"/>
                </a:solidFill>
                <a:latin typeface="Roboto"/>
              </a:rPr>
              <a:t>This estimate feeds your CBA (Option B).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484848"/>
                </a:solidFill>
                <a:latin typeface="Roboto"/>
              </a:rPr>
              <a:t>🔗  calculator.aws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~20 min, then report back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Assembling the CBA — compare &amp; test it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the part the calculator doesn't do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5-year comparison summary: Option A vs Option B, like-for-like.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Avoided-downtime benefit — value the reliability gain, don't just assert it.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Sensitivity: which one or two assumptions would flip the answer?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2400" b="1" i="0">
                <a:solidFill>
                  <a:srgbClr val="27B5CE"/>
                </a:solidFill>
                <a:latin typeface="Roboto"/>
              </a:rPr>
              <a:t>A CBA with no sensitivity check reads as overconfident.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Build the 5-year CBA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A2929"/>
                </a:solidFill>
                <a:latin typeface="Roboto"/>
              </a:rPr>
              <a:t>In your working copy of the Business Case, add the Cost-Benefit Analysis (§7) + Appendix 1 for the Accounting System.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Remember to: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Cost Option A (renew on-prem) from the operational-costing doc.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Size Option B using your Pricing Calculator estimate.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State assumptions; build the 5-year comparison; add avoided-downtime + a sensitivity note.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~1 page + Appendix 1 line items.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7B5CE"/>
                </a:solidFill>
                <a:latin typeface="Roboto"/>
              </a:rPr>
              <a:t>⚠  Like-for-like, same horizon; every figure traceable to an assumption or source.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~30 min, then we compare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7B5CE"/>
                </a:solidFill>
                <a:latin typeface="Roboto"/>
              </a:rPr>
              <a:t>Section 2 · Cost-Benefit Analysis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A CBA compares options in money over a fixed horizon — total cost + benefit, not a monthly price.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State every assumption; detail goes in Appendix 1.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Size the cloud option with the Pricing Calculator; assemble the comparison yourself.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Always include avoided-downtime benefit and a sensitivity check.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05F61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Risk &amp; impact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what money doesn't capture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Money isn't the whole story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Two options can cost the same and carry very different risk.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Risk &amp; Impact is the qualitative complement to the CBA: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1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2100" b="0" i="0">
                <a:solidFill>
                  <a:srgbClr val="2A2929"/>
                </a:solidFill>
                <a:latin typeface="Roboto"/>
              </a:rPr>
              <a:t>the intangibles, and the things that could go wrong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Intangibles comparison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what a dollar figure misses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Name the qualitative factors, per option: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1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2100" b="0" i="0">
                <a:solidFill>
                  <a:srgbClr val="2A2929"/>
                </a:solidFill>
                <a:latin typeface="Roboto"/>
              </a:rPr>
              <a:t>staff skills / learning curve · vendor lock-in · agility &amp; scalability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1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2100" b="0" i="0">
                <a:solidFill>
                  <a:srgbClr val="2A2929"/>
                </a:solidFill>
                <a:latin typeface="Roboto"/>
              </a:rPr>
              <a:t>security posture · business continuity · disruption during change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205F61"/>
                </a:solidFill>
                <a:latin typeface="Roboto"/>
              </a:rPr>
              <a:t>■  </a:t>
            </a:r>
            <a:r>
              <a:rPr sz="2400" b="1" i="0">
                <a:solidFill>
                  <a:srgbClr val="205F61"/>
                </a:solidFill>
                <a:latin typeface="Roboto"/>
              </a:rPr>
              <a:t>The cheaper option may carry the bigger intangible cost.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risk register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For the direction you're heading, list the real risks: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1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2100" b="0" i="0">
                <a:solidFill>
                  <a:srgbClr val="2A2929"/>
                </a:solidFill>
                <a:latin typeface="Roboto"/>
              </a:rPr>
              <a:t>Risk → Likelihood → Impact → Mitigation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Keep it specific to this migration: data-migration error, cutover downtime, cost overrun, skills gap.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205F61"/>
                </a:solidFill>
                <a:latin typeface="Roboto"/>
              </a:rPr>
              <a:t>■  </a:t>
            </a:r>
            <a:r>
              <a:rPr sz="2400" b="1" i="0">
                <a:solidFill>
                  <a:srgbClr val="205F61"/>
                </a:solidFill>
                <a:latin typeface="Roboto"/>
              </a:rPr>
              <a:t>A risk with no mitigation is just a worry; a mitigation makes it manageable.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Add the Risk &amp; Impact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A2929"/>
                </a:solidFill>
                <a:latin typeface="Roboto"/>
              </a:rPr>
              <a:t>In your working copy of the Business Case, add the Risk and Impact Assessment (§8) for the Accounting System.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Remember to: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Compare the intangibles of Option A vs Option B.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Build a risk register (risk → likelihood → impact → mitigation) for the cloud direction.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~½–1 page.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205F61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05F61"/>
                </a:solidFill>
                <a:latin typeface="Roboto"/>
              </a:rPr>
              <a:t>⚠  Specific risks with real mitigations — not generic “things might go wrong”.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~20 min, then we discuss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05F61"/>
                </a:solidFill>
                <a:latin typeface="Roboto"/>
              </a:rPr>
              <a:t>Section 3 · Risk &amp; impact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Cost isn't everything — compare the intangibles too.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A risk register: risk → likelihood → impact → mitigation, specific to this change.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Together with the CBA, this is the full evidence base for a decision.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515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Roboto"/>
              </a:rPr>
              <a:t>From evidence to decision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You've built the evidence: options laid out, costed over 5 years, risks weighed.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That's the analytical core of a business case — everything a board needs to choose.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You still haven't recommended — that's the next move.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Next: make the call, justify it, and turn it into an action plan.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