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03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Building the evidence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Options, cost and risk — the case a board can act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diagnosis to evidence</a:t>
            </a:r>
          </a:p>
          <a:p>
            <a:pPr>
              <a:spcBef>
                <a:spcPts val="200"/>
              </a:spcBef>
            </a:pPr>
            <a:r>
              <a:rPr sz="1700" b="0" i="1">
                <a:solidFill>
                  <a:srgbClr val="D68E10"/>
                </a:solidFill>
                <a:latin typeface="Roboto Light"/>
              </a:rPr>
              <a:t>you've proved the problem — now build the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board doesn't fund a problem — it funds a well-evidenced answer.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Three moves: lay out the options → cost them over time → weigh the risks.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These become the next sections of the same business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You still don't recommend yet — you assemble the evidence a recommendation rests 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Options &amp; evaluation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compare before you choose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You don't recommend until you've compared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single proposal isn't a case — it's an assertion.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Credible advice compares realistic options on a level field.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Your job here: lay the options out and evaluate them — not pick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Define the workload first</a:t>
            </a:r>
          </a:p>
          <a:p>
            <a:pPr>
              <a:spcBef>
                <a:spcPts val="200"/>
              </a:spcBef>
            </a:pPr>
            <a:r>
              <a:rPr sz="1700" b="0" i="1">
                <a:solidFill>
                  <a:srgbClr val="D68E10"/>
                </a:solidFill>
                <a:latin typeface="Roboto Light"/>
              </a:rPr>
              <a:t>options are judged against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Before comparing options, state what any option must satisfy — from your gap analysis + the migration requirements: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capacity &amp; peaks · availability target · recovery (RPO/RTO)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data residency &amp; retention · integrations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Write it down first — it's the yardstick every option is measured against.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Identify the realistic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Keep the option set honest and small: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Option A — renew / stay on-prem (the status-quo baseline)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Option B — migrate to the cloud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Name a third only if it's genuinely real.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Every comparison needs the status-quo option — or “moving” has nothing to beat.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Choosing an evaluation method</a:t>
            </a:r>
          </a:p>
          <a:p>
            <a:pPr>
              <a:spcBef>
                <a:spcPts val="200"/>
              </a:spcBef>
            </a:pPr>
            <a:r>
              <a:rPr sz="1700" b="0" i="1">
                <a:solidFill>
                  <a:srgbClr val="D68E10"/>
                </a:solidFill>
                <a:latin typeface="Roboto Light"/>
              </a:rPr>
              <a:t>criteria, not gut feel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Evaluate each option on two stated lenses: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Impact against the strategic objectives — does it move the org toward its goals?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Difficulty of implementing — effort, disruption, skills, dependencies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Score each option on each lens and show your reasoning. (Cost comes next.)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Impact &amp; difficulty — a first read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simple matrix communicates it: each option × {impact, difficulty}.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High impact + low difficulty = strong candidate.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High impact + high difficulty = real, but plan for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This is the qualitative shortlist — the CBA and risk sections test it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Define the options &amp; evaluate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Options Considered and Evaluation section for the Accounting System (Ledgerline).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State the workload/requirements an option must satisfy (from your gap table + migration reqs).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Lay out Option A (renew on-prem) and Option B (migrate to cloud).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Pick an evaluation method; assess each option's impact (vs objectives) and difficulty.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~½–1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0" i="0">
                <a:solidFill>
                  <a:srgbClr val="92268F"/>
                </a:solidFill>
                <a:latin typeface="Roboto"/>
              </a:rPr>
              <a:t>⚠  Evaluate, don't decide — the recommendation comes later.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Options &amp;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Compare realistic options on a level field — always include the status-quo.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Define the workload/requirements first; options are judged against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Evaluate on stated criteria: impact vs objectives + implementation difficulty.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This is evaluation, not the decision.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Cost-Benefit Analysis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put a number on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Put a number on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CBA compares the options in money, over time — here, 5 years.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It turns “cloud feels cheaper” into evidence — or disproves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The board decides on total cost + benefit, not a monthly price.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good CBA contains</a:t>
            </a:r>
          </a:p>
          <a:p>
            <a:pPr>
              <a:spcBef>
                <a:spcPts val="200"/>
              </a:spcBef>
            </a:pPr>
            <a:r>
              <a:rPr sz="1700" b="0" i="1">
                <a:solidFill>
                  <a:srgbClr val="D68E10"/>
                </a:solidFill>
                <a:latin typeface="Roboto Light"/>
              </a:rPr>
              <a:t>becomes §7 + Appendix 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Assumptions → per-option 5-year costs → benefits (incl. avoided downtime) → comparison → sensitivity.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Compare like-for-like over the same horizon.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State every assumption — an unstated assumption is a hole in the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Detailed line items go in Appendix 1; the section shows the summary.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Costing the on-prem option (Option A)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Option A = renew / keep on-prem. Cost it from the operational-costing facts: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capex (server refresh) + opex (power, maintenance, licences, admin time), over 5 years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Watch software licensing (Windows / SQL Server) — it rides on BOTH options; don't drop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AWS Pricing Calculator</a:t>
            </a:r>
          </a:p>
          <a:p>
            <a:pPr>
              <a:spcBef>
                <a:spcPts val="200"/>
              </a:spcBef>
            </a:pPr>
            <a:r>
              <a:rPr sz="1700" b="0" i="1">
                <a:solidFill>
                  <a:srgbClr val="D68E10"/>
                </a:solidFill>
                <a:latin typeface="Roboto Light"/>
              </a:rPr>
              <a:t>size the cloud option before you build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Use it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estimate monthly costs and find ways to reduce them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model a solution before building it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find instance types &amp; contract terms; group services into an estimate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1">
                <a:solidFill>
                  <a:srgbClr val="484848"/>
                </a:solidFill>
                <a:latin typeface="Roboto"/>
              </a:rPr>
              <a:t>calculator.aws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83080"/>
            <a:ext cx="5120640" cy="4023360"/>
          </a:xfrm>
          <a:prstGeom prst="roundRect">
            <a:avLst/>
          </a:prstGeom>
          <a:solidFill>
            <a:srgbClr val="FBF6E6"/>
          </a:solidFill>
          <a:ln w="12700">
            <a:solidFill>
              <a:srgbClr val="27B5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5120640" cy="402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0" i="0">
                <a:solidFill>
                  <a:srgbClr val="27B5CE"/>
                </a:solidFill>
                <a:latin typeface="Roboto"/>
              </a:rPr>
              <a:t>🖼</a:t>
            </a:r>
          </a:p>
          <a:p>
            <a:pPr algn="ctr">
              <a:spcBef>
                <a:spcPts val="400"/>
              </a:spcBef>
            </a:pPr>
            <a:r>
              <a:rPr sz="1200" b="1" i="0">
                <a:solidFill>
                  <a:srgbClr val="27B5CE"/>
                </a:solidFill>
                <a:latin typeface="Roboto"/>
              </a:rPr>
              <a:t>IMAGE</a:t>
            </a:r>
          </a:p>
          <a:p>
            <a:pPr algn="ctr">
              <a:spcBef>
                <a:spcPts val="200"/>
              </a:spcBef>
            </a:pPr>
            <a:r>
              <a:rPr sz="1200" b="0" i="1">
                <a:solidFill>
                  <a:srgbClr val="484848"/>
                </a:solidFill>
                <a:latin typeface="Roboto Light"/>
              </a:rPr>
              <a:t>AWS Pricing Calculator — screenshot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a cost estimate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groups, use the AWS Pricing Calculator + the supplied specifications to build a cost estimate for the cloud option.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Size the Accounting System's compute, storage, database and data transfer.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Name your estimate; group the services; capture the monthly + annual figures.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Be ready to report your findings back to the class.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7B5CE"/>
                </a:solidFill>
                <a:latin typeface="Roboto"/>
              </a:rPr>
              <a:t>This estimate feeds your CBA (Option B).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484848"/>
                </a:solidFill>
                <a:latin typeface="Roboto"/>
              </a:rPr>
              <a:t>🔗  calculator.aws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report back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Assembling the CBA — compare &amp; test it</a:t>
            </a:r>
          </a:p>
          <a:p>
            <a:pPr>
              <a:spcBef>
                <a:spcPts val="200"/>
              </a:spcBef>
            </a:pPr>
            <a:r>
              <a:rPr sz="1700" b="0" i="1">
                <a:solidFill>
                  <a:srgbClr val="D68E10"/>
                </a:solidFill>
                <a:latin typeface="Roboto Light"/>
              </a:rPr>
              <a:t>the part the calculator doesn't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5-year comparison summary: Option A vs Option B, like-for-like.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Avoided-downtime benefit — value the reliability gain, don't just assert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Sensitivity: which one or two assumptions would flip the answer?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A CBA with no sensitivity check reads as overconfident.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5-year CBA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Cost-Benefit Analysis (§7) + Appendix 1 for the Accounting System.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Cost Option A (renew on-prem) from the operational-costing doc.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Size Option B using your Pricing Calculator estimate.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State assumptions; build the 5-year comparison; add avoided-downtime + a sensitivity note.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~1 page + Appendix 1 line items.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7B5CE"/>
                </a:solidFill>
                <a:latin typeface="Roboto"/>
              </a:rPr>
              <a:t>⚠  Like-for-like, same horizon; every figure traceable to an assumption or source.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min, then we compare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Cost-Benefit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CBA compares options in money over a fixed horizon — total cost + benefit, not a monthly price.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State every assumption; detail goes in Appendix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Size the cloud option with the Pricing Calculator; assemble the comparison yourself.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Always include avoided-downtime benefit and a sensitivity check.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Risk &amp; impact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money doesn't capture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Money isn't the whole story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Two options can cost the same and carry very different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Risk &amp; Impact is the qualitative complement to the CBA: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the intangibles, and the things that could go wrong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Intangibles comparison</a:t>
            </a:r>
          </a:p>
          <a:p>
            <a:pPr>
              <a:spcBef>
                <a:spcPts val="200"/>
              </a:spcBef>
            </a:pPr>
            <a:r>
              <a:rPr sz="1700" b="0" i="1">
                <a:solidFill>
                  <a:srgbClr val="D68E10"/>
                </a:solidFill>
                <a:latin typeface="Roboto Light"/>
              </a:rPr>
              <a:t>what a dollar figure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Name the qualitative factors, per option: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staff skills / learning curve · vendor lock-in · agility &amp; scalability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security posture · business continuity · disruption during change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The cheaper option may carry the bigger intangible cost.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risk register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For the direction you're heading, list the real risks: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Risk → Likelihood → Impact → Mitigation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Keep it specific to this migration: data-migration error, cutover downtime, cost overrun, skills gap.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A risk with no mitigation is just a worry; a mitigation makes it manageable.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Add the Risk &amp; Impact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Risk and Impact Assessment (§8) for the Accounting System.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Compare the intangibles of Option A vs Option B.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Build a risk register (risk → likelihood → impact → mitigation) for the cloud direction.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~½–1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05F61"/>
                </a:solidFill>
                <a:latin typeface="Roboto"/>
              </a:rPr>
              <a:t>⚠  Specific risks with real mitigations — not generic “things might go wrong”.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Risk &amp;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Cost isn't everything — compare the intangibles too.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risk register: risk → likelihood → impact → mitigation, specific to this change.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Together with the CBA, this is the full evidence base for a decision.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From evidence to decision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built the evidence: options laid out, costed over 5 years, risks weighed.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That's the analytical core of a business case — everything a board needs to choose.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still haven't recommended — that's the next move.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make the call, justify it, and turn it into an action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