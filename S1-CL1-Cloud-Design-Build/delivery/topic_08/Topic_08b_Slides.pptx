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 for 8b — a bridge slide, not new content. Remind them where 8a left off.</a:t>
            </a:r>
          </a:p>
          <a:p>
            <a:r>
              <a:t>• 8a stood up the COMPUTE and put it behind a scaling load balancer; the app can run and heal.</a:t>
            </a:r>
          </a:p>
          <a:p>
            <a:r>
              <a:t>• 8b (accent-bold) adds the DATA layer: a managed database (Amazon RDS) and object/archive</a:t>
            </a:r>
          </a:p>
          <a:p>
            <a:r>
              <a:t>  storage (Amazon S3 + Glacier). Same design, same network — now the tiers that hold the data.</a:t>
            </a:r>
          </a:p>
          <a:p>
            <a:r>
              <a:t>• Keep the discipline explicit: still building the SUPPLIED design, still capturing evidence as</a:t>
            </a:r>
          </a:p>
          <a:p>
            <a:r>
              <a:t>  they go. Nothing free-hand.</a:t>
            </a:r>
          </a:p>
          <a:p>
            <a:r>
              <a:t>• Set the rhythm for the session: watch the recorded demo, then do it yourself in the lab.</a:t>
            </a:r>
          </a:p>
          <a:p>
            <a:r>
              <a:t>Misconception to pre-empt: that the database and storage are "extra" or optional. They're core PE</a:t>
            </a:r>
          </a:p>
          <a:p>
            <a:r>
              <a:t>— the workload tier isn't done until data + storage are built and evidenced.</a:t>
            </a:r>
          </a:p>
          <a:p>
            <a:r>
              <a:t>Question to pose: "The app servers are up — so why can't YAT use Ledgerline yet?" (no database</a:t>
            </a:r>
          </a:p>
          <a:p>
            <a:r>
              <a:t>for the records, no store for the scanned documents).</a:t>
            </a:r>
          </a:p>
          <a:p>
            <a:r>
              <a:t>UoC/AT tie: sets up ICTCLD401 PC 2.5 (managed DB) + the storage KE; both fold into the core PE</a:t>
            </a:r>
          </a:p>
          <a:p>
            <a:r>
              <a:t>(compute + storage + database + autoscaling in a VPC) that AT2 §4.7/§4.8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Vendor-neutral PRIMER — no AWS yet. Establish two ideas: what a relational DB is, and that</a:t>
            </a:r>
          </a:p>
          <a:p>
            <a:r>
              <a:t>someone always has to operate it. This is the hinge the managed-vs-self-hosted teach turns on.</a:t>
            </a:r>
          </a:p>
          <a:p>
            <a:r>
              <a:t>• A relational database stores STRUCTURED data in tables, queried with SQL — Ledgerline's</a:t>
            </a:r>
          </a:p>
          <a:p>
            <a:r>
              <a:t>  accounts, ledgers and transactions are exactly this shape.</a:t>
            </a:r>
          </a:p>
          <a:p>
            <a:r>
              <a:t>• The operations reality (walk it slowly): install + patch the OS and the DB engine, take and</a:t>
            </a:r>
          </a:p>
          <a:p>
            <a:r>
              <a:t>  test backups, secure it, scale it. That work never goes away — the only question is WHO does it.</a:t>
            </a:r>
          </a:p>
          <a:p>
            <a:r>
              <a:t>• The split (accent-bold): self-hosted = YOU do all of it (e.g. on an EC2 instance); managed =</a:t>
            </a:r>
          </a:p>
          <a:p>
            <a:r>
              <a:t>  the cloud provider does it. Plant this now; RDS is the payoff two slides on.</a:t>
            </a:r>
          </a:p>
          <a:p>
            <a:r>
              <a:t>Misconception to pre-empt: "the cloud means no database admin at all." No — managed shifts the</a:t>
            </a:r>
          </a:p>
          <a:p>
            <a:r>
              <a:t>OS/engine/backup toil to AWS, but schema, data and query optimisation stay yours.</a:t>
            </a:r>
          </a:p>
          <a:p>
            <a:r>
              <a:t>Question to pose: "If Ledgerline's database lived on one EC2 server, whose job is the 2am patch and</a:t>
            </a:r>
          </a:p>
          <a:p>
            <a:r>
              <a:t>the nightly backup?" (yours — the argument for managed).</a:t>
            </a:r>
          </a:p>
          <a:p>
            <a:r>
              <a:t>UoC/AT tie: ICTCLD401 KE 6 (relational; self-hosted vs managed vs cloud-native) — the primer the</a:t>
            </a:r>
          </a:p>
          <a:p>
            <a:r>
              <a:t>PC 2.5 build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AWS-context teach for the primer — make the trade-off concrete with EC2 vs RDS.</a:t>
            </a:r>
          </a:p>
          <a:p>
            <a:r>
              <a:t>• Run it yourself on EC2: full control of engine and OS — but you own ALL the admin work (patching,</a:t>
            </a:r>
          </a:p>
          <a:p>
            <a:r>
              <a:t>  backups, scaling, availability). Control has a labour cost.</a:t>
            </a:r>
          </a:p>
          <a:p>
            <a:r>
              <a:t>• Amazon RDS (accent-bold) is a MANAGED service: AWS handles OS/DB install + patching, automated</a:t>
            </a:r>
          </a:p>
          <a:p>
            <a:r>
              <a:t>  backups, scaling and availability. The toil from the last slide is offloaded.</a:t>
            </a:r>
          </a:p>
          <a:p>
            <a:r>
              <a:t>• Be precise about the line: you KEEP application optimisation and your data — managed isn't</a:t>
            </a:r>
          </a:p>
          <a:p>
            <a:r>
              <a:t>  "hands off everything," it's "hands off the undifferentiated ops."</a:t>
            </a:r>
          </a:p>
          <a:p>
            <a:r>
              <a:t>• The trade-off in one line: control vs effort — choose managed UNLESS you need engine-level</a:t>
            </a:r>
          </a:p>
          <a:p>
            <a:r>
              <a:t>  control. For a small RTO with thin cloud skills, managed is the obvious call.</a:t>
            </a:r>
          </a:p>
          <a:p>
            <a:r>
              <a:t>Misconception to pre-empt: "managed = less capable / a toy database." It's the same SQL Server</a:t>
            </a:r>
          </a:p>
          <a:p>
            <a:r>
              <a:t>engine; you're paying AWS to run the plumbing, not getting a lesser product.</a:t>
            </a:r>
          </a:p>
          <a:p>
            <a:r>
              <a:t>Question to pose: "What would make YAT choose self-hosted on EC2 instead — and does Ledgerline</a:t>
            </a:r>
          </a:p>
          <a:p>
            <a:r>
              <a:t>need any of that?" (engine-level control; it doesn't — so RDS).</a:t>
            </a:r>
          </a:p>
          <a:p>
            <a:r>
              <a:t>UoC/AT tie: ICTCLD401 PC 2.5 + KE 6; this is the reasoning a student writes into AT2 §4.7.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service — the concrete anatomy students must be able to name and configure.</a:t>
            </a:r>
          </a:p>
          <a:p>
            <a:r>
              <a:t>• RDS sets up and OPERATES a relational database in the cloud; engines include Microsoft SQL</a:t>
            </a:r>
          </a:p>
          <a:p>
            <a:r>
              <a:t>  Server (Ledgerline's engine — preserved, not migrated to something new).</a:t>
            </a:r>
          </a:p>
          <a:p>
            <a:r>
              <a:t>• A DB instance has two dials: an instance CLASS (CPU/memory/network) and STORAGE (gp3 SSD or</a:t>
            </a:r>
          </a:p>
          <a:p>
            <a:r>
              <a:t>  provisioned IOPS). Same mental model as sizing an EC2 instance in 8a.</a:t>
            </a:r>
          </a:p>
          <a:p>
            <a:r>
              <a:t>• It runs INSIDE your VPC (not on the public internet); automated backups give point-in-time</a:t>
            </a:r>
          </a:p>
          <a:p>
            <a:r>
              <a:t>  restore; encryption at rest is available. Tie each back to the network they built in Topic 7.</a:t>
            </a:r>
          </a:p>
          <a:p>
            <a:r>
              <a:t>• Multi-AZ (accent-bold) gives a standby in another AZ for high availability — NAME it, then park</a:t>
            </a:r>
          </a:p>
          <a:p>
            <a:r>
              <a:t>  it: it's deferred to AT3. Baseline here is single-AZ.</a:t>
            </a:r>
          </a:p>
          <a:p>
            <a:r>
              <a:t>Misconception to pre-empt: "RDS is public / lives outside my network like a SaaS." No — it sits in</a:t>
            </a:r>
          </a:p>
          <a:p>
            <a:r>
              <a:t>your private subnet, reachable only from where you allow.</a:t>
            </a:r>
          </a:p>
          <a:p>
            <a:r>
              <a:t>Question to pose: "Two dials size an RDS instance — which two, and which one did we decide in C2?"</a:t>
            </a:r>
          </a:p>
          <a:p>
            <a:r>
              <a:t>(class + storage; class = C2 decision).</a:t>
            </a:r>
          </a:p>
          <a:p>
            <a:r>
              <a:t>UoC/AT tie: ICTCLD401 PC 2.5 + KE 5 (backups/lifecycle); the depth ceiling is deliberate —</a:t>
            </a:r>
          </a:p>
          <a:p>
            <a:r>
              <a:t>Multi-AZ/HA is AT3, not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design's specifics — this is the exact instance students provision, straight from the</a:t>
            </a:r>
          </a:p>
          <a:p>
            <a:r>
              <a:t>supplied Solution Design. Read it as a spec, not a lecture.</a:t>
            </a:r>
          </a:p>
          <a:p>
            <a:r>
              <a:t>• RDS for SQL Server, STANDARD edition — chosen to preserve the existing engine + data; not a</a:t>
            </a:r>
          </a:p>
          <a:p>
            <a:r>
              <a:t>  re-platform.</a:t>
            </a:r>
          </a:p>
          <a:p>
            <a:r>
              <a:t>• Instance class db.m6i.large (a C2 decision, implementer-set); gp3 storage ~22 GB + growth; in</a:t>
            </a:r>
          </a:p>
          <a:p>
            <a:r>
              <a:t>  private-data-a, locked to sg-db, NOT public. Every one of those is a design mandate.</a:t>
            </a:r>
          </a:p>
          <a:p>
            <a:r>
              <a:t>• Multi-AZ OFF at baseline; KMS encryption ON; automated backups + tx-log backups to RPO &lt;= 1 hour.</a:t>
            </a:r>
          </a:p>
          <a:p>
            <a:r>
              <a:t>• The boundary that matters most (accent-bold): MTS provisions an EMPTY instance — schema and data</a:t>
            </a:r>
          </a:p>
          <a:p>
            <a:r>
              <a:t>  migration are YAT ICT's responsibility. Students build the container, not the contents.</a:t>
            </a:r>
          </a:p>
          <a:p>
            <a:r>
              <a:t>Misconception to pre-empt: "I need to load Ledgerline's data to finish." No — an empty, correctly-</a:t>
            </a:r>
          </a:p>
          <a:p>
            <a:r>
              <a:t>configured instance is the deliverable; loading data is the customer's job and out of scope.</a:t>
            </a:r>
          </a:p>
          <a:p>
            <a:r>
              <a:t>Question to pose: "Why does MTS hand over an empty database rather than migrate the data itself?"</a:t>
            </a:r>
          </a:p>
          <a:p>
            <a:r>
              <a:t>(scope + data-custody — it's YAT's data and responsibility).</a:t>
            </a:r>
          </a:p>
          <a:p>
            <a:r>
              <a:t>UoC/AT tie: ICTCLD401 PC 2.5; the settings here map one-to-one to AT2 §4.7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TO FIND THE RECORDED DEMO: AWS Academy Cloud Foundations -&gt; Module 08 (Databases) -&gt; slide 22,</a:t>
            </a:r>
          </a:p>
          <a:p>
            <a:r>
              <a:t>"Recorded demo: Amazon RDS console"; pair it with AWS Academy Cloud Architecting -&gt; Module 06 -&gt;</a:t>
            </a:r>
          </a:p>
          <a:p>
            <a:r>
              <a:t>slide 37, "Demo: Amazon RDS Automated Backup &amp; Read Replicas" for the backup/RPO step. Both live in</a:t>
            </a:r>
          </a:p>
          <a:p>
            <a:r>
              <a:t>original-materials/AWS-Instructor Presentations/… — instructor-facing, screen in class, don't</a:t>
            </a:r>
          </a:p>
          <a:p>
            <a:r>
              <a:t>distribute. Preview and queue both before class.</a:t>
            </a:r>
          </a:p>
          <a:p/>
          <a:p>
            <a:r>
              <a:t>WHAT TO DEMONSTRATE (follow the recorded demos, then relate each step to OUR build):</a:t>
            </a:r>
          </a:p>
          <a:p>
            <a:r>
              <a:t>1. Create a DB subnet group and the database security group (sg-db).</a:t>
            </a:r>
          </a:p>
          <a:p>
            <a:r>
              <a:t>2. Launch an RDS DB instance — choose engine (SQL Server Standard), instance class, storage and</a:t>
            </a:r>
          </a:p>
          <a:p>
            <a:r>
              <a:t>   backup settings.</a:t>
            </a:r>
          </a:p>
          <a:p>
            <a:r>
              <a:t>3. Connect from the application tier to confirm the database is reachable.</a:t>
            </a:r>
          </a:p>
          <a:p/>
          <a:p>
            <a:r>
              <a:t>WHAT TO EMPHASISE:</a:t>
            </a:r>
          </a:p>
          <a:p>
            <a:r>
              <a:t>• The subnet group is what pins RDS into private-data-a — show it lands in the private subnet, not</a:t>
            </a:r>
          </a:p>
          <a:p>
            <a:r>
              <a:t>  public. This is the network discipline from Topic 7 paying off.</a:t>
            </a:r>
          </a:p>
          <a:p>
            <a:r>
              <a:t>• Turn ON automated backups + KMS encryption during creation; narrate RPO &lt;= 1 hour (use the ACA M06</a:t>
            </a:r>
          </a:p>
          <a:p>
            <a:r>
              <a:t>  backup demo here). Leave Multi-AZ OFF — say out loud that HA is AT3.</a:t>
            </a:r>
          </a:p>
          <a:p>
            <a:r>
              <a:t>• Show the app-tier -&gt; DB connectivity test; this completes the PC 2.6 test begun in Topic 7.</a:t>
            </a:r>
          </a:p>
          <a:p>
            <a:r>
              <a:t>• Narrate the evidence capture — instance, network/SG, backup + encryption settings — model it.</a:t>
            </a:r>
          </a:p>
          <a:p/>
          <a:p>
            <a:r>
              <a:t>PREP: clean lab, the supplied Solution Design open for the exact settings, both demos queued.</a:t>
            </a:r>
          </a:p>
          <a:p>
            <a:r>
              <a:t>~8-10 min to screen + narrate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C3 practice build. They provision the database to the design and complete the</a:t>
            </a:r>
          </a:p>
          <a:p>
            <a:r>
              <a:t>connectivity test. You circulate; they build and evidence.</a:t>
            </a:r>
          </a:p>
          <a:p>
            <a:r>
              <a:t>Tell students, in these words: "Open the lab and the Accounting Baseline Solution Design. Provision</a:t>
            </a:r>
          </a:p>
          <a:p>
            <a:r>
              <a:t>Ledgerline's database exactly to the design — RDS for SQL Server in the private data subnet — then</a:t>
            </a:r>
          </a:p>
          <a:p>
            <a:r>
              <a:t>test the app can reach it. Capture evidence as you go."</a:t>
            </a:r>
          </a:p>
          <a:p>
            <a:r>
              <a:t>The task, step by step (put on the board / read out):</a:t>
            </a:r>
          </a:p>
          <a:p>
            <a:r>
              <a:t>1. Provision RDS for SQL Server (class + storage per the design), in private-data-a with sg-db, NOT</a:t>
            </a:r>
          </a:p>
          <a:p>
            <a:r>
              <a:t>   public.</a:t>
            </a:r>
          </a:p>
          <a:p>
            <a:r>
              <a:t>2. Enable automated backups + KMS encryption; leave Multi-AZ OFF (baseline).</a:t>
            </a:r>
          </a:p>
          <a:p>
            <a:r>
              <a:t>3. Test app -&gt; database connectivity (this completes the Topic 7 connectivity test) and fix any</a:t>
            </a:r>
          </a:p>
          <a:p>
            <a:r>
              <a:t>   errors.</a:t>
            </a:r>
          </a:p>
          <a:p>
            <a:r>
              <a:t>4. Capture evidence — the instance, its network/SG, backup + encryption settings.</a:t>
            </a:r>
          </a:p>
          <a:p>
            <a:r>
              <a:t>MUST PRODUCE (AT2 evidence): screenshots of the RDS instance, its subnet/SG placement, and the</a:t>
            </a:r>
          </a:p>
          <a:p>
            <a:r>
              <a:t>backup + encryption settings, plus a successful app-&gt;db connectivity check.</a:t>
            </a:r>
          </a:p>
          <a:p>
            <a:r>
              <a:t>TIMING: ~20 min. Where they get stuck: (a) putting RDS in the wrong subnet / making it public —</a:t>
            </a:r>
          </a:p>
          <a:p>
            <a:r>
              <a:t>send them back to the subnet group; (b) SG rules blocking the app-&gt;db test — check sg-db allows</a:t>
            </a:r>
          </a:p>
          <a:p>
            <a:r>
              <a:t>the app SG on the DB port.</a:t>
            </a:r>
          </a:p>
          <a:p>
            <a:r>
              <a:t>SHARE-BACK: ask one student to show their instance is private + encrypted with Multi-AZ off; confirm</a:t>
            </a:r>
          </a:p>
          <a:p>
            <a:r>
              <a:t>nobody flipped HA on.</a:t>
            </a:r>
          </a:p>
          <a:p>
            <a:r>
              <a:t>No-leakage note: this practice uses the Accounting / Ledgerline system; the ASSESSED build is a</a:t>
            </a:r>
          </a:p>
          <a:p>
            <a:r>
              <a:t>different system on the LMS — comparable,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Vendor-neutral PRIMER opening the storage section — the block/object/archive distinction is the</a:t>
            </a:r>
          </a:p>
          <a:p>
            <a:r>
              <a:t>examinable point, so make it stick before any AWS names.</a:t>
            </a:r>
          </a:p>
          <a:p>
            <a:r>
              <a:t>• Block storage = a virtual DISK attached to one instance (EBS) — you can change one block of a</a:t>
            </a:r>
          </a:p>
          <a:p>
            <a:r>
              <a:t>  file in place. This is the EC2 disk from 8a; students already met it.</a:t>
            </a:r>
          </a:p>
          <a:p>
            <a:r>
              <a:t>• Object storage (accent-bold) = whole files (OBJECTS) + metadata, reached by API, virtually</a:t>
            </a:r>
          </a:p>
          <a:p>
            <a:r>
              <a:t>  unlimited (S3). You replace a whole object; no OS mounts it like a drive.</a:t>
            </a:r>
          </a:p>
          <a:p>
            <a:r>
              <a:t>• Archive storage = very cheap, SLOW to retrieve, for long-term retention (Glacier). Cold storage.</a:t>
            </a:r>
          </a:p>
          <a:p>
            <a:r>
              <a:t>• The teaching line: match the storage to the job — performance AND cost both depend on the choice.</a:t>
            </a:r>
          </a:p>
          <a:p>
            <a:r>
              <a:t>Misconception to pre-empt: "S3 is just a hard drive in the cloud." No — it's object storage reached</a:t>
            </a:r>
          </a:p>
          <a:p>
            <a:r>
              <a:t>by API; you don't mount it like a block disk. This block-vs-object line is the whole slide.</a:t>
            </a:r>
          </a:p>
          <a:p>
            <a:r>
              <a:t>Question to pose: "Ledgerline's scanned invoices — block, object or archive, and why?" (object for</a:t>
            </a:r>
          </a:p>
          <a:p>
            <a:r>
              <a:t>the live docs; archive/Glacier once they age into the 7-year hold).</a:t>
            </a:r>
          </a:p>
          <a:p>
            <a:r>
              <a:t>UoC/AT tie: ICTCLD401 KE 6 (storage options — block/object/archive); EBS = block (C1), S3/Glacier</a:t>
            </a:r>
          </a:p>
          <a:p>
            <a:r>
              <a:t>= object/archive (C4). The distinction is explicit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service — the properties that matter for a correct, secure bucket.</a:t>
            </a:r>
          </a:p>
          <a:p>
            <a:r>
              <a:t>• S3 stores OBJECTS in BUCKETS; virtually unlimited; designed for 11 nines of durability (say it</a:t>
            </a:r>
          </a:p>
          <a:p>
            <a:r>
              <a:t>  plainly — you effectively don't lose objects).</a:t>
            </a:r>
          </a:p>
          <a:p>
            <a:r>
              <a:t>• Buckets are REGION-scoped but their NAME is globally unique; access is granular (IAM + bucket</a:t>
            </a:r>
          </a:p>
          <a:p>
            <a:r>
              <a:t>  settings). The name being global trips students up — flag it.</a:t>
            </a:r>
          </a:p>
          <a:p>
            <a:r>
              <a:t>• The three protections (accent-bold): BLOCK public access, ENCRYPT (SSE), and enable VERSIONING.</a:t>
            </a:r>
          </a:p>
          <a:p>
            <a:r>
              <a:t>  For a client holding financial records these aren't optional niceties — they're the baseline.</a:t>
            </a:r>
          </a:p>
          <a:p>
            <a:r>
              <a:t>• Common uses: backups, application assets, document stores — exactly Ledgerline's scanned invoices</a:t>
            </a:r>
          </a:p>
          <a:p>
            <a:r>
              <a:t>  and off-instance backups.</a:t>
            </a:r>
          </a:p>
          <a:p>
            <a:r>
              <a:t>Misconception to pre-empt: "S3 buckets are public by default / someone could stumble on my files."</a:t>
            </a:r>
          </a:p>
          <a:p>
            <a:r>
              <a:t>Modern default is private; the risk is a MIS-configuration that opens them — which is why "block</a:t>
            </a:r>
          </a:p>
          <a:p>
            <a:r>
              <a:t>public access" is a deliberate, evidenced step.</a:t>
            </a:r>
          </a:p>
          <a:p>
            <a:r>
              <a:t>Question to pose: "A bucket name is globally unique but the bucket lives in one Region — why does</a:t>
            </a:r>
          </a:p>
          <a:p>
            <a:r>
              <a:t>that distinction matter for YAT's data residency?" (data sits in the Region; the name is just a</a:t>
            </a:r>
          </a:p>
          <a:p>
            <a:r>
              <a:t>global label).</a:t>
            </a:r>
          </a:p>
          <a:p>
            <a:r>
              <a:t>UoC/AT tie: ICTCLD401 KE 6 (object storage) + KE 5 (backups); the three protections are AT2 §4.8</a:t>
            </a:r>
          </a:p>
          <a:p>
            <a:r>
              <a:t>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retention mechanism — this is how the design meets a hard business/legal requirement, so</a:t>
            </a:r>
          </a:p>
          <a:p>
            <a:r>
              <a:t>anchor it to the 7-year rule, not the feature for its own sake.</a:t>
            </a:r>
          </a:p>
          <a:p>
            <a:r>
              <a:t>• Amazon S3 Glacier is extremely low-cost ARCHIVE storage; retrieval takes minutes to hours — cheap</a:t>
            </a:r>
          </a:p>
          <a:p>
            <a:r>
              <a:t>  because it's cold, not instant.</a:t>
            </a:r>
          </a:p>
          <a:p>
            <a:r>
              <a:t>• A LIFECYCLE RULE (accent-bold) transitions objects from S3 to Glacier by AGE — automatic, and</a:t>
            </a:r>
          </a:p>
          <a:p>
            <a:r>
              <a:t>  cheaper the longer data lives. Set once, runs forever; no one moves files by hand.</a:t>
            </a:r>
          </a:p>
          <a:p>
            <a:r>
              <a:t>• Object Lock enforces WRITE-ONCE retention — for records that must not be altered or deleted. This</a:t>
            </a:r>
          </a:p>
          <a:p>
            <a:r>
              <a:t>  is the integrity guarantee auditors want on financial records.</a:t>
            </a:r>
          </a:p>
          <a:p>
            <a:r>
              <a:t>• The payoff line: this is how the design meets the 7-year financial-records retention — a</a:t>
            </a:r>
          </a:p>
          <a:p>
            <a:r>
              <a:t>  requirement, met by a rule, evidenced.</a:t>
            </a:r>
          </a:p>
          <a:p>
            <a:r>
              <a:t>Misconception to pre-empt: "Glacier is a separate service I upload to." No — objects LAND in S3 and</a:t>
            </a:r>
          </a:p>
          <a:p>
            <a:r>
              <a:t>a lifecycle rule TRANSITIONS them to Glacier automatically; students shouldn't upload straight to</a:t>
            </a:r>
          </a:p>
          <a:p>
            <a:r>
              <a:t>an archive tier.</a:t>
            </a:r>
          </a:p>
          <a:p>
            <a:r>
              <a:t>Question to pose: "Financial records must be kept 7 years and not tampered with — which two features</a:t>
            </a:r>
          </a:p>
          <a:p>
            <a:r>
              <a:t>cover 'kept cheaply' and 'not tampered with'?" (lifecycle-to-Glacier + Object Lock).</a:t>
            </a:r>
          </a:p>
          <a:p>
            <a:r>
              <a:t>UoC/AT tie: ICTCLD401 KE 5 (storage backups + lifecycle); directly evidenced in AT2 §4.8.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design's specifics — the exact buckets and settings students create, from the supplied design.</a:t>
            </a:r>
          </a:p>
          <a:p>
            <a:r>
              <a:t>Read as a spec.</a:t>
            </a:r>
          </a:p>
          <a:p>
            <a:r>
              <a:t>• Documents bucket — scanned invoices / POs / supporting docs; lifecycle to Glacier for the 7-year</a:t>
            </a:r>
          </a:p>
          <a:p>
            <a:r>
              <a:t>  hold. This bucket is where the retention rule lives.</a:t>
            </a:r>
          </a:p>
          <a:p>
            <a:r>
              <a:t>• Backups bucket — off-instance SQL backup exports and file snapshots (complements RDS's own</a:t>
            </a:r>
          </a:p>
          <a:p>
            <a:r>
              <a:t>  automated backups; belt and braces).</a:t>
            </a:r>
          </a:p>
          <a:p>
            <a:r>
              <a:t>• Both buckets (accent-bold): block ALL public access; SSE(-KMS) encryption; versioning ON; access</a:t>
            </a:r>
          </a:p>
          <a:p>
            <a:r>
              <a:t>  logging. Same three protections from the S3 teach, applied.</a:t>
            </a:r>
          </a:p>
          <a:p>
            <a:r>
              <a:t>• Object Lock CONSIDERED for the financial-records hold — flag it as a design consideration on the</a:t>
            </a:r>
          </a:p>
          <a:p>
            <a:r>
              <a:t>  Documents bucket, not an afterthought.</a:t>
            </a:r>
          </a:p>
          <a:p>
            <a:r>
              <a:t>Misconception to pre-empt: "one bucket for everything." The design separates Documents (retained,</a:t>
            </a:r>
          </a:p>
          <a:p>
            <a:r>
              <a:t>Glacier-bound) from Backups (operational) on purpose — different lifecycles, different roles.</a:t>
            </a:r>
          </a:p>
          <a:p>
            <a:r>
              <a:t>Question to pose: "Why does the design put the lifecycle-to-Glacier rule on the Documents bucket but</a:t>
            </a:r>
          </a:p>
          <a:p>
            <a:r>
              <a:t>not the Backups bucket?" (7-year records retention lives with the documents; backups have a</a:t>
            </a:r>
          </a:p>
          <a:p>
            <a:r>
              <a:t>different rotation).</a:t>
            </a:r>
          </a:p>
          <a:p>
            <a:r>
              <a:t>UoC/AT tie: ICTCLD401 KE 5/KE 6; each setting maps to AT2 §4.8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TO FIND THE RECORDED DEMO: for the bucket build, AWS Academy Cloud Foundations -&gt; Module 07</a:t>
            </a:r>
          </a:p>
          <a:p>
            <a:r>
              <a:t>(Storage) -&gt; slide 35, "Recorded demo: Amazon S3", with slide 55 "Recorded demo: Amazon S3 Glacier"</a:t>
            </a:r>
          </a:p>
          <a:p>
            <a:r>
              <a:t>for the archive tier. For versioning + lifecycle, AWS Academy Cloud Architecting -&gt; Module 04 -&gt;</a:t>
            </a:r>
          </a:p>
          <a:p>
            <a:r>
              <a:t>slide 36 "Demo: Managing Lifecycles in Amazon S3" and slide 43 "Demo: Amazon S3 Versioning". All in</a:t>
            </a:r>
          </a:p>
          <a:p>
            <a:r>
              <a:t>original-materials/AWS-Instructor Presentations/… — instructor-facing, screen in class, don't</a:t>
            </a:r>
          </a:p>
          <a:p>
            <a:r>
              <a:t>distribute. Preview and queue before class.</a:t>
            </a:r>
          </a:p>
          <a:p/>
          <a:p>
            <a:r>
              <a:t>WHAT TO DEMONSTRATE (follow the recorded demos, then relate each step to OUR build):</a:t>
            </a:r>
          </a:p>
          <a:p>
            <a:r>
              <a:t>1. Create a bucket; block public access; enable encryption and versioning.</a:t>
            </a:r>
          </a:p>
          <a:p>
            <a:r>
              <a:t>2. Add a lifecycle rule to transition objects to Glacier after an age threshold.</a:t>
            </a:r>
          </a:p>
          <a:p>
            <a:r>
              <a:t>3. Point out Glacier is the ARCHIVE tier the lifecycle rule targets — not a separate upload.</a:t>
            </a:r>
          </a:p>
          <a:p/>
          <a:p>
            <a:r>
              <a:t>WHAT TO EMPHASISE:</a:t>
            </a:r>
          </a:p>
          <a:p>
            <a:r>
              <a:t>• "Block public access" is a deliberate, evidenced click — show the toggle and say why it matters</a:t>
            </a:r>
          </a:p>
          <a:p>
            <a:r>
              <a:t>  for financial data.</a:t>
            </a:r>
          </a:p>
          <a:p>
            <a:r>
              <a:t>• Enable versioning BEFORE objects go in; explain it protects against overwrite/delete.</a:t>
            </a:r>
          </a:p>
          <a:p>
            <a:r>
              <a:t>• On the lifecycle rule, tie the age threshold to the 7-year retention story — this is the design</a:t>
            </a:r>
          </a:p>
          <a:p>
            <a:r>
              <a:t>  requirement made real (use the ACA M04 lifecycle demo here).</a:t>
            </a:r>
          </a:p>
          <a:p>
            <a:r>
              <a:t>• Narrate the evidence capture — bucket settings, encryption, versioning, the lifecycle rule.</a:t>
            </a:r>
          </a:p>
          <a:p/>
          <a:p>
            <a:r>
              <a:t>PREP: clean lab, the supplied Solution Design open for the bucket names/settings, all four demo</a:t>
            </a:r>
          </a:p>
          <a:p>
            <a:r>
              <a:t>clips queued. ~8-10 min to screen + narrate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C4 practice build. Students create both buckets to the design and evidence every</a:t>
            </a:r>
          </a:p>
          <a:p>
            <a:r>
              <a:t>setting. You circulate; they build.</a:t>
            </a:r>
          </a:p>
          <a:p>
            <a:r>
              <a:t>Tell students, in these words: "Open the lab and the Accounting Baseline Solution Design. Create</a:t>
            </a:r>
          </a:p>
          <a:p>
            <a:r>
              <a:t>Ledgerline's storage exactly to the design — the two buckets, each locked down and versioned, with</a:t>
            </a:r>
          </a:p>
          <a:p>
            <a:r>
              <a:t>the retention rule on Documents. Capture evidence of every setting as you go."</a:t>
            </a:r>
          </a:p>
          <a:p>
            <a:r>
              <a:t>The task, step by step (put on the board / read out):</a:t>
            </a:r>
          </a:p>
          <a:p>
            <a:r>
              <a:t>1. Create the Documents bucket and the Backups bucket.</a:t>
            </a:r>
          </a:p>
          <a:p>
            <a:r>
              <a:t>2. On each: block public access; enable SSE encryption + versioning + access logging.</a:t>
            </a:r>
          </a:p>
          <a:p>
            <a:r>
              <a:t>3. Add the lifecycle rule transitioning Documents objects to Glacier (the 7-year retention).</a:t>
            </a:r>
          </a:p>
          <a:p>
            <a:r>
              <a:t>4. Capture evidence — bucket settings, encryption, versioning, the lifecycle rule.</a:t>
            </a:r>
          </a:p>
          <a:p>
            <a:r>
              <a:t>MUST PRODUCE (AT2 evidence): screenshots of both buckets showing public access blocked, encryption</a:t>
            </a:r>
          </a:p>
          <a:p>
            <a:r>
              <a:t>on, versioning on, and the Documents lifecycle-to-Glacier rule.</a:t>
            </a:r>
          </a:p>
          <a:p>
            <a:r>
              <a:t>TIMING: ~15 min. Where they get stuck: (a) enabling versioning after uploading test objects — show</a:t>
            </a:r>
          </a:p>
          <a:p>
            <a:r>
              <a:t>it's a per-bucket setting to turn on first; (b) the lifecycle rule on the wrong bucket — it belongs</a:t>
            </a:r>
          </a:p>
          <a:p>
            <a:r>
              <a:t>on Documents, not Backups.</a:t>
            </a:r>
          </a:p>
          <a:p>
            <a:r>
              <a:t>SHARE-BACK: ask one student to show a bucket with public access blocked + the Glacier lifecycle</a:t>
            </a:r>
          </a:p>
          <a:p>
            <a:r>
              <a:t>rule; confirm nobody left a bucket public.</a:t>
            </a:r>
          </a:p>
          <a:p>
            <a:r>
              <a:t>No-leakage note: this practice uses the Accounting / Ledgerline system; the ASSESSED build is a</a:t>
            </a:r>
          </a:p>
          <a:p>
            <a:r>
              <a:t>different system on the LMS — comparable,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08b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workload tier — data &amp; storage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Provision the managed database, and the object &amp; archive storage the application relies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data tier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compute is built — now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8a launched the compute and put it behind a scaling load balancer.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8b adds the data: a managed database (Amazon RDS) and object/archive storage (Amazon S3 + Glacier).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Still building the supplied design, still capturing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Watch the recorded demo, then do it yourself.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managed database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Amazon 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Databases, and who runs them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relational database stores structured data in tables, queried with SQL.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Someone must run it: install + patch the OS and database, take backups, secure it, scale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Self-hosted = you do all of that (e.g. on an EC2 instance). Managed = the cloud provider does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Self-hosted vs managed — EC2 vs RDS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ACF M08 S6–S10 · M06 S44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Run it yourself on EC2: full control of the engine and OS — but you own all the admin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Amazon RDS is a managed service: AWS handles OS/database install + patching, automated backups, scaling and availability.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keep responsibility for application optimisation and your data.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Trade-off: control vs effort — choose managed unless you need engine-level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Amazon RDS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ACF M08 S8–S29 · ACA M06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RDS sets up and operates a relational database in the cloud; engines include Microsoft SQL Server.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DB instance has an instance class (CPU/memory/network) and storage (gp3 SSD / provisioned IOPS).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runs in your VPC; automated backups give point-in-time restore; encryption at rest is available.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Multi-AZ gives a standby in another AZ for high availability — named here, but deferred to AT3.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database you'll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supplied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Amazon RDS for SQL Server, Standard edition (preserves the existing engine + data).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Instance class db.m6i.large* (C2 decision); gp3 storage ~22 GB + growth; in private-data-a, sg-db, not public.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Multi-AZ off at baseline; KMS encryption on; automated backups + tx-log backups to RPO ≤ 1 hour.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2400" b="1" i="0">
                <a:solidFill>
                  <a:srgbClr val="92268F"/>
                </a:solidFill>
                <a:latin typeface="Roboto"/>
              </a:rPr>
              <a:t>MTS provisions an EMPTY instance — schema and data migration are YAT ICT's responsibility. (*= implementer; licence model = C3.)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Provision an RDS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 DB subnet group and the database security group.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Launch an RDS DB instance: choose the engine, instance class, storage and backup settings.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Connect to the database from the application tier to confirm it's reachable.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(ACF M08 · RDS console (S22) + ACA M06 · backups (S37))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Provision the Ledgerline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the lab, per the design, provision the database: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RDS for SQL Server (class + storage per the design); in private-data-a with sg-db; not public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enable automated backups + KMS encryption; leave Multi-AZ off (baseline)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700" b="1" i="0">
                <a:solidFill>
                  <a:srgbClr val="92268F"/>
                </a:solidFill>
                <a:latin typeface="Roboto"/>
              </a:rPr>
              <a:t>Test app → database connectivity (completes the Topic 7 connectivity test) and fix any errors.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Capture evidence — the instance, its network/SG, backup + encryption settings.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Managed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managed database (RDS) offloads OS/engine patching, backups, scaling and availability.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Place it in a private subnet, lock it to the app's security group, encrypt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MTS delivers an empty instance — schema and data are the customer's job.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Multi-AZ is the HA option — deferred to AT3; baseline is single-AZ.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Object &amp; archive storage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Amazon S3 + Glacier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Block vs object vs archive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primer + AWS · ACF M07 S7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Block storage = a virtual disk attached to one instance (EBS) — change one block of a file.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2400" b="1" i="0">
                <a:solidFill>
                  <a:srgbClr val="27B5CE"/>
                </a:solidFill>
                <a:latin typeface="Roboto"/>
              </a:rPr>
              <a:t>Object storage = whole files (objects) + metadata, reached by API, virtually unlimited (S3).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Archive storage = very cheap, slow to retrieve, for long-term retention (Glacier).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Match the storage to the job — performance and cost both depend on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Amazon S3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ACF M07 S22–S34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S3 stores objects in buckets; virtually unlimited; designed for 11 9s of durability.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Buckets are Region-scoped and globally-unique-named; access is granular (IAM + bucket settings).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2400" b="1" i="0">
                <a:solidFill>
                  <a:srgbClr val="27B5CE"/>
                </a:solidFill>
                <a:latin typeface="Roboto"/>
              </a:rPr>
              <a:t>Block public access, encrypt (SSE), and enable versioning to protect objects.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Common uses: backups, application assets, document stores.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Lifecycle to Glacier — retention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AWS · ACF M07 S44–S50 · ACA M04 S36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Amazon S3 Glacier is extremely low-cost archive storage; retrieval takes minutes to hours.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2400" b="1" i="0">
                <a:solidFill>
                  <a:srgbClr val="27B5CE"/>
                </a:solidFill>
                <a:latin typeface="Roboto"/>
              </a:rPr>
              <a:t>A lifecycle rule transitions objects from S3 to Glacier by age — automatic, cheaper over 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Object Lock enforces write-once retention — for records that must not be altered or deleted.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how the design meets the 7-year financial-records retention.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storage you'll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supplied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Documents bucket — scanned invoices / POs / supporting docs; lifecycle to Glacier for the 7-year hold.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Backups bucket — off-instance SQL backup exports and file snapshots.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2400" b="1" i="0">
                <a:solidFill>
                  <a:srgbClr val="27B5CE"/>
                </a:solidFill>
                <a:latin typeface="Roboto"/>
              </a:rPr>
              <a:t>Both buckets: block all public access; SSE(-KMS) encryption; versioning on; access logging.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Object Lock considered for the financial-records 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S3 buckets, versioning &amp;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 bucket; block public access; enable encryption and versioning.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Add a lifecycle rule to transition objects to Glacier after an age threshold.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(Glacier is the archive tier the lifecycle rule targets.)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(ACA M04 · S3 lifecycle (S36) + versioning (S43) · ACF M07 S35/S55)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Create the buckets per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the lab, per the design, create the storage: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the Documents bucket and the Backups bucket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block public access; enable SSE encryption + versioning + access logging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add the lifecycle rule transitioning Documents objects to Glacier (7-year retention)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7B5CE"/>
                </a:solidFill>
                <a:latin typeface="Roboto"/>
              </a:rPr>
              <a:t>Capture evidence — bucket settings, encryption, versioning, the lifecycle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Object &amp; archive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S3 is durable object storage in buckets; block public access, encrypt, 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Lifecycle rules move objects to Glacier to meet long retention cheaply.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Object Lock enforces write-once retention for financial records.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Build the buckets to the design and evidence the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EDAB0C"/>
                </a:solidFill>
                <a:latin typeface="Roboto"/>
              </a:rPr>
              <a:t>Topic 8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whole workload tier now lives in the Topic 7 network: compute, elasticity, database, storage.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EC2 + EBS run the app; the ALB + ASG make it scale and self-heal.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RDS gives a managed database; S3 + Glacier give durable object &amp; archive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Everything is built to the supplied design, tested, and evidenced.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Single-AZ baseline throughout — high availability is the AT3 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9 — operability &amp; justification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Monitoring the build with CloudWatch, validating it works, and justifying the configuration decisions against the workload.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Bring your evidence log — Topic 10 turns it into the Deployment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