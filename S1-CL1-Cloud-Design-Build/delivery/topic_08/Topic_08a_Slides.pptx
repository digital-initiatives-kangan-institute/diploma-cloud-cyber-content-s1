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whole Topic — set the shape, don't teach content yet. Topic 7 laid an empty network;</a:t>
            </a:r>
          </a:p>
          <a:p>
            <a:r>
              <a:t>Topic 8 moves the workload in.</a:t>
            </a:r>
          </a:p>
          <a:p>
            <a:r>
              <a:t>• Where this fits: they're MTS consultants building the SUPPLIED design in the lab. The thinking</a:t>
            </a:r>
          </a:p>
          <a:p>
            <a:r>
              <a:t>  was done in AT1; AT2 is disciplined execution + evidence.</a:t>
            </a:r>
          </a:p>
          <a:p>
            <a:r>
              <a:t>• Orient them: this is deck 8a (compute + elasticity); 8b covers the managed database + storage.</a:t>
            </a:r>
          </a:p>
          <a:p>
            <a:r>
              <a:t>  Same Topic 8, split for manageability — say so, so no one thinks they've skipped anything.</a:t>
            </a:r>
          </a:p>
          <a:p>
            <a:r>
              <a:t>• Stress the working rhythm (last bullet): every AWS build task = watch the recorded demo, THEN do</a:t>
            </a:r>
          </a:p>
          <a:p>
            <a:r>
              <a:t>  it yourself, capturing named evidence as you go. That rhythm repeats all Topic.</a:t>
            </a:r>
          </a:p>
          <a:p>
            <a:r>
              <a:t>Misconception to pre-empt: "we're designing now." No — the design is given; deviating from it is an</a:t>
            </a:r>
          </a:p>
          <a:p>
            <a:r>
              <a:t>error, not initiative. Build what's specified; the implementer decisions are already flagged.</a:t>
            </a:r>
          </a:p>
          <a:p>
            <a:r>
              <a:t>Question to pose: "What's the difference between what you did in AT1 and what you do here?" (advise</a:t>
            </a:r>
          </a:p>
          <a:p>
            <a:r>
              <a:t>vs build-and-evidence).</a:t>
            </a:r>
          </a:p>
          <a:p>
            <a:r>
              <a:t>UoC/AT2 tie: Topic 8 carries the core ICTCLD401 PE — compute/storage/database/autoscaling in a VPC;</a:t>
            </a:r>
          </a:p>
          <a:p>
            <a:r>
              <a:t>this deck opens on C1 compute + C2 elasticity.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Vendor-neutral primer — no assumed baseline. Get the mental model of a server solid BEFORE EC2.</a:t>
            </a:r>
          </a:p>
          <a:p>
            <a:r>
              <a:t>• Walk it plainly: a server is just a computer that runs your application for others to use.</a:t>
            </a:r>
          </a:p>
          <a:p>
            <a:r>
              <a:t>• The four dimensions (make them concrete): CPU, memory (RAM), disk, network bandwidth — this is</a:t>
            </a:r>
          </a:p>
          <a:p>
            <a:r>
              <a:t>  how you "size" a server, and it's exactly the KE 5 language they're assessed on.</a:t>
            </a:r>
          </a:p>
          <a:p>
            <a:r>
              <a:t>• The shift (bolded): a virtual machine is a software-defined server — you RENT one and size it to</a:t>
            </a:r>
          </a:p>
          <a:p>
            <a:r>
              <a:t>  the workload, instead of buying a physical box. Callback to Topic 1's "infrastructure as software".</a:t>
            </a:r>
          </a:p>
          <a:p>
            <a:r>
              <a:t>Misconception to pre-empt: "virtual = less real / less powerful." No — a VM is a full server; it</a:t>
            </a:r>
          </a:p>
          <a:p>
            <a:r>
              <a:t>just runs as software on shared hardware, and you can resize it in ways a physical box never allows.</a:t>
            </a:r>
          </a:p>
          <a:p>
            <a:r>
              <a:t>Question to pose: "If you had to size a server for Ledgerline, what four things would you be</a:t>
            </a:r>
          </a:p>
          <a:p>
            <a:r>
              <a:t>deciding?" (CPU / RAM / disk / network — the four dimensions).</a:t>
            </a:r>
          </a:p>
          <a:p>
            <a:r>
              <a:t>UoC/AT2 tie: ICTCLD401 KE 5 (VM sizing) + KE 6 (virtual vs physical) — the primer under PC 2.3.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AWS-context teach after the primer — put names to the concept. Keep it recognition-level; the</a:t>
            </a:r>
          </a:p>
          <a:p>
            <a:r>
              <a:t>detail is the next slide.</a:t>
            </a:r>
          </a:p>
          <a:p>
            <a:r>
              <a:t>• Walk the bullets: EC2 gives resizable virtual machines called INSTANCES; you get full control of</a:t>
            </a:r>
          </a:p>
          <a:p>
            <a:r>
              <a:t>  the guest OS (Windows or Linux); you launch from an AMI into a subnet, ready in minutes.</a:t>
            </a:r>
          </a:p>
          <a:p>
            <a:r>
              <a:t>• The accent line: security groups control traffic in and out — callback to Topic 7, where they</a:t>
            </a:r>
          </a:p>
          <a:p>
            <a:r>
              <a:t>  built the SG shells the EC2 instance now fills.</a:t>
            </a:r>
          </a:p>
          <a:p>
            <a:r>
              <a:t>• Tie to the model: EC2 is IaaS (Topic 1) — you run the OS and app, AWS runs the hardware.</a:t>
            </a:r>
          </a:p>
          <a:p>
            <a:r>
              <a:t>Misconception to pre-empt: "an instance is a fixed size you're stuck with." No — you can stop it,</a:t>
            </a:r>
          </a:p>
          <a:p>
            <a:r>
              <a:t>change the instance type, and start it bigger; resizable is the point.</a:t>
            </a:r>
          </a:p>
          <a:p>
            <a:r>
              <a:t>Question to pose: "EC2 is IaaS — so after AWS hands you the instance, whose job is the operating</a:t>
            </a:r>
          </a:p>
          <a:p>
            <a:r>
              <a:t>system and patching?" (yours — the trade-off for full control).</a:t>
            </a:r>
          </a:p>
          <a:p>
            <a:r>
              <a:t>UoC/AT2 tie: ICTCLD401 PC 2.3 (create the VM to requirements); the SG link back to PC 2.6.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workhorse teach for C1 — the launch-wizard decisions, so the demo and activity aren't a blur of</a:t>
            </a:r>
          </a:p>
          <a:p>
            <a:r>
              <a:t>unfamiliar fields. Don't read the list; explain what each choice DOES.</a:t>
            </a:r>
          </a:p>
          <a:p>
            <a:r>
              <a:t>• AMI = the template (OS + pre-installed software). Instance type = family.generation.size (e.g.</a:t>
            </a:r>
          </a:p>
          <a:p>
            <a:r>
              <a:t>  m6i.large) — this is where the four sizing dimensions become a concrete pick.</a:t>
            </a:r>
          </a:p>
          <a:p>
            <a:r>
              <a:t>• Network = which VPC/subnet it lands in; IAM role = an instance profile so the app calls AWS</a:t>
            </a:r>
          </a:p>
          <a:p>
            <a:r>
              <a:t>  services with NO stored keys (callback to the Topic 6 role they built).</a:t>
            </a:r>
          </a:p>
          <a:p>
            <a:r>
              <a:t>• User data = a first-boot script; storage = root + data volumes; plus tags, security group, key pair.</a:t>
            </a:r>
          </a:p>
          <a:p>
            <a:r>
              <a:t>Misconception to pre-empt: "the instance type is just 'how fast'." It sets CPU, RAM, storage AND</a:t>
            </a:r>
          </a:p>
          <a:p>
            <a:r>
              <a:t>network together — under-size any one and the app suffers; it's a balanced choice, not a speed dial.</a:t>
            </a:r>
          </a:p>
          <a:p>
            <a:r>
              <a:t>Question to pose: "Why give the instance an IAM ROLE instead of putting an access key on the box?"</a:t>
            </a:r>
          </a:p>
          <a:p>
            <a:r>
              <a:t>(no long-lived credentials to leak — the payoff of the Topic 6 IAM teaching).</a:t>
            </a:r>
          </a:p>
          <a:p>
            <a:r>
              <a:t>UoC/AT2 tie: ICTCLD401 PC 2.3; the launch choices are exactly what the §4.5 Compute evidence 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+ AWS teach for the disk on the server — and the first half of the examinable block-vs-object</a:t>
            </a:r>
          </a:p>
          <a:p>
            <a:r>
              <a:t>distinction (object storage / S3 is 8b).</a:t>
            </a:r>
          </a:p>
          <a:p>
            <a:r>
              <a:t>• Primer: block storage = a virtual disk attached to ONE instance, just like a drive inside a PC.</a:t>
            </a:r>
          </a:p>
          <a:p>
            <a:r>
              <a:t>• The accent line: Amazon EBS is DURABLE block storage — stop/start the instance and the data</a:t>
            </a:r>
          </a:p>
          <a:p>
            <a:r>
              <a:t>  survives. Contrast hard with instance store (ephemeral, lost on stop) — bracketed on purpose.</a:t>
            </a:r>
          </a:p>
          <a:p>
            <a:r>
              <a:t>• gp3 SSD volumes; you can resize or change type WITHOUT downtime — reinforce "infrastructure as</a:t>
            </a:r>
          </a:p>
          <a:p>
            <a:r>
              <a:t>  software": the disk is elastic too.</a:t>
            </a:r>
          </a:p>
          <a:p>
            <a:r>
              <a:t>Misconception to pre-empt: "EBS is like S3 / a shared drive." No — EBS attaches to a single instance</a:t>
            </a:r>
          </a:p>
          <a:p>
            <a:r>
              <a:t>as a block disk; it is not object storage and not shared. This block-vs-object line is the whole</a:t>
            </a:r>
          </a:p>
          <a:p>
            <a:r>
              <a:t>point, and it returns in 8b.</a:t>
            </a:r>
          </a:p>
          <a:p>
            <a:r>
              <a:t>Question to pose: "If you store the app's working data on INSTANCE STORE and the instance stops,</a:t>
            </a:r>
          </a:p>
          <a:p>
            <a:r>
              <a:t>what happens?" (it's gone — that's why the design uses EBS).</a:t>
            </a:r>
          </a:p>
          <a:p>
            <a:r>
              <a:t>UoC/AT2 tie: ICTCLD401 PC 2.4 (define/add/expand storage on the VM) + KE 6 storage options (block).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Pivot from generic teaching to THIS design — read the supplied spec so the activity is unambiguous.</a:t>
            </a:r>
          </a:p>
          <a:p>
            <a:r>
              <a:t>Everything here is specified; the *-marked items are already-made implementer decisions, not open</a:t>
            </a:r>
          </a:p>
          <a:p>
            <a:r>
              <a:t>questions.</a:t>
            </a:r>
          </a:p>
          <a:p>
            <a:r>
              <a:t>• Walk it: EC2 Windows Server 2016 (m6i.large*), in private-app-a, NO public IP — a private app</a:t>
            </a:r>
          </a:p>
          <a:p>
            <a:r>
              <a:t>  server reached through the network, not the internet.</a:t>
            </a:r>
          </a:p>
          <a:p>
            <a:r>
              <a:t>• An instance role grants access to RDS, S3 and CloudWatch — no stored keys (callback again).</a:t>
            </a:r>
          </a:p>
          <a:p>
            <a:r>
              <a:t>• EBS: gp3 root 80 GB + a gp3 data volume sized for footprint + 12-month growth + headroom; attach</a:t>
            </a:r>
          </a:p>
          <a:p>
            <a:r>
              <a:t>  sg-app; tag per the naming standard.</a:t>
            </a:r>
          </a:p>
          <a:p>
            <a:r>
              <a:t>Misconception to pre-empt: "no public IP must be a mistake — how do users reach it?" No — it's private</a:t>
            </a:r>
          </a:p>
          <a:p>
            <a:r>
              <a:t>by design; access comes via the ALB/network, and staff over the VPN. Private-by-default is correct.</a:t>
            </a:r>
          </a:p>
          <a:p>
            <a:r>
              <a:t>Question to pose: "Why does the app server sit in private-app-a with no public IP?" (defence in</a:t>
            </a:r>
          </a:p>
          <a:p>
            <a:r>
              <a:t>depth — nothing is exposed to the internet that doesn't need to be).</a:t>
            </a:r>
          </a:p>
          <a:p>
            <a:r>
              <a:t>UoC/AT2 tie: ICTCLD401 PC 2.3 + PC 2.4; this is the §4.5 Compute build, evidenced in Appendix A/B.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slide (recorded demo). Screen it, then relate each step to OUR supplied design before</a:t>
            </a:r>
          </a:p>
          <a:p>
            <a:r>
              <a:t>the students do it themselves — teach -&gt; DEMONSTRATE -&gt; practice.</a:t>
            </a:r>
          </a:p>
          <a:p/>
          <a:p>
            <a:r>
              <a:t>WHERE TO FIND THE RECORDED DEMO: AWS Academy Cloud Foundations → Module 06 (Compute) → slide 35,</a:t>
            </a:r>
          </a:p>
          <a:p>
            <a:r>
              <a:t>"Recorded Amazon EC2 demonstration", inside the ACF M06 instructor deck (original-materials/</a:t>
            </a:r>
          </a:p>
          <a:p>
            <a:r>
              <a:t>AWS-Instructor Presentations/…). Instructor-facing — screen it in class, don't distribute to</a:t>
            </a:r>
          </a:p>
          <a:p>
            <a:r>
              <a:t>students. Preview it and cue it to this slide before class.</a:t>
            </a:r>
          </a:p>
          <a:p/>
          <a:p>
            <a:r>
              <a:t>WHAT TO DEMONSTRATE (follow the recorded demo, then map each step to our build):</a:t>
            </a:r>
          </a:p>
          <a:p>
            <a:r>
              <a:t>1. Launch Instance Wizard — choose the AMI and instance type.</a:t>
            </a:r>
          </a:p>
          <a:p>
            <a:r>
              <a:t>2. Set the network (VPC/subnet), IAM role, storage volumes, tags and security group.</a:t>
            </a:r>
          </a:p>
          <a:p>
            <a:r>
              <a:t>3. Launch, then view the instance, its volumes and monitoring.</a:t>
            </a:r>
          </a:p>
          <a:p>
            <a:r>
              <a:t>4. Resize the instance type / root volume to show how it changes.</a:t>
            </a:r>
          </a:p>
          <a:p/>
          <a:p>
            <a:r>
              <a:t>WHAT TO EMPHASISE:</a:t>
            </a:r>
          </a:p>
          <a:p>
            <a:r>
              <a:t>• Ours is Windows Server 2016 into private-app-a with NO public IP — point out where in the wizard</a:t>
            </a:r>
          </a:p>
          <a:p>
            <a:r>
              <a:t>  that's set (subnet + auto-assign public IP off).</a:t>
            </a:r>
          </a:p>
          <a:p>
            <a:r>
              <a:t>• The instance ROLE, not an access key — show the "IAM instance profile" field explicitly.</a:t>
            </a:r>
          </a:p>
          <a:p>
            <a:r>
              <a:t>• Add the gp3 DATA volume as well as the root — students forget the second volume.</a:t>
            </a:r>
          </a:p>
          <a:p>
            <a:r>
              <a:t>• Narrate the evidence capture — the instance, its volumes, the Region — model it as you go.</a:t>
            </a:r>
          </a:p>
          <a:p/>
          <a:p>
            <a:r>
              <a:t>PREP: clean Learner Lab open, the supplied design handy (instance type, subnet, tags), demo queued.</a:t>
            </a:r>
          </a:p>
          <a:p>
            <a:r>
              <a:t>~8-10 min to screen + narrate before the activity. (Learner Lab deploys to us-east-1 — the design's</a:t>
            </a:r>
          </a:p>
          <a:p>
            <a:r>
              <a:t>Region is simulated; don't let the Region field derail them.)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C1 hands-on build on the PRACTICE engagement. They build; you circulate.</a:t>
            </a:r>
          </a:p>
          <a:p>
            <a:r>
              <a:t>Tell students, in these words: "Open the lab and the supplied Solution Design. Launch the Ledgerline</a:t>
            </a:r>
          </a:p>
          <a:p>
            <a:r>
              <a:t>application server exactly to the design — no improvising — and capture named evidence as you go."</a:t>
            </a:r>
          </a:p>
          <a:p>
            <a:r>
              <a:t>Steps (put on the board):</a:t>
            </a:r>
          </a:p>
          <a:p>
            <a:r>
              <a:t>1. Launch from AMI Windows Server 2016; instance type per the design.</a:t>
            </a:r>
          </a:p>
          <a:p>
            <a:r>
              <a:t>2. Into private-app-a, with NO public IP.</a:t>
            </a:r>
          </a:p>
          <a:p>
            <a:r>
              <a:t>3. Attach the instance role + sg-app; add the gp3 data volume; tag it per the naming standard.</a:t>
            </a:r>
          </a:p>
          <a:p>
            <a:r>
              <a:t>4. Capture evidence — the instance, its volumes, the Region.</a:t>
            </a:r>
          </a:p>
          <a:p>
            <a:r>
              <a:t>Must produce: a running EC2 instance matching the design + named evidence screenshots (instance,</a:t>
            </a:r>
          </a:p>
          <a:p>
            <a:r>
              <a:t>volumes, Region) in their evidence log.</a:t>
            </a:r>
          </a:p>
          <a:p>
            <a:r>
              <a:t>Timing: ~25 min. Where they get stuck: forgetting to turn OFF auto-assign public IP (they land in</a:t>
            </a:r>
          </a:p>
          <a:p>
            <a:r>
              <a:t>the wrong subnet or public); missing the second (data) volume; skipping tags. Circulate on these three.</a:t>
            </a:r>
          </a:p>
          <a:p>
            <a:r>
              <a:t>Share-back prompt: "Show me your evidence for the data volume — how do we know it's attached?"</a:t>
            </a:r>
          </a:p>
          <a:p>
            <a:r>
              <a:t>No-leakage note: Ledgerline is the PRACTICE client; AT2 assesses the SAME build on the LMS system —</a:t>
            </a:r>
          </a:p>
          <a:p>
            <a:r>
              <a:t>comparable, not identical. Keep them anchored to the supplied design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with the vendor-neutral primer — the two ideas C2 turns on, before any AWS names.</a:t>
            </a:r>
          </a:p>
          <a:p>
            <a:r>
              <a:t>• A load balancer spreads incoming traffic across several instances and checks their health.</a:t>
            </a:r>
          </a:p>
          <a:p>
            <a:r>
              <a:t>• Elasticity = the infrastructure grows and shrinks as demand changes — the cloud advantage over a</a:t>
            </a:r>
          </a:p>
          <a:p>
            <a:r>
              <a:t>  fixed on-prem box (callback to Topic 1's over-provisioning pain).</a:t>
            </a:r>
          </a:p>
          <a:p>
            <a:r>
              <a:t>• The accent line: vertical scaling = replace with a bigger instance; horizontal = add MORE</a:t>
            </a:r>
          </a:p>
          <a:p>
            <a:r>
              <a:t>  instances. Make the distinction crisp — it's examinable and students blur it.</a:t>
            </a:r>
          </a:p>
          <a:p>
            <a:r>
              <a:t>• Last bullet: horizontal is the cloud way, and the basis of high availability LATER (AT3).</a:t>
            </a:r>
          </a:p>
          <a:p>
            <a:r>
              <a:t>Misconception to pre-empt: "scaling means making the server bigger." That's only vertical; the cloud</a:t>
            </a:r>
          </a:p>
          <a:p>
            <a:r>
              <a:t>pattern is horizontal — many small instances behind a balancer, added/removed automatically.</a:t>
            </a:r>
          </a:p>
          <a:p>
            <a:r>
              <a:t>Question to pose: "Ledgerline gets a month-end spike — do you buy a bigger server, or add more of</a:t>
            </a:r>
          </a:p>
          <a:p>
            <a:r>
              <a:t>the same for a few days? Which is cheaper and safer?" (horizontal — pay only for the spike).</a:t>
            </a:r>
          </a:p>
          <a:p>
            <a:r>
              <a:t>UoC/AT2 tie: ICTCLD401 KE 5/6 (load balancing; vertical vs horizontal) — the primer under PC 3.1.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teach (diagram) — the ALB's job, using the target-group picture. Keep it to the three moving</a:t>
            </a:r>
          </a:p>
          <a:p>
            <a:r>
              <a:t>parts.</a:t>
            </a:r>
          </a:p>
          <a:p>
            <a:r>
              <a:t>• An ALB receives requests on a LISTENER (here HTTPS:443) — the front door and the port it answers on.</a:t>
            </a:r>
          </a:p>
          <a:p>
            <a:r>
              <a:t>• It forwards to a TARGET GROUP and routes only to HEALTHY targets — health checks are what make it</a:t>
            </a:r>
          </a:p>
          <a:p>
            <a:r>
              <a:t>  safe; a sick instance is taken out of rotation automatically.</a:t>
            </a:r>
          </a:p>
          <a:p>
            <a:r>
              <a:t>• The accent line: internet-facing vs internal — THIS design is INTERNAL (staff reach it over the</a:t>
            </a:r>
          </a:p>
          <a:p>
            <a:r>
              <a:t>  VPN), matching the private, no-public-IP app server.</a:t>
            </a:r>
          </a:p>
          <a:p>
            <a:r>
              <a:t>Misconception to pre-empt: "the load balancer runs the app." No — it DISTRIBUTES requests to the EC2</a:t>
            </a:r>
          </a:p>
          <a:p>
            <a:r>
              <a:t>instances that run the app; it holds no application logic itself (callback to Topic 1).</a:t>
            </a:r>
          </a:p>
          <a:p>
            <a:r>
              <a:t>Question to pose: "Why is this ALB internal, not internet-facing?" (the app is private, staff-only</a:t>
            </a:r>
          </a:p>
          <a:p>
            <a:r>
              <a:t>over the VPN — the whole tier stays off the public internet).</a:t>
            </a:r>
          </a:p>
          <a:p>
            <a:r>
              <a:t>UoC/AT2 tie: ICTCLD401 PC 3.1 (the balancer the ASG scales behind); §4.6 Load balancing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teach (diagram) — the ASG, the piece that actually does the elasticity. Pair with the</a:t>
            </a:r>
          </a:p>
          <a:p>
            <a:r>
              <a:t>horizontal-scaling image.</a:t>
            </a:r>
          </a:p>
          <a:p>
            <a:r>
              <a:t>• An ASG manages a FLEET of instances from a launch template — one definition, many copies.</a:t>
            </a:r>
          </a:p>
          <a:p>
            <a:r>
              <a:t>• Capacity settings: minimum / desired / maximum; it replaces unhealthy instances automatically</a:t>
            </a:r>
          </a:p>
          <a:p>
            <a:r>
              <a:t>  (self-healing, not just scaling — flag both jobs).</a:t>
            </a:r>
          </a:p>
          <a:p>
            <a:r>
              <a:t>• Scaling POLICIES — scheduled, dynamic (target-tracking), or step — adjust capacity; ours is</a:t>
            </a:r>
          </a:p>
          <a:p>
            <a:r>
              <a:t>  target-tracking (next slide).</a:t>
            </a:r>
          </a:p>
          <a:p>
            <a:r>
              <a:t>• The accent line: it integrates with the ALB's health checks ACROSS Availability Zones — the AZ</a:t>
            </a:r>
          </a:p>
          <a:p>
            <a:r>
              <a:t>  hook that becomes HA in AT3.</a:t>
            </a:r>
          </a:p>
          <a:p>
            <a:r>
              <a:t>Misconception to pre-empt: "min/desired/max are the same thing / just a size." No — min and max are</a:t>
            </a:r>
          </a:p>
          <a:p>
            <a:r>
              <a:t>the guard-rails, desired is where it sits now; the policy moves desired between them.</a:t>
            </a:r>
          </a:p>
          <a:p>
            <a:r>
              <a:t>Question to pose: "If an instance dies at 2am, what does the ASG do without anyone paged?" (replaces</a:t>
            </a:r>
          </a:p>
          <a:p>
            <a:r>
              <a:t>it to hold desired capacity — self-healing).</a:t>
            </a:r>
          </a:p>
          <a:p>
            <a:r>
              <a:t>UoC/AT2 tie: ICTCLD401 PC 3.1 (configure autoscaling to business metrics); sets up the PC 3.2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Pivot to THIS design's elasticity spec — read it so the demo and activity are unambiguous. Note the</a:t>
            </a:r>
          </a:p>
          <a:p>
            <a:r>
              <a:t>depth ceiling explicitly.</a:t>
            </a:r>
          </a:p>
          <a:p>
            <a:r>
              <a:t>• Internal ALB, HTTPS:443 listener → a target group of the Ledgerline instances.</a:t>
            </a:r>
          </a:p>
          <a:p>
            <a:r>
              <a:t>• ASG: min 1 / desired 1 / max 2; target-tracking on CPU at 70%; 300 s cooldown. Explain 70% = the</a:t>
            </a:r>
          </a:p>
          <a:p>
            <a:r>
              <a:t>  trigger, cooldown = the wait before scaling again so it doesn't thrash.</a:t>
            </a:r>
          </a:p>
          <a:p>
            <a:r>
              <a:t>• Health checks: ELB + EC2 — an unhealthy instance is replaced.</a:t>
            </a:r>
          </a:p>
          <a:p>
            <a:r>
              <a:t>• The accent line (the ceiling): this is BASELINE elasticity, single-AZ — cross-AZ resilience (HA)</a:t>
            </a:r>
          </a:p>
          <a:p>
            <a:r>
              <a:t>  is AT3. Don't let a keen student build Multi-AZ now; it's out of scope for this Topic.</a:t>
            </a:r>
          </a:p>
          <a:p>
            <a:r>
              <a:t>Misconception to pre-empt: "min 1 / max 2 is barely scaling." Correct — it's an elasticity INTRO,</a:t>
            </a:r>
          </a:p>
          <a:p>
            <a:r>
              <a:t>not HA. The point is proving the mechanism works, not surviving an AZ outage (that's AT3).</a:t>
            </a:r>
          </a:p>
          <a:p>
            <a:r>
              <a:t>Question to pose: "Why cap max at 2 and stay single-AZ here?" (this Topic teaches the mechanism; HA</a:t>
            </a:r>
          </a:p>
          <a:p>
            <a:r>
              <a:t>is deliberately deferred).</a:t>
            </a:r>
          </a:p>
          <a:p>
            <a:r>
              <a:t>UoC/AT2 tie: ICTCLD401 PC 3.1; §4.6 evidence; the single-AZ boundary keeps AT3 distinct.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slide (recorded demo). Screen it, then map to our design — teach -&gt; DEMONSTRATE -&gt;</a:t>
            </a:r>
          </a:p>
          <a:p>
            <a:r>
              <a:t>practice. This one leads straight into the scaling TEST (PC 3.2), so foreground the test.</a:t>
            </a:r>
          </a:p>
          <a:p/>
          <a:p>
            <a:r>
              <a:t>WHERE TO FIND THE RECORDED DEMO: AWS Academy Cloud Architecting → Module 10 (ELB / Auto Scaling) →</a:t>
            </a:r>
          </a:p>
          <a:p>
            <a:r>
              <a:t>slide 26, "Demo: Creating Scaling Policies for EC2 Auto Scaling", inside the ACA M10 instructor deck</a:t>
            </a:r>
          </a:p>
          <a:p>
            <a:r>
              <a:t>(original-materials/AWS-Instructor Presentations/…). Instructor-facing — screen it, don't distribute.</a:t>
            </a:r>
          </a:p>
          <a:p>
            <a:r>
              <a:t>Preview it and cue it to this slide before class.</a:t>
            </a:r>
          </a:p>
          <a:p/>
          <a:p>
            <a:r>
              <a:t>WHAT TO DEMONSTRATE (follow the recorded demo, then map to our build):</a:t>
            </a:r>
          </a:p>
          <a:p>
            <a:r>
              <a:t>1. Create a launch template and an Auto Scaling group with min / desired / max.</a:t>
            </a:r>
          </a:p>
          <a:p>
            <a:r>
              <a:t>2. Attach a target-tracking scaling policy (keep average CPU near a target).</a:t>
            </a:r>
          </a:p>
          <a:p>
            <a:r>
              <a:t>3. Watch the group launch and REGISTER instances with the load balancer.</a:t>
            </a:r>
          </a:p>
          <a:p/>
          <a:p>
            <a:r>
              <a:t>WHAT TO EMPHASISE:</a:t>
            </a:r>
          </a:p>
          <a:p>
            <a:r>
              <a:t>• Ours: min 1 / desired 1 / max 2, target-tracking CPU 70%, 300 s cooldown — point to each field.</a:t>
            </a:r>
          </a:p>
          <a:p>
            <a:r>
              <a:t>• The ALB target group + health checks — show instances registering and the health state flipping</a:t>
            </a:r>
          </a:p>
          <a:p>
            <a:r>
              <a:t>  healthy; that's what "behind the ALB" means concretely.</a:t>
            </a:r>
          </a:p>
          <a:p>
            <a:r>
              <a:t>• Foreshadow the TEST: driving CPU (or changing desired) makes it scale OUT then IN — students must</a:t>
            </a:r>
          </a:p>
          <a:p>
            <a:r>
              <a:t>  OBSERVE and EVIDENCE this, not just build it (PC 3.2).</a:t>
            </a:r>
          </a:p>
          <a:p/>
          <a:p>
            <a:r>
              <a:t>PREP: Learner Lab open with the C1 instance already built (the ASG needs something to scale), the</a:t>
            </a:r>
          </a:p>
          <a:p>
            <a:r>
              <a:t>supplied design handy, demo queued. ~8-10 min to screen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build AND the mandatory scaling test. The test is PC evidence, not optional;</a:t>
            </a:r>
          </a:p>
          <a:p>
            <a:r>
              <a:t>make that unmissable.</a:t>
            </a:r>
          </a:p>
          <a:p>
            <a:r>
              <a:t>Tell students, in these words: "Per the supplied design, put the Ledgerline instance behind an</a:t>
            </a:r>
          </a:p>
          <a:p>
            <a:r>
              <a:t>internal ALB in an Auto Scaling group — then TEST that it actually scales, and evidence the event."</a:t>
            </a:r>
          </a:p>
          <a:p>
            <a:r>
              <a:t>Steps (put on the board):</a:t>
            </a:r>
          </a:p>
          <a:p>
            <a:r>
              <a:t>1. Create the internal ALB + target group + HTTPS:443 listener.</a:t>
            </a:r>
          </a:p>
          <a:p>
            <a:r>
              <a:t>2. Create the launch template + ASG (min 1 / max 2, target-tracking CPU 70%).</a:t>
            </a:r>
          </a:p>
          <a:p>
            <a:r>
              <a:t>3. TEST scaling: drive the metric (or change desired capacity), watch it scale OUT then IN; fix any</a:t>
            </a:r>
          </a:p>
          <a:p>
            <a:r>
              <a:t>   errors you hit.</a:t>
            </a:r>
          </a:p>
          <a:p>
            <a:r>
              <a:t>4. Capture evidence — the ALB, target health, the ASG, and the scaling EVENT.</a:t>
            </a:r>
          </a:p>
          <a:p>
            <a:r>
              <a:t>Must produce: a working ALB+ASG matching the design AND named evidence of a scaling event (before/</a:t>
            </a:r>
          </a:p>
          <a:p>
            <a:r>
              <a:t>after capacity, the activity history), plus any errors fixed.</a:t>
            </a:r>
          </a:p>
          <a:p>
            <a:r>
              <a:t>Timing: ~25 min. Where they get stuck: forgetting the test (they build and stop — push them to</a:t>
            </a:r>
          </a:p>
          <a:p>
            <a:r>
              <a:t>trigger a scale event); target group showing unhealthy (usually the SG/port or health-check path);</a:t>
            </a:r>
          </a:p>
          <a:p>
            <a:r>
              <a:t>confusing "desired" with a policy. Circulate on the test above all.</a:t>
            </a:r>
          </a:p>
          <a:p>
            <a:r>
              <a:t>Share-back prompt: "Show me the moment it scaled — what triggered it and what did the ASG do?"</a:t>
            </a:r>
          </a:p>
          <a:p>
            <a:r>
              <a:t>No-leakage note: Ledgerline is PRACTICE; AT2 assesses the same scaling build + test on the LMS —</a:t>
            </a:r>
          </a:p>
          <a:p>
            <a:r>
              <a:t>comparable, not identical. PC 3.2 is tested here so it's rehearsed, not first-seen in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08a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workload tier — compute &amp; elasticity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Launch the application server, give it storage, and put it behind a load balancer that scales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Filling the network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workload moves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7 laid the network; now the workload goes inside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8a — compute + elasticity (this deck); 8b — the managed database +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Still building the supplied design, still capturing evidence as you go.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every AWS build task: watch the recorded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Compute — the application server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EC2 + EBS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server is — and a virtual one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server is a computer that runs your application for others to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Its size is four dimensions: CPU (processing), memory (RAM), disk (storage), network bandwidth.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 virtual machine (VM) is a software-defined server — you rent one and size it to the workload.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EC2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M06 S10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Amazon EC2 provides resizable virtual machines — called instances — in the cloud.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get full control of the guest OS (Windows or Linux).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launch an instance from an Amazon Machine Image (AMI) into a subnet, ready in minutes.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You control traffic to and from it with security groups.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Launching an instance — the key choices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M06 S11–S26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AMI — the template (OS + any pre-installed software).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Instance type — family.generation.size (e.g. m6i.large) sets CPU / RAM / storage / network.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Network — which VPC and subnet; IAM role — an instance profile so the app can call AWS services.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User data — a first-boot script; storage — root + data volumes; tags; security group; key pair.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Storage on the instance — EBS (block)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primer + AWS · ACF M06 S22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Block storage = a virtual disk attached to one instance (like a drive in a PC).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Amazon EBS is durable block storage — stop and start the instance and the data is still there.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(Instance store is ephemeral — it's lost when the instance stops.)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gp3 SSD volumes; you can resize or change type without downtime.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compute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EC2 Windows Server 2016 (m6i.large*, a C1 implementer decision), in private-app-a, no public IP.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instance role grants it access to RDS, S3 and CloudWatch — no stored keys.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EBS: gp3 root 80 GB + a gp3 data volume (footprint + 12-month growth + headroom).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Attach sg-app; tag per the naming standard. (*= implementer decision.)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Launch an EC2 instance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Use the Launch Instance Wizard: choose the AMI and instance type.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Set the network (VPC/subnet), IAM role, storage volumes, tags and security group.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Launch, then view the instance, its volumes and monitoring.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Resize the instance type / root volume to see how it changes.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(ACF M06 · EC2 (S35))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Launch the Ledgerline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per the supplied design, launch the application server: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AMI Windows Server 2016; instance type per the design; into private-app-a (no public IP)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attach the instance role + sg-app; add the gp3 data volume; tag it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Capture named evidence — the instance, its volumes, the Region.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Compute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EC2 = a resizable virtual machine, launched from an AMI into your subnet.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instance type sets CPU / RAM / storage / network — size it to the workload.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EBS = durable block storage attached to the instance (survives stop/start).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design; no public IP; capture evidence as you 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Elasticity — load balancing &amp; scaling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ALB + Auto Scaling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Load balancing &amp; scaling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primer + AWS · ACA M10 S19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load balancer spreads incoming traffic across several instances and checks their health.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Elasticity = the infrastructure grows and shrinks as demand changes.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Vertical scaling = replace with a bigger instance; horizontal scaling = add more instances.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Horizontal scaling is the cloud way — and the basis of high availability later.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Application Load Balancer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/ M10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An ALB receives requests on a listener (here HTTPS:443).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It forwards them to a target group and routes only to healthy targets (health checks).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It can be internet-facing or internal (this design is internal — staff over the VPN).</a:t>
            </a:r>
          </a:p>
        </p:txBody>
      </p:sp>
      <p:pic>
        <p:nvPicPr>
          <p:cNvPr id="5" name="Picture 4" descr="alb-target-inst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Auto Scaling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M10 S20–S24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An Auto Scaling group (ASG) manages a fleet of instances from a launch template.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Capacity settings: minimum / desired / maximum; it replaces unhealthy instances automatically.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Scaling policies — scheduled, dynamic (target-tracking), or step — adjust capacity.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It integrates with the ALB's health checks across Availability Zones.</a:t>
            </a:r>
          </a:p>
        </p:txBody>
      </p:sp>
      <p:pic>
        <p:nvPicPr>
          <p:cNvPr id="5" name="Picture 4" descr="08-asg-horizontal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58448"/>
            <a:ext cx="5120640" cy="2472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elasticity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Internal ALB, HTTPS:443 listener → a target group of the Ledgerline instances.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Auto Scaling Group: min 1 / desired 1 / max 2; target-tracking on CPU at 70%; 300 s cooldown.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Health checks: ELB + EC2 — an unhealthy instance is replaced.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This is baseline elasticity, single-AZ — cross-AZ resilience (HA) comes in AT3.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Create an Auto Scaling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launch template and an Auto Scaling group with min / desired / max.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Attach a target-tracking scaling policy (e.g. keep average CPU near a target).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Watch the group launch and register instances with the load balancer.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M10 · Scaling policies (S26))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Behind the ALB + ASG — then test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per the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internal ALB + target group + HTTPS:443 listener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launch template + ASG (min 1 / max 2, target-tracking CPU 70%)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Test scaling: drive the metric (or change desired capacity), watch it scale out then in; fix any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evidence — the ALB, target health, the ASG, and the scaling event.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Elasticity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load balancer spreads traffic and routes only to healthy targets.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Auto Scaling group scales horizontally between min and max on a policy.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Test that it scales and self-heals — that's PC evidence, not an optional extra.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Baseline here is single-AZ; cross-AZ high availability is AT3.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8a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EC2 is a virtual machine launched from an AMI; the instance type sizes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EBS gives the instance durable block storage.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Application Load Balancer spreads load and health-checks the targets.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Auto Scaling group scales horizontally to a policy and replaces failures.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design, test the scaling, and evidence everything.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8b — the data tier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managed database (Amazon RDS) and object / archive storage (Amazon S3 + Glacier) — the data the application relies on.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evidence log.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