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bridge from Topic 6 — set the shape of the day, don't teach yet.</a:t>
            </a:r>
          </a:p>
          <a:p>
            <a:r>
              <a:t>• Callback: Topic 6 laid the foundation (account, identity, the shared-responsibility line).</a:t>
            </a:r>
          </a:p>
          <a:p>
            <a:r>
              <a:t>Today you build the network the workload will sit inside — Topic 8 fills it.</a:t>
            </a:r>
          </a:p>
          <a:p>
            <a:r>
              <a:t>• Read the three parts off the slide: virtual network (VPC + subnets), traffic control</a:t>
            </a:r>
          </a:p>
          <a:p>
            <a:r>
              <a:t>(security groups), name resolution (DNS). Everything today maps to one of those three.</a:t>
            </a:r>
          </a:p>
          <a:p>
            <a:r>
              <a:t>• Hammer the two disciplines that continue from Topic 6 (bolded lines): still building to a</a:t>
            </a:r>
          </a:p>
          <a:p>
            <a:r>
              <a:t>SUPPLIED design (they're the builder, not the designer), still capturing evidence as they go.</a:t>
            </a:r>
          </a:p>
          <a:p>
            <a:r>
              <a:t>• Set the rhythm for every AWS task today: watch the demo, then do it yourself.</a:t>
            </a:r>
          </a:p>
          <a:p>
            <a:r>
              <a:t>Misconception to pre-empt: "we're designing the network." No — the topology is given; their job</a:t>
            </a:r>
          </a:p>
          <a:p>
            <a:r>
              <a:t>is to build it faithfully and evidence it, exactly as in AT2.</a:t>
            </a:r>
          </a:p>
          <a:p>
            <a:r>
              <a:t>Question to pose: "Topic 6 gave the workload an identity — what's still missing before an app can</a:t>
            </a:r>
          </a:p>
          <a:p>
            <a:r>
              <a:t>run?" (a network for it to live in, and rules for who reaches it).</a:t>
            </a:r>
          </a:p>
          <a:p>
            <a:r>
              <a:t>UoC/AT2 tie: this Topic develops the network portion of AT2 criterion A2 (§4.2 of the Deployment</a:t>
            </a:r>
          </a:p>
          <a:p>
            <a:r>
              <a:t>Report); it's the network tier the Topic 8 workload moves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vendor-neutral fundamentals BEFORE any AWS. Don't assume a networking baseline; some</a:t>
            </a:r>
          </a:p>
          <a:p>
            <a:r>
              <a:t>students meet IP/CIDR for the first time here. Use the IP/CIDR image.</a:t>
            </a:r>
          </a:p>
          <a:p>
            <a:r>
              <a:t>• Network = machines connected to share resources; it can be split into smaller pieces (subnets).</a:t>
            </a:r>
          </a:p>
          <a:p>
            <a:r>
              <a:t>• IP address = a unique numeric label for a machine (e.g. 10.0.0.17) — like a street address.</a:t>
            </a:r>
          </a:p>
          <a:p>
            <a:r>
              <a:t>• CIDR (the bolded line, the hard bit): 10.0.0.0/16 describes a RANGE; the /number says how many</a:t>
            </a:r>
          </a:p>
          <a:p>
            <a:r>
              <a:t>bits are fixed. Small /number = big range; big /number = small range. Give the /16-vs-/28 feel</a:t>
            </a:r>
          </a:p>
          <a:p>
            <a:r>
              <a:t>rather than the binary maths — that's enough for building to a supplied design.</a:t>
            </a:r>
          </a:p>
          <a:p>
            <a:r>
              <a:t>• Routers/gateways move traffic between networks — sets up the VPC gateways two slides on.</a:t>
            </a:r>
          </a:p>
          <a:p>
            <a:r>
              <a:t>Misconception to pre-empt: "the /16 is 16 addresses." No — the slash counts FIXED bits, not</a:t>
            </a:r>
          </a:p>
          <a:p>
            <a:r>
              <a:t>addresses; /16 is a large block, /28 a tiny one.</a:t>
            </a:r>
          </a:p>
          <a:p>
            <a:r>
              <a:t>Question to pose: "Which is the bigger network — a /16 or a /24?" (/16 — fewer fixed bits, more room).</a:t>
            </a:r>
          </a:p>
          <a:p>
            <a:r>
              <a:t>UoC/AT2 tie: ICTCLD401 KE 5 (virtual networks) — the vocabulary the VPC build rests on.</a:t>
            </a:r>
          </a:p>
          <a:p>
            <a:r>
              <a:t>[Primer slide — reuses ACF M05 S5–S9; keep it brisk, it's foundation for the AWS slides.]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after the primer — this is the core C1 concept. Teach it deliberately.</a:t>
            </a:r>
          </a:p>
          <a:p>
            <a:r>
              <a:t>• A VPC is a logically isolated slice of AWS that YOU define — your own private virtual network.</a:t>
            </a:r>
          </a:p>
          <a:p>
            <a:r>
              <a:t>• It belongs to ONE Region and can span the AZs in it; you size it with a CIDR block (largest /16,</a:t>
            </a:r>
          </a:p>
          <a:p>
            <a:r>
              <a:t>smallest /28). Stress: you can't change the CIDR later — sizing is a decision, not a default.</a:t>
            </a:r>
          </a:p>
          <a:p>
            <a:r>
              <a:t>• The bolded line: you divide the VPC into subnets, each in one AZ, classified public or private.</a:t>
            </a:r>
          </a:p>
          <a:p>
            <a:r>
              <a:t>"Public/private" is about whether there's a path to the internet, not about secrecy — flag it now</a:t>
            </a:r>
          </a:p>
          <a:p>
            <a:r>
              <a:t>because it drives the next activity.</a:t>
            </a:r>
          </a:p>
          <a:p>
            <a:r>
              <a:t>Misconception to pre-empt: "a VPC lives in an AZ." No — a VPC is Region-scoped and spans AZs; a</a:t>
            </a:r>
          </a:p>
          <a:p>
            <a:r>
              <a:t>SUBNET lives in one AZ. This is the Topic 1 Region/AZ hierarchy made concrete.</a:t>
            </a:r>
          </a:p>
          <a:p>
            <a:r>
              <a:t>Question to pose: "Our design's VPC is 10.0.0.0/16 — why give it that much room when Ledgerline is</a:t>
            </a:r>
          </a:p>
          <a:p>
            <a:r>
              <a:t>small?" (headroom to add subnets/tiers later without rebuilding).</a:t>
            </a:r>
          </a:p>
          <a:p>
            <a:r>
              <a:t>UoC/AT2 tie: ICTCLD401 PC 2.2 (create a virtual multi-tier network) + KE 5 → AT2 §4.2. This is the</a:t>
            </a:r>
          </a:p>
          <a:p>
            <a:r>
              <a:t>VPC students build to the supplied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how traffic actually reaches (or doesn't reach) a subnet — the mechanism behind public vs</a:t>
            </a:r>
          </a:p>
          <a:p>
            <a:r>
              <a:t>private. Use the VPC-anatomy diagram; walk it, don't read.</a:t>
            </a:r>
          </a:p>
          <a:p>
            <a:r>
              <a:t>• Route table = rules that direct a subnet's traffic; every table has a built-in LOCAL route so</a:t>
            </a:r>
          </a:p>
          <a:p>
            <a:r>
              <a:t>anything inside the VPC can talk without extra config.</a:t>
            </a:r>
          </a:p>
          <a:p>
            <a:r>
              <a:t>• Public subnet = a 0.0.0.0/0 route to an Internet Gateway → direct internet path.</a:t>
            </a:r>
          </a:p>
          <a:p>
            <a:r>
              <a:t>• Private subnet = no such route → no direct internet path. "Public/private is decided by the ROUTE</a:t>
            </a:r>
          </a:p>
          <a:p>
            <a:r>
              <a:t>TABLE" is the sentence to land.</a:t>
            </a:r>
          </a:p>
          <a:p>
            <a:r>
              <a:t>• The bolded line — NAT gateway: lets private resources reach OUT (e.g. patching) WITHOUT being</a:t>
            </a:r>
          </a:p>
          <a:p>
            <a:r>
              <a:t>reachable from the internet. Outbound-only. This is exactly the design's egress-only model.</a:t>
            </a:r>
          </a:p>
          <a:p>
            <a:r>
              <a:t>Misconception to pre-empt: "a NAT gateway lets the internet into the private subnet." No — it's</a:t>
            </a:r>
          </a:p>
          <a:p>
            <a:r>
              <a:t>one-way OUT; nothing inbound. Students routinely invert this.</a:t>
            </a:r>
          </a:p>
          <a:p>
            <a:r>
              <a:t>Question to pose: "The database subnet must never be reachable from the internet but still needs OS</a:t>
            </a:r>
          </a:p>
          <a:p>
            <a:r>
              <a:t>patches — how?" (private subnet, no IGW route, patches via the NAT gateway).</a:t>
            </a:r>
          </a:p>
          <a:p>
            <a:r>
              <a:t>UoC/AT2 tie: ICTCLD401 PC 2.2 / KE 5 (traffic routing) → AT2 §4.2 (subnets + routing).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quick sorting task that forces the public/private decision they'll make for real</a:t>
            </a:r>
          </a:p>
          <a:p>
            <a:r>
              <a:t>in the lab. Whole-room or pairs, fast.</a:t>
            </a:r>
          </a:p>
          <a:p>
            <a:r>
              <a:t>Tell students: "For each resource, decide the subnet it belongs in — public or private — and be</a:t>
            </a:r>
          </a:p>
          <a:p>
            <a:r>
              <a:t>ready to say WHY in one line."</a:t>
            </a:r>
          </a:p>
          <a:p>
            <a:r>
              <a:t>The four (put up): the database · a batch-processing job · the web/app server · a NAT gateway.</a:t>
            </a:r>
          </a:p>
          <a:p>
            <a:r>
              <a:t>Expected landing: database → private; batch job → private; web/app server → private (behind a load</a:t>
            </a:r>
          </a:p>
          <a:p>
            <a:r>
              <a:t>balancer); NAT gateway → public. The rule of thumb (bolded): anything that shouldn't be reachable</a:t>
            </a:r>
          </a:p>
          <a:p>
            <a:r>
              <a:t>from the internet goes private; only internet-facing entry points and the NAT gateway go public.</a:t>
            </a:r>
          </a:p>
          <a:p>
            <a:r>
              <a:t>Must produce: four placements, each with a one-line reason tied to "is it reachable from the net?"</a:t>
            </a:r>
          </a:p>
          <a:p>
            <a:r>
              <a:t>Timing: ~10 min then share. Where they get stuck: they put the web/app server in a public subnet</a:t>
            </a:r>
          </a:p>
          <a:p>
            <a:r>
              <a:t>because "users reach it" — push them to AWS's pattern (app tier private, behind a public ALB); the</a:t>
            </a:r>
          </a:p>
          <a:p>
            <a:r>
              <a:t>LOAD BALANCER is the public entry point, not the server.</a:t>
            </a:r>
          </a:p>
          <a:p>
            <a:r>
              <a:t>Share-back prompt: "Who put the app server public — what changes if it sits behind an ALB instead?"</a:t>
            </a:r>
          </a:p>
          <a:p>
            <a:r>
              <a:t>No-leakage note: reasoning practice on the Accounting design; AT2 assesses the same call on the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concept to the actual thing they build — the supplied design's network topology. Get</a:t>
            </a:r>
          </a:p>
          <a:p>
            <a:r>
              <a:t>them into the Solution Design on the intranet; this is the spec they build to.</a:t>
            </a:r>
          </a:p>
          <a:p>
            <a:r>
              <a:t>• The bolded line: open the Solution Design (§4.4) and study its network topology — you build to</a:t>
            </a:r>
          </a:p>
          <a:p>
            <a:r>
              <a:t>THAT, you don't invent it. Model reading a supplied design before touching the console.</a:t>
            </a:r>
          </a:p>
          <a:p>
            <a:r>
              <a:t>• Walk the specifics: VPC 10.0.0.0/16 (room to expand), DNS resolution + flow logs on; subnets in</a:t>
            </a:r>
          </a:p>
          <a:p>
            <a:r>
              <a:t>the first AZ — public-egress-a (NAT only), private-app-a (app + internal ALB), private-data-a</a:t>
            </a:r>
          </a:p>
          <a:p>
            <a:r>
              <a:t>(database).</a:t>
            </a:r>
          </a:p>
          <a:p>
            <a:r>
              <a:t>• Egress-only: the Internet Gateway is for outbound patching via NAT; NO inbound path from the</a:t>
            </a:r>
          </a:p>
          <a:p>
            <a:r>
              <a:t>internet. Staff reach the service over the campus Site-to-Site VPN; route tables set per tier.</a:t>
            </a:r>
          </a:p>
          <a:p>
            <a:r>
              <a:t>Misconception to pre-empt: "public-egress means the public can get in." No — it's the subnet that</a:t>
            </a:r>
          </a:p>
          <a:p>
            <a:r>
              <a:t>holds the NAT for OUTbound only; the name describes egress, not inbound access.</a:t>
            </a:r>
          </a:p>
          <a:p>
            <a:r>
              <a:t>Question to pose: "Where does a member of YAT staff actually connect from, if there's no inbound</a:t>
            </a:r>
          </a:p>
          <a:p>
            <a:r>
              <a:t>internet path?" (over the campus Site-to-Site VPN — a given in the design, not built here).</a:t>
            </a:r>
          </a:p>
          <a:p>
            <a:r>
              <a:t>UoC/AT2 tie: PC 2.2 → AT2 §4.2; this is the concrete topology their build + evidence must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for C2 — what a firewall / stateful packet filter IS, before AWS security groups. Bespoke</a:t>
            </a:r>
          </a:p>
          <a:p>
            <a:r>
              <a:t>primer (ACA M07 S23 analogy); some students have never met the concept.</a:t>
            </a:r>
          </a:p>
          <a:p>
            <a:r>
              <a:t>• A firewall filters traffic by rule — it decides what's allowed through.</a:t>
            </a:r>
          </a:p>
          <a:p>
            <a:r>
              <a:t>• The bolded analogy: a security group is like an apartment door — it lets in only the right key,</a:t>
            </a:r>
          </a:p>
          <a:p>
            <a:r>
              <a:t>protecting ONE resource (not the whole building). Contrast with a building's front gate (that's</a:t>
            </a:r>
          </a:p>
          <a:p>
            <a:r>
              <a:t>more like a network ACL — out of scope here, don't go there).</a:t>
            </a:r>
          </a:p>
          <a:p>
            <a:r>
              <a:t>• Traffic is identified by address + PORT: 443 = HTTPS, 1433 = SQL Server, 3389 = RDP. Give them</a:t>
            </a:r>
          </a:p>
          <a:p>
            <a:r>
              <a:t>these three because the design's rules use exactly them.</a:t>
            </a:r>
          </a:p>
          <a:p>
            <a:r>
              <a:t>• Least privilege: open only the ports the job needs, only to who needs them — the whole ethic of</a:t>
            </a:r>
          </a:p>
          <a:p>
            <a:r>
              <a:t>the next two slides.</a:t>
            </a:r>
          </a:p>
          <a:p>
            <a:r>
              <a:t>Misconception to pre-empt: "a firewall blocks bad traffic." More precisely, it DENIES everything by</a:t>
            </a:r>
          </a:p>
          <a:p>
            <a:r>
              <a:t>default and you ALLOW what's needed — it's a whitelist, not a bad-traffic detector.</a:t>
            </a:r>
          </a:p>
          <a:p>
            <a:r>
              <a:t>Question to pose: "The database speaks SQL Server on 1433 — who should be allowed to reach that</a:t>
            </a:r>
          </a:p>
          <a:p>
            <a:r>
              <a:t>port?" (only the app tier — nobody else; sets up the chain).</a:t>
            </a:r>
          </a:p>
          <a:p>
            <a:r>
              <a:t>UoC/AT2 tie: ICTCLD401 KE 9 (limiting network traffic within virtual networks) → AT2 §4.2.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for C2 — the properties that make security groups behave the way they do.</a:t>
            </a:r>
          </a:p>
          <a:p>
            <a:r>
              <a:t>Teach the three behaviours precisely; students lose marks on these in AT2.</a:t>
            </a:r>
          </a:p>
          <a:p>
            <a:r>
              <a:t>• A security group is a virtual firewall attached to a resource (an instance or interface) — per</a:t>
            </a:r>
          </a:p>
          <a:p>
            <a:r>
              <a:t>resource, not per subnet.</a:t>
            </a:r>
          </a:p>
          <a:p>
            <a:r>
              <a:t>• STATEFUL: allow traffic in and the return traffic is automatically allowed out — you don't write</a:t>
            </a:r>
          </a:p>
          <a:p>
            <a:r>
              <a:t>a matching outbound rule. This is the one they forget.</a:t>
            </a:r>
          </a:p>
          <a:p>
            <a:r>
              <a:t>• ALLOW-rules only, no deny; a brand-new SG blocks ALL inbound until you add rules (deny-by-default).</a:t>
            </a:r>
          </a:p>
          <a:p>
            <a:r>
              <a:t>• The bolded line — the big idea for this design: you can name ANOTHER security group as the source.</a:t>
            </a:r>
          </a:p>
          <a:p>
            <a:r>
              <a:t>That's how tiers chain (allow 443 only FROM the load balancer's SG), instead of hard-coding IPs.</a:t>
            </a:r>
          </a:p>
          <a:p>
            <a:r>
              <a:t>Misconception to pre-empt: "you must open the return port too." No — stateful means the reply is</a:t>
            </a:r>
          </a:p>
          <a:p>
            <a:r>
              <a:t>automatic. Also "source must be an IP range" — no, it can be another SG.</a:t>
            </a:r>
          </a:p>
          <a:p>
            <a:r>
              <a:t>Question to pose: "If the app server's IP changes, does a rule that allows FROM sg-app break?" (No —</a:t>
            </a:r>
          </a:p>
          <a:p>
            <a:r>
              <a:t>SG-as-source follows the membership, not the address; that's why we chain by SG).</a:t>
            </a:r>
          </a:p>
          <a:p>
            <a:r>
              <a:t>UoC/AT2 tie: KE 9 → AT2 §4.2 (the sg-alb → sg-app → sg-db chain). The table next shows the design's SGs.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step for C1+C2 — this is a RECORDED AWS demo; screen it, then have them build (activity</a:t>
            </a:r>
          </a:p>
          <a:p>
            <a:r>
              <a:t>next). teach → DEMONSTRATE → practice.</a:t>
            </a:r>
          </a:p>
          <a:p/>
          <a:p>
            <a:r>
              <a:t>WHERE TO FIND THE RECORDED DEMO: AWS Academy Cloud Architecting → Module 07 (Creating a Networking</a:t>
            </a:r>
          </a:p>
          <a:p>
            <a:r>
              <a:t>Environment) → slide 30, "Demo: Creating an Amazon VPC in the Console" (VPC + security groups +</a:t>
            </a:r>
          </a:p>
          <a:p>
            <a:r>
              <a:t>Elastic IP), inside the ACA M07 instructor deck (original-materials/AWS-Instructor Presentations/…).</a:t>
            </a:r>
          </a:p>
          <a:p>
            <a:r>
              <a:t>Instructor-facing — screen it in class, DON'T distribute to students. Preview it and cue it to this slide.</a:t>
            </a:r>
          </a:p>
          <a:p/>
          <a:p>
            <a:r>
              <a:t>WHAT TO DEMONSTRATE (follow the recorded demo, then relate each step to OUR design):</a:t>
            </a:r>
          </a:p>
          <a:p>
            <a:r>
              <a:t>1. Create a public and a private subnet, each with its own route table.</a:t>
            </a:r>
          </a:p>
          <a:p>
            <a:r>
              <a:t>2. Create an Internet Gateway, attach it to the VPC, configure the internet route.</a:t>
            </a:r>
          </a:p>
          <a:p>
            <a:r>
              <a:t>3. Create a NAT gateway, assign an Elastic IP, add the private-subnet route.</a:t>
            </a:r>
          </a:p>
          <a:p>
            <a:r>
              <a:t>4. Create a web-server security group and a database security group.</a:t>
            </a:r>
          </a:p>
          <a:p/>
          <a:p>
            <a:r>
              <a:t>WHAT TO EMPHASISE:</a:t>
            </a:r>
          </a:p>
          <a:p>
            <a:r>
              <a:t>• Public vs private is decided by the ROUTE TABLE (IGW route or not) — point at it as it's built.</a:t>
            </a:r>
          </a:p>
          <a:p>
            <a:r>
              <a:t>• NAT gateway is OUTBOUND only — say it as you add the Elastic IP; ties back to the egress-only design.</a:t>
            </a:r>
          </a:p>
          <a:p>
            <a:r>
              <a:t>• SG-as-source when you build the DB SG — allow from the web SG, not an IP; the payoff of the SG teach.</a:t>
            </a:r>
          </a:p>
          <a:p>
            <a:r>
              <a:t>• Narrate evidence capture — Region visible in every shot; students must screenshot for AT2, model it.</a:t>
            </a:r>
          </a:p>
          <a:p>
            <a:r>
              <a:t>Note: the demo builds a generic VPC; OUR design is 10.0.0.0/16 with three named subnets — flag the deltas.</a:t>
            </a:r>
          </a:p>
          <a:p>
            <a:r>
              <a:t>PREP: clean lab open, Solution Design §4.4 handy (names/CIDRs), demo queued. ~10–12 min to screen + narrate.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main C1+C2 hands-on build in the lab, straight after the demo. This is the AT2</a:t>
            </a:r>
          </a:p>
          <a:p>
            <a:r>
              <a:t>network build rehearsed on the practice system.</a:t>
            </a:r>
          </a:p>
          <a:p>
            <a:r>
              <a:t>Tell students, in these words: "Open the AWS Academy lab and the supplied Accounting design. Build</a:t>
            </a:r>
          </a:p>
          <a:p>
            <a:r>
              <a:t>the network tier exactly as the design specifies, and capture named evidence as you go."</a:t>
            </a:r>
          </a:p>
          <a:p>
            <a:r>
              <a:t>The task, step by step (put on the board / read out):</a:t>
            </a:r>
          </a:p>
          <a:p>
            <a:r>
              <a:t>1. Create the VPC 10.0.0.0/16.</a:t>
            </a:r>
          </a:p>
          <a:p>
            <a:r>
              <a:t>2. Create the three subnets: public-egress, private-app, private-data (first AZ).</a:t>
            </a:r>
          </a:p>
          <a:p>
            <a:r>
              <a:t>3. Create the Internet Gateway + NAT gateway + per-tier route tables — egress-only (no inbound path).</a:t>
            </a:r>
          </a:p>
          <a:p>
            <a:r>
              <a:t>4. Build the security-group chain: sg-alb → sg-app → sg-db (source = the upstream SG, not an IP).</a:t>
            </a:r>
          </a:p>
          <a:p>
            <a:r>
              <a:t>Must produce (the AT2 evidence): named screenshots of the VPC, subnets, route tables, and SG rules —</a:t>
            </a:r>
          </a:p>
          <a:p>
            <a:r>
              <a:t>Region visible in each.</a:t>
            </a:r>
          </a:p>
          <a:p>
            <a:r>
              <a:t>Timing: ~25 min. Set Region to us-east-1 first — [scenario: ap-southeast-2 (Sydney) | deploy:</a:t>
            </a:r>
          </a:p>
          <a:p>
            <a:r>
              <a:t>us-east-1] — visible in all evidence. Where they get stuck: forgetting the NAT route on the private</a:t>
            </a:r>
          </a:p>
          <a:p>
            <a:r>
              <a:t>table (private subnet can't reach out), and writing IP sources instead of SG-as-source — circulate for both.</a:t>
            </a:r>
          </a:p>
          <a:p>
            <a:r>
              <a:t>Share-back: ask one student to show their sg-db inbound rule; confirm it allows FROM sg-app only.</a:t>
            </a:r>
          </a:p>
          <a:p>
            <a:r>
              <a:t>No-leakage note: this practice uses the Accounting design; the assessed build uses a different system</a:t>
            </a:r>
          </a:p>
          <a:p>
            <a:r>
              <a:t>(public-facing ALB)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+ teach for C3 — how DNS resolves a name, then AWS Route 53. Use the DNS-flow image; don't</a:t>
            </a:r>
          </a:p>
          <a:p>
            <a:r>
              <a:t>assume they know what DNS does.</a:t>
            </a:r>
          </a:p>
          <a:p>
            <a:r>
              <a:t>• DNS translates a NAME (ledgerline.yat.internal) into the IP address machines actually use.</a:t>
            </a:r>
          </a:p>
          <a:p>
            <a:r>
              <a:t>• A resolver walks the DNS hierarchy and returns the address — we use NAMES not IPs because addresses</a:t>
            </a:r>
          </a:p>
          <a:p>
            <a:r>
              <a:t>change; the name is stable, what it points to can move.</a:t>
            </a:r>
          </a:p>
          <a:p>
            <a:r>
              <a:t>• The bolded line: Amazon Route 53 is AWS's highly available DNS service.</a:t>
            </a:r>
          </a:p>
          <a:p>
            <a:r>
              <a:t>• The distinction that matters for this design: PUBLIC hosted zone = internet-facing names; PRIVATE</a:t>
            </a:r>
          </a:p>
          <a:p>
            <a:r>
              <a:t>hosted zone = names that resolve ONLY inside your VPC. Ledgerline uses a private zone (staff-only).</a:t>
            </a:r>
          </a:p>
          <a:p>
            <a:r>
              <a:t>Misconception to pre-empt: "DNS is the internet / a website." No — it's the phone book that turns</a:t>
            </a:r>
          </a:p>
          <a:p>
            <a:r>
              <a:t>names into addresses; nothing about content.</a:t>
            </a:r>
          </a:p>
          <a:p>
            <a:r>
              <a:t>Question to pose: "If Ledgerline's server is rebuilt and gets a new IP, why don't staff bookmarks</a:t>
            </a:r>
          </a:p>
          <a:p>
            <a:r>
              <a:t>break?" (they use the NAME; DNS re-points it — that's the whole value).</a:t>
            </a:r>
          </a:p>
          <a:p>
            <a:r>
              <a:t>UoC/AT2 tie: ICTCLD401 KE 10 (purpose of DNS) → AT2 §4 (the design's internal name via Route 53).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DNS to the supplied design — the specific internal name + certificate students configure.</a:t>
            </a:r>
          </a:p>
          <a:p>
            <a:r>
              <a:t>Short, but it carries an implementer decision they must own.</a:t>
            </a:r>
          </a:p>
          <a:p>
            <a:r>
              <a:t>• Ledgerline gets an INTERNAL hostname in a PRIVATE hosted zone — staff-only, over the VPN; there is</a:t>
            </a:r>
          </a:p>
          <a:p>
            <a:r>
              <a:t>NO public internet name. Consistent with the egress-only, VPN-reached design.</a:t>
            </a:r>
          </a:p>
          <a:p>
            <a:r>
              <a:t>• An ACM TLS certificate secures HTTPS to that name — connect the cert to the name, not to an IP.</a:t>
            </a:r>
          </a:p>
          <a:p>
            <a:r>
              <a:t>• The bolded line: the exact hostname + certificate domain is implementer decision C8 — they CONFIRM</a:t>
            </a:r>
          </a:p>
          <a:p>
            <a:r>
              <a:t>it with YAT ICT, they don't guess it. Model treating an open design decision as a question to ask,</a:t>
            </a:r>
          </a:p>
          <a:p>
            <a:r>
              <a:t>not an assumption to make.</a:t>
            </a:r>
          </a:p>
          <a:p>
            <a:r>
              <a:t>Misconception to pre-empt: "internal name means no certificate needed." No — HTTPS/TLS still applies</a:t>
            </a:r>
          </a:p>
          <a:p>
            <a:r>
              <a:t>inside the VPN; internal ≠ unencrypted.</a:t>
            </a:r>
          </a:p>
          <a:p>
            <a:r>
              <a:t>Question to pose: "Why a private hosted zone here rather than a public one like a normal website?"</a:t>
            </a:r>
          </a:p>
          <a:p>
            <a:r>
              <a:t>(the service is staff-only over the VPN; no reason to publish the name to the internet).</a:t>
            </a:r>
          </a:p>
          <a:p>
            <a:r>
              <a:t>UoC/AT2 tie: KE 10 → AT2 §4 (DNS / name resolution). C8 is the kind of design decision AT2 expects</a:t>
            </a:r>
          </a:p>
          <a:p>
            <a:r>
              <a:t>them to surface and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test-and-fix discipline — introduced here (PC 2.6), completed in Topic 8/9 once compute</a:t>
            </a:r>
          </a:p>
          <a:p>
            <a:r>
              <a:t>exists. This is the "evidence it works", not just "it's built" mindset.</a:t>
            </a:r>
          </a:p>
          <a:p>
            <a:r>
              <a:t>• After building, CONFIRM reachability: external access IN (reach the service over the VPN) and access</a:t>
            </a:r>
          </a:p>
          <a:p>
            <a:r>
              <a:t>BETWEEN tiers (app → db). Building isn't done until it's tested.</a:t>
            </a:r>
          </a:p>
          <a:p>
            <a:r>
              <a:t>• Reachability Analyzer traces the path and NAMES the blocking component when something can't connect</a:t>
            </a:r>
          </a:p>
          <a:p>
            <a:r>
              <a:t>— it turns "it doesn't work" into "this rule is blocking it".</a:t>
            </a:r>
          </a:p>
          <a:p>
            <a:r>
              <a:t>• The bolded line — VPC flow logs show ACCEPT / REJECT; a REJECT is usually a missing SG rule or a</a:t>
            </a:r>
          </a:p>
          <a:p>
            <a:r>
              <a:t>missing route. Teach the reflex: read the log, find the block, fix, retest, capture.</a:t>
            </a:r>
          </a:p>
          <a:p>
            <a:r>
              <a:t>• Be honest about scope: full app → db testing completes in Topic 8 once compute exists — here they</a:t>
            </a:r>
          </a:p>
          <a:p>
            <a:r>
              <a:t>test what exists so far.</a:t>
            </a:r>
          </a:p>
          <a:p>
            <a:r>
              <a:t>Misconception to pre-empt: "no error means it's correct." Absence of an error isn't proof — you have</a:t>
            </a:r>
          </a:p>
          <a:p>
            <a:r>
              <a:t>to actively test the paths the design requires and evidence the result.</a:t>
            </a:r>
          </a:p>
          <a:p>
            <a:r>
              <a:t>Question to pose: "Staff can't reach Ledgerline over the VPN — what two things do you check first?"</a:t>
            </a:r>
          </a:p>
          <a:p>
            <a:r>
              <a:t>(the SG inbound rule and the route table / flow-log REJECT).</a:t>
            </a:r>
          </a:p>
          <a:p>
            <a:r>
              <a:t>UoC/AT2 tie: ICTCLD401 PC 2.6 (test access + fix errors, introduced) + PE 3 → AT2 A2/A10.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step for C3 — this is a LIVE instructor demo, not a recorded one. teach → DEMONSTRATE →</a:t>
            </a:r>
          </a:p>
          <a:p>
            <a:r>
              <a:t>practice.</a:t>
            </a:r>
          </a:p>
          <a:p/>
          <a:p>
            <a:r>
              <a:t>WHERE TO FIND THE RECORDED DEMO: none fits — the recorded Route 53 demos in the catalogue (ACA M10</a:t>
            </a:r>
          </a:p>
          <a:p>
            <a:r>
              <a:t>S52 Failover, S51 Simple Routing) are PUBLIC-routing demos and don't fit a PRIVATE hosted zone, so</a:t>
            </a:r>
          </a:p>
          <a:p>
            <a:r>
              <a:t>do this one LIVE in the console. (Per the demos catalogue, Topic 7's Route 53 need has no recorded</a:t>
            </a:r>
          </a:p>
          <a:p>
            <a:r>
              <a:t>private-zone demo — live is the intended fallback.)</a:t>
            </a:r>
          </a:p>
          <a:p/>
          <a:p>
            <a:r>
              <a:t>WHAT TO DEMONSTRATE (live, narrated):</a:t>
            </a:r>
          </a:p>
          <a:p>
            <a:r>
              <a:t>1. In Route 53, create / confirm the PRIVATE hosted zone for the internal domain.</a:t>
            </a:r>
          </a:p>
          <a:p>
            <a:r>
              <a:t>2. Add the record for the Ledgerline name (and note the ACM certificate).</a:t>
            </a:r>
          </a:p>
          <a:p>
            <a:r>
              <a:t>3. From a test point, resolve the name and check reachability.</a:t>
            </a:r>
          </a:p>
          <a:p>
            <a:r>
              <a:t>4. If it's blocked, read the flow logs / Reachability Analyzer and fix the SG or route — then retest.</a:t>
            </a:r>
          </a:p>
          <a:p/>
          <a:p>
            <a:r>
              <a:t>WHAT TO EMPHASISE:</a:t>
            </a:r>
          </a:p>
          <a:p>
            <a:r>
              <a:t>• PRIVATE zone — show it's associated with the VPC; the name resolves only inside, not on the internet.</a:t>
            </a:r>
          </a:p>
          <a:p>
            <a:r>
              <a:t>• Resolve the NAME, not the IP — prove DNS is doing its job.</a:t>
            </a:r>
          </a:p>
          <a:p>
            <a:r>
              <a:t>• Model the fix loop live: deliberately hit (or narrate) a REJECT, read it, fix the SG/route, retest —</a:t>
            </a:r>
          </a:p>
          <a:p>
            <a:r>
              <a:t>this is exactly the PC 2.6 discipline they're assessed on.</a:t>
            </a:r>
          </a:p>
          <a:p>
            <a:r>
              <a:t>• Narrate evidence capture — the DNS config and the test result both go in the log, Region visible.</a:t>
            </a:r>
          </a:p>
          <a:p>
            <a:r>
              <a:t>PREP: lab open with the Topic-7 network already built (or a prepared account), Solution Design C8</a:t>
            </a:r>
          </a:p>
          <a:p>
            <a:r>
              <a:t>handy for the hostname, Reachability Analyzer/flow logs ready to show. ~10 min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closing C3 hands-on: finish the network tier with DNS, then test what exists.</a:t>
            </a:r>
          </a:p>
          <a:p>
            <a:r>
              <a:t>Straight after the live demo.</a:t>
            </a:r>
          </a:p>
          <a:p>
            <a:r>
              <a:t>Tell students, in these words: "In the lab, finish the network tier — create the internal DNS name,</a:t>
            </a:r>
          </a:p>
          <a:p>
            <a:r>
              <a:t>then test the paths you can test so far and fix anything that's blocked. Capture evidence throughout."</a:t>
            </a:r>
          </a:p>
          <a:p>
            <a:r>
              <a:t>The task, step by step (put on the board / read out):</a:t>
            </a:r>
          </a:p>
          <a:p>
            <a:r>
              <a:t>1. Create the PRIVATE hosted zone + the record for the internal hostname (note the ACM cert; confirm</a:t>
            </a:r>
          </a:p>
          <a:p>
            <a:r>
              <a:t>the exact name is the C8 decision).</a:t>
            </a:r>
          </a:p>
          <a:p>
            <a:r>
              <a:t>2. Run reachability tests for what exists so far (the network paths; full app → db waits for Topic 8).</a:t>
            </a:r>
          </a:p>
          <a:p>
            <a:r>
              <a:t>3. If a test is blocked, read the flow logs / Reachability Analyzer, fix the SG or route, and retest.</a:t>
            </a:r>
          </a:p>
          <a:p>
            <a:r>
              <a:t>Must produce (the AT2 evidence): the DNS config screenshot AND a test result — plus a note of any fix</a:t>
            </a:r>
          </a:p>
          <a:p>
            <a:r>
              <a:t>made (what was blocked, what you changed).</a:t>
            </a:r>
          </a:p>
          <a:p>
            <a:r>
              <a:t>Timing: ~15 min. Where they get stuck: expecting to test app → db when there's no compute yet — scope</a:t>
            </a:r>
          </a:p>
          <a:p>
            <a:r>
              <a:t>them to the paths that exist; and forgetting to associate the private zone with the VPC (name won't</a:t>
            </a:r>
          </a:p>
          <a:p>
            <a:r>
              <a:t>resolve).</a:t>
            </a:r>
          </a:p>
          <a:p>
            <a:r>
              <a:t>Share-back: ask a student who hit a REJECT to narrate their fix loop — the fix, not just the pass, is</a:t>
            </a:r>
          </a:p>
          <a:p>
            <a:r>
              <a:t>the assessable skill.</a:t>
            </a:r>
          </a:p>
          <a:p>
            <a:r>
              <a:t>No-leakage note: practice on the Accounting design (internal name); AT2 assesses the same skill on the</a:t>
            </a:r>
          </a:p>
          <a:p>
            <a:r>
              <a:t>LMS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Network &amp; security base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the network tier — the VPC your workload lives in, the rules around it, and how it's found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Continuing the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foundation done — now the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6 set the foundation: the account, identity, and the shared-responsibility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Now you build the network the workload sits inside.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parts: the virtual network (VPC + subnets), traffic control (security groups), and name resolution (DNS).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working to the supplied design — and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build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Virtual network &amp; subnets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fabric your workload lives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Networking, the essentials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S5–S9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connects machines so they can share resources; it can be split into smaller pieces called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machine has an IP address — a unique numeric label (e.g. 10.0.0.17).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CIDR block describes a range of addresses: 10.0.0.0/16 — the /number says how many bits are fixed.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Traffic moves between networks through routers / gateways.</a:t>
            </a:r>
          </a:p>
        </p:txBody>
      </p:sp>
      <p:pic>
        <p:nvPicPr>
          <p:cNvPr id="5" name="Picture 4" descr="07-ip-ci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62619"/>
            <a:ext cx="5120640" cy="18642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VPC — your private network in AWS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S11 · ACA M07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VPC is a logically isolated section of AWS that you define — your own virtual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belongs to one Region and can span Availability Zones; you size it with a CIDR block (largest /16, smallest /28; you can't change it later).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divide the VPC into subnets — each in one AZ, classified public or private.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Routing: gateways &amp; route tables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S12–S16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route table holds rules that direct a subnet's traffic; every table has a built-in local route for inside-the-VPC traffic.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subnet → an Internet Gateway (a 0.0.0.0/0 route to the IGW) gives direct internet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Private subnet → no direct internet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NAT gateway lets private resources reach OUT (e.g. patching) without being reachable from the internet.</a:t>
            </a:r>
          </a:p>
        </p:txBody>
      </p:sp>
      <p:pic>
        <p:nvPicPr>
          <p:cNvPr id="5" name="Picture 4" descr="vpc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Public or private?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each resource, decide which subnet it belongs in — public or private: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database · a batch-processing job · the web/app server · a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Rule of thumb: anything that shouldn't be reachable from the internet goes private; only internet-facing entry points and the NAT gateway go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(AWS recommends even web/app tiers sit private, behind a load balancer.)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network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work from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Open the Solution Design for this engagement (on the intranet) and study its network topology (§4.4) — you build to that.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VPC 10.0.0.0/16 (room to expand); DNS resolution + flow logs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Subnets in the first Availability Zone: public-egress-a (NAT only) · private-app-a (app + internal ALB) · private-data-a (database).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Internet Gateway is egress-only — patching via NAT; no inbound path from the internet.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Staff reach the service over the campus Site-to-Site VPN; route tables set per tier.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virtual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logically isolated network in one Region, sized by a CIDR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Subnets split the VPC by tier and Availability Zone — public or private.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Route tables + IGW/NAT decide what reaches the internet — this design is egress-only.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topology; Region first (data residency).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Controlling traffic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may talk to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firewall does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S23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firewall filters network traffic by rule — it decides what's allowed through.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Think of a security group like an apartment door: it only lets in the tenant with the right key — it protects one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Traffic is identified by address + port: 443 = HTTPS, 1433 = SQL Server, 3389 = RDP.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open only the ports the job needs, only to who needs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S33–S35 · ACA M07 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security group is a virtual firewall attached to a resource (an instance or interface).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Stateful — if you allow traffic in, the return traffic is automatically allowed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Allow-rules only (no deny). A new SG blocks all inbound until you add rules.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 name another security group as the source — that's how you chain tiers (e.g. allow 443 only from the load balancer's SG).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least-privilege, chained tier-to-tier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Security group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Inbound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Outbound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sg-alb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HTTPS 443 from staff CIDR / VPN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to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sg-app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from sg-alb · RDP 3389 from MTS bastion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to sg-db · HTTPS via NAT · LDAPS to AD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sg-db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from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(none needed)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Source = another security group, not an IP range — the tiers chain. The targets (ALB, EC2, RDS) are launched in Topic 8; here you build the rule shells.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VPC and its security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public and a private subnet, each with its own route 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Internet Gateway, attach it to the VPC, and configure the internet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NAT gateway, assign an Elastic IP, and add the private-subnet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web-server security group and a database security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M07 · Creating a VPC (S30))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network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AWS Academy lab, per the supplied Accounting design, build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VPC 10.0.0.0/16; the three subnets (public-egress / private-app / private-data)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Internet Gateway + NAT gateway + per-tier route tables (egress-only)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sg-alb → sg-app → sg-db security-group chain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named evidence as you go — VPC, subnets, route tables, SG rules — Region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Found by name &amp; proven to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DNS · connectivity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DNS works — and Route 53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S49–S50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DNS translates a name (ledgerline.yat.internal) into the IP address computers actually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resolver asks the DNS hierarchy and gets the address back — we use names, not IPs, because addresses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Amazon Route 53 is AWS's highly available DNS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hosted zone = internet-facing names; private hosted zone = names that resolve only inside your VPC.</a:t>
            </a:r>
          </a:p>
        </p:txBody>
      </p:sp>
      <p:pic>
        <p:nvPicPr>
          <p:cNvPr id="5" name="Picture 4" descr="07-route53-dn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8729"/>
            <a:ext cx="5120640" cy="13120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name &amp; certificate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 · decision C8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gets an internal hostname in a private hosted zone — staff-only, over the VPN; no public internet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ACM TLS certificate secures HTTPS to that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exact hostname + certificate domain is implementer decision C8 — confirm it with YAT ICT.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Prove it works — test connectivity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S45, S41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After building, confirm reachability: external access in (reach the service over the VPN) and access between tiers (app → db).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Reachability Analyzer traces the path and names the blocking component when something can't connect.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VPC flow logs show ACCEPT / REJECT — a REJECT is usually a security-group rule or a missing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 it and retest; capture the test as evidence. (Full app → db testing completes in Topic 8, once compute exists.)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DNS record &amp; test reachability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Route 53, create / confirm the private hosted zone for the internal domain.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record for the Ledgerline name (and note the ACM certificate).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a test point, resolve the name and check reachability.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it's blocked, read the flow logs / Reachability Analyzer and fix the SG or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DNS + test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finish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private hosted zone + record for the internal hostname (note the ACM cert)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reachability tests for what exists so far; record the result and any fix you made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DNS config and the test result as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Names &amp;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maps names → addresses; use a Route 53 private hosted zone for an internal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test reachability and fix errors — flow logs + Reachability Analyzer show why traffic is blocked.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network tier is now ready for the workload to move 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isolated network, split into tiered subnets across an 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Routing + IGW/NAT control internet reach — this design is egress-only.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Security groups are stateful, least-privilege firewalls, chained tier-to-tier.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makes resources findable by name — a private hosted zone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it,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the workload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EC2 + EBS, the load balancer + Auto Scaling group, RDS and S3 — the workload that moves into the network you just built.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