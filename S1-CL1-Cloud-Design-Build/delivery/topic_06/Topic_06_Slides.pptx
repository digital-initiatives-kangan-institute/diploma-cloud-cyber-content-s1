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  <p:sldId id="272" r:id="rId24"/>
    <p:sldId id="273" r:id="rId25"/>
    <p:sldId id="274" r:id="rId26"/>
    <p:sldId id="275" r:id="rId27"/>
    <p:sldId id="276" r:id="rId28"/>
    <p:sldId id="277" r:id="rId29"/>
    <p:sldId id="278" r:id="rId30"/>
    <p:sldId id="279" r:id="rId31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notesMaster" Target="notesMasters/notesMaster1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Relationship Id="rId23" Type="http://schemas.openxmlformats.org/officeDocument/2006/relationships/slide" Target="slides/slide16.xml"/><Relationship Id="rId24" Type="http://schemas.openxmlformats.org/officeDocument/2006/relationships/slide" Target="slides/slide17.xml"/><Relationship Id="rId25" Type="http://schemas.openxmlformats.org/officeDocument/2006/relationships/slide" Target="slides/slide18.xml"/><Relationship Id="rId26" Type="http://schemas.openxmlformats.org/officeDocument/2006/relationships/slide" Target="slides/slide19.xml"/><Relationship Id="rId27" Type="http://schemas.openxmlformats.org/officeDocument/2006/relationships/slide" Target="slides/slide20.xml"/><Relationship Id="rId28" Type="http://schemas.openxmlformats.org/officeDocument/2006/relationships/slide" Target="slides/slide21.xml"/><Relationship Id="rId29" Type="http://schemas.openxmlformats.org/officeDocument/2006/relationships/slide" Target="slides/slide22.xml"/><Relationship Id="rId30" Type="http://schemas.openxmlformats.org/officeDocument/2006/relationships/slide" Target="slides/slide23.xml"/><Relationship Id="rId31" Type="http://schemas.openxmlformats.org/officeDocument/2006/relationships/slide" Target="slides/slide24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1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2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Frame this as the pivot of the whole cluster — AT1 was advice on paper; AT2 is a build in AWS.</a:t>
            </a:r>
          </a:p>
          <a:p>
            <a:r>
              <a:t>Set the mode, don't teach IAM yet.</a:t>
            </a:r>
          </a:p>
          <a:p>
            <a:r>
              <a:t>• The shift (bolded line): they now work to a design they did NOT write — read it, build it</a:t>
            </a:r>
          </a:p>
          <a:p>
            <a:r>
              <a:t>faithfully, resist the urge to redesign it. This is a new professional posture.</a:t>
            </a:r>
          </a:p>
          <a:p>
            <a:r>
              <a:t>• The second new discipline: capture evidence AS they build. The Deployment Report is made from</a:t>
            </a:r>
          </a:p>
          <a:p>
            <a:r>
              <a:t>what they screenshot live — you cannot reconstruct it after the fact.</a:t>
            </a:r>
          </a:p>
          <a:p>
            <a:r>
              <a:t>• Scope this Topic: the FOUNDATION tier only — account &amp; Region, identity &amp; access, shared</a:t>
            </a:r>
          </a:p>
          <a:p>
            <a:r>
              <a:t>responsibility. Network, compute and the report come in Topics 7–10.</a:t>
            </a:r>
          </a:p>
          <a:p>
            <a:r>
              <a:t>• Set the rhythm for every AWS task today: watch the demo, THEN do it yourself.</a:t>
            </a:r>
          </a:p>
          <a:p>
            <a:r>
              <a:t>Misconception to pre-empt: "we're finally free to build whatever we think is best." No — the whole</a:t>
            </a:r>
          </a:p>
          <a:p>
            <a:r>
              <a:t>skill being assessed is faithful implementation of a supplied design, not invention.</a:t>
            </a:r>
          </a:p>
          <a:p>
            <a:r>
              <a:t>Question to pose: "What changes about your job when the design is already written and handed to you?"</a:t>
            </a:r>
          </a:p>
          <a:p>
            <a:r>
              <a:t>(you become the builder/implementer, and your judgement shows in the open decisions + the evidence).</a:t>
            </a:r>
          </a:p>
          <a:p>
            <a:r>
              <a:t>UoC/AT2 tie: opens the AT2 arc — ICTCLD401 (primary) + ICTCLD502 (partial); everything today feeds</a:t>
            </a:r>
          </a:p>
          <a:p>
            <a:r>
              <a:t>the foundation-tier build narrative (criterion A2) + the evidence appendices (A9/A10).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AWS-sourced (ACA M02) — use the diagram to install the three-role picture, then land where THEY sit.</a:t>
            </a:r>
          </a:p>
          <a:p>
            <a:r>
              <a:t>• Walk the chain off the visual: the customer sets the REQUIREMENTS → the architect produces the</a:t>
            </a:r>
          </a:p>
          <a:p>
            <a:r>
              <a:t>DESIGN → the delivery crew BUILDS it. Three distinct roles, one hand-off line between each.</a:t>
            </a:r>
          </a:p>
          <a:p>
            <a:r>
              <a:t>• Drive the accent-bold point: in AT2 they are the DELIVERY CREW. The design is already done; their</a:t>
            </a:r>
          </a:p>
          <a:p>
            <a:r>
              <a:t>job starts at "build it," not "decide it."</a:t>
            </a:r>
          </a:p>
          <a:p>
            <a:r>
              <a:t>• Callback to AT1: there they were doing the architect/advisor work; now they step one role down the</a:t>
            </a:r>
          </a:p>
          <a:p>
            <a:r>
              <a:t>chain and execute. Same engagement, different seat.</a:t>
            </a:r>
          </a:p>
          <a:p>
            <a:r>
              <a:t>Misconception to pre-empt: that "architecture" means they get to make the big calls. Here the big</a:t>
            </a:r>
          </a:p>
          <a:p>
            <a:r>
              <a:t>calls are made — architecture literacy is what lets them READ the design correctly and build true to it.</a:t>
            </a:r>
          </a:p>
          <a:p>
            <a:r>
              <a:t>Question to pose: "If the customer, architect and builder are three roles, which one are you in AT2 —</a:t>
            </a:r>
          </a:p>
          <a:p>
            <a:r>
              <a:t>and what does that mean you must NOT do?" (builder; don't rewrite the design).</a:t>
            </a:r>
          </a:p>
          <a:p>
            <a:r>
              <a:t>UoC/AT2 tie: frames the whole foundation-build (A2); establishes the working-to-a-supplied-design</a:t>
            </a:r>
          </a:p>
          <a:p>
            <a:r>
              <a:t>mode that the next slide makes concrete.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Bespoke — the heart of the AT2 mode. Teach the discipline of building faithfully to someone else's design.</a:t>
            </a:r>
          </a:p>
          <a:p>
            <a:r>
              <a:t>• Rule one: read the design end to end BEFORE touching the console. You cannot build faithfully to a</a:t>
            </a:r>
          </a:p>
          <a:p>
            <a:r>
              <a:t>document you have only skimmed the first page of.</a:t>
            </a:r>
          </a:p>
          <a:p>
            <a:r>
              <a:t>• Rule two: build exactly what it specifies. The only decisions that are yours are the ones the design</a:t>
            </a:r>
          </a:p>
          <a:p>
            <a:r>
              <a:t>deliberately LEAVES OPEN — the implementer decisions (labelled C1–C8 in the supplied design).</a:t>
            </a:r>
          </a:p>
          <a:p>
            <a:r>
              <a:t>• The accent-bold line: an "implementer decision" is precisely where their judgement is ASSESSED.</a:t>
            </a:r>
          </a:p>
          <a:p>
            <a:r>
              <a:t>Everywhere else, deviating from the design is an error, not initiative.</a:t>
            </a:r>
          </a:p>
          <a:p>
            <a:r>
              <a:t>Misconception to pre-empt: "if I can build it a better way, I should." No — unrequested cleverness is</a:t>
            </a:r>
          </a:p>
          <a:p>
            <a:r>
              <a:t>marked down. The skill is fidelity; judgement is shown only in the open decisions, and must be justified.</a:t>
            </a:r>
          </a:p>
          <a:p>
            <a:r>
              <a:t>Question to pose: "You spot what you think is a better instance type than the design names — do you</a:t>
            </a:r>
          </a:p>
          <a:p>
            <a:r>
              <a:t>change it?" (No — unless it's an open implementer decision; otherwise build as specified).</a:t>
            </a:r>
          </a:p>
          <a:p>
            <a:r>
              <a:t>UoC/AT2 tie: ICTCLD401 PE 1/PE 2 — the built artefacts are the evidence; this establishes the standard</a:t>
            </a:r>
          </a:p>
          <a:p>
            <a:r>
              <a:t>the whole foundation build (A2) is judged against.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The first real build decision — and it's compliance, not preference. Applied from Topic 1's residency teaching.</a:t>
            </a:r>
          </a:p>
          <a:p>
            <a:r>
              <a:t>• Region is decision number one because everything you create is Region-scoped — get it wrong and every</a:t>
            </a:r>
          </a:p>
          <a:p>
            <a:r>
              <a:t>resource lands in the wrong place.</a:t>
            </a:r>
          </a:p>
          <a:p>
            <a:r>
              <a:t>• WHY Sydney: the design mandates ap-southeast-2 because financial records + PII must stay ONSHORE.</a:t>
            </a:r>
          </a:p>
          <a:p>
            <a:r>
              <a:t>This is the residency driver from Topic 1 now being BUILT, not just argued.</a:t>
            </a:r>
          </a:p>
          <a:p>
            <a:r>
              <a:t>• The lab reality (be explicit): in the AWS Academy Learner Lab they deploy to us-east-1 —</a:t>
            </a:r>
          </a:p>
          <a:p>
            <a:r>
              <a:t>[scenario: ap-southeast-2 (Sydney) | deploy: us-east-1]. Same build; only the location label changes.</a:t>
            </a:r>
          </a:p>
          <a:p>
            <a:r>
              <a:t>Set the console Region before creating anything.</a:t>
            </a:r>
          </a:p>
          <a:p>
            <a:r>
              <a:t>• Accent-bold: deploy everything to the lab's Region (us-east-1) and make sure the Region is VISIBLE in</a:t>
            </a:r>
          </a:p>
          <a:p>
            <a:r>
              <a:t>every screenshot — the assessor checks it matches.</a:t>
            </a:r>
          </a:p>
          <a:p>
            <a:r>
              <a:t>Misconception to pre-empt: that the us-east-1 substitution means residency doesn't matter. It matters</a:t>
            </a:r>
          </a:p>
          <a:p>
            <a:r>
              <a:t>conceptually (design says Sydney, for legal reasons); the lab just can't host that Region.</a:t>
            </a:r>
          </a:p>
          <a:p>
            <a:r>
              <a:t>Question to pose: "Why is Region the FIRST thing you set, before you create a single resource?"</a:t>
            </a:r>
          </a:p>
          <a:p>
            <a:r>
              <a:t>(resources are Region-scoped; the design mandates it for data residency).</a:t>
            </a:r>
          </a:p>
          <a:p>
            <a:r>
              <a:t>UoC/AT2 tie: ICTCLD401 PC 1.4 (access the account per business requirements); evidenced in Appendix A</a:t>
            </a:r>
          </a:p>
          <a:p>
            <a:r>
              <a:t>with the Region visible (A9/A10).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Bespoke — the consulting discipline that makes AT2 pass or fail. Teach it as part of the build, not a write-up.</a:t>
            </a:r>
          </a:p>
          <a:p>
            <a:r>
              <a:t>• The core truth: the Deployment Report is EVIDENCED from what they capture live. You cannot go back</a:t>
            </a:r>
          </a:p>
          <a:p>
            <a:r>
              <a:t>and reconstruct a screenshot of a resource you built an hour ago in a state you've since changed.</a:t>
            </a:r>
          </a:p>
          <a:p>
            <a:r>
              <a:t>• Concretely: the AT2 template LISTS named screenshots — capture each one as you build that resource,</a:t>
            </a:r>
          </a:p>
          <a:p>
            <a:r>
              <a:t>with the Region + the named resource visible in frame.</a:t>
            </a:r>
          </a:p>
          <a:p>
            <a:r>
              <a:t>• Configs too: export IAM policies, SG rules, VPC settings AS you go → they land in Appendix B.</a:t>
            </a:r>
          </a:p>
          <a:p>
            <a:r>
              <a:t>• Accent-bold rhythm: build → capture → move on. Evidence is a step in the build, not homework afterwards.</a:t>
            </a:r>
          </a:p>
          <a:p>
            <a:r>
              <a:t>Misconception to pre-empt: "I'll build it all, then screenshot at the end." By then the console state</a:t>
            </a:r>
          </a:p>
          <a:p>
            <a:r>
              <a:t>has moved on and half the evidence is gone or inconsistent. Capture is live or it's lost.</a:t>
            </a:r>
          </a:p>
          <a:p>
            <a:r>
              <a:t>Question to pose: "You finish the whole build, then realise you never screenshotted the group creation</a:t>
            </a:r>
          </a:p>
          <a:p>
            <a:r>
              <a:t>— can you get that evidence back?" (not the live creation state — you'd have to rebuild; capture as you go).</a:t>
            </a:r>
          </a:p>
          <a:p>
            <a:r>
              <a:t>UoC/AT2 tie: ICTCLD401 PE 1/PE 2; feeds Appendices A (screenshots) + B (config exports) — criteria A9/A10.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DEMONSTRATION (educator-led — no recorded demo fits this one; screen a live walk-through or a</a:t>
            </a:r>
          </a:p>
          <a:p>
            <a:r>
              <a:t>pre-recorded screen capture you make). Show, then they replicate on the next slide.</a:t>
            </a:r>
          </a:p>
          <a:p/>
          <a:p>
            <a:r>
              <a:t>WHAT TO DEMONSTRATE:</a:t>
            </a:r>
          </a:p>
          <a:p>
            <a:r>
              <a:t>1. Sign in to the AWS Academy Learner Lab and set the Region to us-east-1 —</a:t>
            </a:r>
          </a:p>
          <a:p>
            <a:r>
              <a:t>[scenario: ap-southeast-2 (Sydney) | deploy: us-east-1]. Say the substitution out loud as you do it.</a:t>
            </a:r>
          </a:p>
          <a:p>
            <a:r>
              <a:t>2. Confirm the identity you're building as (the lab's provided credentials).</a:t>
            </a:r>
          </a:p>
          <a:p>
            <a:r>
              <a:t>3. Capture the FIRST named screenshot — the Region selector — into the evidence log, Region visible.</a:t>
            </a:r>
          </a:p>
          <a:p>
            <a:r>
              <a:t>4. Show where configuration exports come from (the point in the console you'll later export policies/SGs).</a:t>
            </a:r>
          </a:p>
          <a:p/>
          <a:p>
            <a:r>
              <a:t>WHAT TO EMPHASISE:</a:t>
            </a:r>
          </a:p>
          <a:p>
            <a:r>
              <a:t>• Region BEFORE anything else — model setting it first, deliberately.</a:t>
            </a:r>
          </a:p>
          <a:p>
            <a:r>
              <a:t>• Narrate the evidence capture: name the file the way the AT2 template names it; students must mirror this.</a:t>
            </a:r>
          </a:p>
          <a:p>
            <a:r>
              <a:t>• This is the workspace they'll build the whole foundation in — get it set up correctly once.</a:t>
            </a:r>
          </a:p>
          <a:p/>
          <a:p>
            <a:r>
              <a:t>PREP: clean Learner Lab open, evidence-log/template handy, the Accounting Baseline Design ready to open.</a:t>
            </a:r>
          </a:p>
          <a:p>
            <a:r>
              <a:t>~5–8 min to screen + narrate before the activity.</a:t>
            </a:r>
          </a:p>
          <a:p/>
          <a:p>
            <a:r>
              <a:t>WHERE TO FIND THE RECORDED DEMO: none — per the demos catalogue, no recorded demo fits the C1</a:t>
            </a:r>
          </a:p>
          <a:p>
            <a:r>
              <a:t>account/Region/evidence workspace setup, so this demo stays live/bespoke (screen your own capture).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Facilitation — the first hands-on step of the cumulative practice build. They do what you just demoed.</a:t>
            </a:r>
          </a:p>
          <a:p>
            <a:r>
              <a:t>Tell students, in these words: "In the AWS Academy Learner Lab, set yourself up to build the Accounting</a:t>
            </a:r>
          </a:p>
          <a:p>
            <a:r>
              <a:t>System foundation. Set the Region, confirm your identity, capture your first evidence, then open and skim</a:t>
            </a:r>
          </a:p>
          <a:p>
            <a:r>
              <a:t>the supplied design. Work in the lab account and capture evidence as you go."</a:t>
            </a:r>
          </a:p>
          <a:p>
            <a:r>
              <a:t>The task, step by step (put on the board):</a:t>
            </a:r>
          </a:p>
          <a:p>
            <a:r>
              <a:t>1. Set the console Region to us-east-1 — [scenario: ap-southeast-2 (Sydney) | deploy: us-east-1] — and</a:t>
            </a:r>
          </a:p>
          <a:p>
            <a:r>
              <a:t>confirm it in your evidence.</a:t>
            </a:r>
          </a:p>
          <a:p>
            <a:r>
              <a:t>2. Confirm your build identity.</a:t>
            </a:r>
          </a:p>
          <a:p>
            <a:r>
              <a:t>3. Capture your first named evidence screenshot (Region visible) into your evidence log.</a:t>
            </a:r>
          </a:p>
          <a:p>
            <a:r>
              <a:t>4. Open the supplied Accounting Baseline Solution Design and skim it end to end.</a:t>
            </a:r>
          </a:p>
          <a:p>
            <a:r>
              <a:t>MUST PRODUCE: the first evidence screenshot (Region visible) in the evidence log, and a workspace set to</a:t>
            </a:r>
          </a:p>
          <a:p>
            <a:r>
              <a:t>us-east-1, ready to build.</a:t>
            </a:r>
          </a:p>
          <a:p>
            <a:r>
              <a:t>TIMING: ~15 min. Where they get stuck: the Learner Lab login/console hand-off (have the lab-launch steps</a:t>
            </a:r>
          </a:p>
          <a:p>
            <a:r>
              <a:t>ready), and forgetting to set Region before poking around — circulate and check the Region indicator.</a:t>
            </a:r>
          </a:p>
          <a:p>
            <a:r>
              <a:t>SHARE-BACK: ask one student to show their first evidence screenshot; confirm the Region is visible in frame.</a:t>
            </a:r>
          </a:p>
          <a:p>
            <a:r>
              <a:t>No-leakage note: this practice runs on the Accounting System (Ledgerline); the ASSESSED AT2 build is a</a:t>
            </a:r>
          </a:p>
          <a:p>
            <a:r>
              <a:t>different system — comparable, not identical. Keep them anchored to the Accounting baseline here.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AWS-sourced (ACF M04) — teach IAM as the account's "who can do what." Use the components diagram.</a:t>
            </a:r>
          </a:p>
          <a:p>
            <a:r>
              <a:t>Walk the four in order — user → group → role → policy — stressing the split: the first two are about</a:t>
            </a:r>
          </a:p>
          <a:p>
            <a:r>
              <a:t>PEOPLE, the last two about PERMISSIONS.</a:t>
            </a:r>
          </a:p>
          <a:p>
            <a:r>
              <a:t>• IAM user — one identity per person or app. Emphasise: never share a login; each person their own user</a:t>
            </a:r>
          </a:p>
          <a:p>
            <a:r>
              <a:t>(that is what gives you accountability and an audit trail).</a:t>
            </a:r>
          </a:p>
          <a:p>
            <a:r>
              <a:t>• IAM group — how you manage permissions at scale: set permissions ONCE on the group, not per person.</a:t>
            </a:r>
          </a:p>
          <a:p>
            <a:r>
              <a:t>Analogy: a team like "Finance" — add someone and they inherit the access.</a:t>
            </a:r>
          </a:p>
          <a:p>
            <a:r>
              <a:t>• IAM role — the one students find hardest. Unlike a user it has NO permanent credentials; it is ASSUMED</a:t>
            </a:r>
          </a:p>
          <a:p>
            <a:r>
              <a:t>temporarily. Key example for this build: an EC2 instance assumes a role to reach RDS/S3 — no passwords</a:t>
            </a:r>
          </a:p>
          <a:p>
            <a:r>
              <a:t>or keys stored on the server.</a:t>
            </a:r>
          </a:p>
          <a:p>
            <a:r>
              <a:t>• IAM policy — the JSON that says what is allowed. Everything is DENIED by default; a policy grants. You</a:t>
            </a:r>
          </a:p>
          <a:p>
            <a:r>
              <a:t>attach policies to groups/roles, never the JSON straight onto a person.</a:t>
            </a:r>
          </a:p>
          <a:p>
            <a:r>
              <a:t>Misconception to pre-empt: students conflate authentication (who you are = user) with authorisation</a:t>
            </a:r>
          </a:p>
          <a:p>
            <a:r>
              <a:t>(what you can do = policy). Say both words out loud.</a:t>
            </a:r>
          </a:p>
          <a:p>
            <a:r>
              <a:t>Question to pose: "The web server needs to read from S3 — do we give it a username and password?"</a:t>
            </a:r>
          </a:p>
          <a:p>
            <a:r>
              <a:t>(No — a role. This sets up the next slides.)</a:t>
            </a:r>
          </a:p>
          <a:p>
            <a:r>
              <a:t>UoC/AT2 tie: ICTCLD401 KE 8 + PC 1.5; this identity foundation is what the AT2 build is assessed on (A2);</a:t>
            </a:r>
          </a:p>
          <a:p>
            <a:r>
              <a:t>the specific groups to build come two slides 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AWS-sourced (ACF M04) — the rules that turn IAM components into a secure configuration. Teach as a checklist they'll apply.</a:t>
            </a:r>
          </a:p>
          <a:p>
            <a:r>
              <a:t>• Attach policies to GROUPS, assign users to groups — never policy straight onto an individual. This is</a:t>
            </a:r>
          </a:p>
          <a:p>
            <a:r>
              <a:t>the manageability rule from the last slide, now stated as practice.</a:t>
            </a:r>
          </a:p>
          <a:p>
            <a:r>
              <a:t>• Least privilege: grant only what the task needs; everything is denied by default, so you add exactly</a:t>
            </a:r>
          </a:p>
          <a:p>
            <a:r>
              <a:t>what's required and no more.</a:t>
            </a:r>
          </a:p>
          <a:p>
            <a:r>
              <a:t>• MFA on human users; protect the root user (use it only when you must). Root is the master key — you</a:t>
            </a:r>
          </a:p>
          <a:p>
            <a:r>
              <a:t>lock it away, you don't build with it.</a:t>
            </a:r>
          </a:p>
          <a:p>
            <a:r>
              <a:t>• Accent-bold: roles, NOT long-lived keys, for services — an EC2 instance ASSUMES a role to reach RDS/S3.</a:t>
            </a:r>
          </a:p>
          <a:p>
            <a:r>
              <a:t>This is the payoff of the "role has no password" point.</a:t>
            </a:r>
          </a:p>
          <a:p>
            <a:r>
              <a:t>Misconception to pre-empt: "least privilege means I'll just grant AdministratorAccess to save time and</a:t>
            </a:r>
          </a:p>
          <a:p>
            <a:r>
              <a:t>tighten it later." No — that IS the failure; you grant narrow from the start. Assessors look for it.</a:t>
            </a:r>
          </a:p>
          <a:p>
            <a:r>
              <a:t>Question to pose: "Why attach the policy to the group and not to each user directly?" (set once, everyone</a:t>
            </a:r>
          </a:p>
          <a:p>
            <a:r>
              <a:t>in the group inherits it; add/remove people without touching policies — manageable + auditable).</a:t>
            </a:r>
          </a:p>
          <a:p>
            <a:r>
              <a:t>UoC/AT2 tie: ICTCLD401 PC 1.5 (access protocols/policies) + KE 8; these best practices are exactly what</a:t>
            </a:r>
          </a:p>
          <a:p>
            <a:r>
              <a:t>the foundation-tier IAM build (A2) is marked against, incl. the Essential Eight MFA requirement.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The design made concrete — teach the FOUR groups + role they must build, and why each exists. This is the spec for the activity.</a:t>
            </a:r>
          </a:p>
          <a:p>
            <a:r>
              <a:t>• Walk each with its purpose (don't just read names):</a:t>
            </a:r>
          </a:p>
          <a:p>
            <a:r>
              <a:t>- YAT-ICT-Admins — read-only infra + console AFTER handover (YAT runs it once MTS leaves).</a:t>
            </a:r>
          </a:p>
          <a:p>
            <a:r>
              <a:t>- MTS-Consultants — build admin (the consultants doing the work now).</a:t>
            </a:r>
          </a:p>
          <a:p>
            <a:r>
              <a:t>- Application-Service — the EC2 INSTANCE ROLE (not a human group) — RDS + S3 + CloudWatch access.</a:t>
            </a:r>
          </a:p>
          <a:p>
            <a:r>
              <a:t>- Finance-Auditors — read-only on logs / metrics / configs.</a:t>
            </a:r>
          </a:p>
          <a:p>
            <a:r>
              <a:t>• Accent-bold: enforce MFA on the human groups — an Essential Eight requirement they're assessed on.</a:t>
            </a:r>
          </a:p>
          <a:p>
            <a:r>
              <a:t>• Flag the trap: Application-Service is a ROLE, not a user group — it's the one students try to add a</a:t>
            </a:r>
          </a:p>
          <a:p>
            <a:r>
              <a:t>person to. It exists so the server can reach other services without stored credentials.</a:t>
            </a:r>
          </a:p>
          <a:p>
            <a:r>
              <a:t>Misconception to pre-empt: that all four are the same KIND of thing. Three are human groups; one is a</a:t>
            </a:r>
          </a:p>
          <a:p>
            <a:r>
              <a:t>service role — different creation path, different purpose.</a:t>
            </a:r>
          </a:p>
          <a:p>
            <a:r>
              <a:t>Question to pose: "Why does YAT-ICT-Admins get read-only, when they'll own the system after handover?"</a:t>
            </a:r>
          </a:p>
          <a:p>
            <a:r>
              <a:t>(least privilege during the build; they get operational access at handover, not build access now).</a:t>
            </a:r>
          </a:p>
          <a:p>
            <a:r>
              <a:t>UoC/AT2 tie: ICTCLD401 PC 1.6 (configure users/groups/permissions) + PC 2.1 (create users/groups) +</a:t>
            </a:r>
          </a:p>
          <a:p>
            <a:r>
              <a:t>PC 1.7 (assign security responsibilities); this exact model is what the A2 IAM build is scored 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DEMONSTRATION (recorded demo available). Screen it, then relate each step to OUR build. Then they</a:t>
            </a:r>
          </a:p>
          <a:p>
            <a:r>
              <a:t>replicate on the next slide.</a:t>
            </a:r>
          </a:p>
          <a:p/>
          <a:p>
            <a:r>
              <a:t>WHAT TO DEMONSTRATE (follow the recorded demo, then tie each step to the Accounting build):</a:t>
            </a:r>
          </a:p>
          <a:p>
            <a:r>
              <a:t>1. Create a group and attach a least-privilege policy.</a:t>
            </a:r>
          </a:p>
          <a:p>
            <a:r>
              <a:t>2. Create a user, add them to the group, enable MFA.</a:t>
            </a:r>
          </a:p>
          <a:p>
            <a:r>
              <a:t>3. Create the EC2 instance role (Application-Service) and attach its policy.</a:t>
            </a:r>
          </a:p>
          <a:p>
            <a:r>
              <a:t>4. Capture the IAM evidence screenshot (groups list + a user showing MFA enabled).</a:t>
            </a:r>
          </a:p>
          <a:p/>
          <a:p>
            <a:r>
              <a:t>WHAT TO EMPHASISE:</a:t>
            </a:r>
          </a:p>
          <a:p>
            <a:r>
              <a:t>• Permissions go on the GROUP, then the user joins it — not policy-on-user. Show the difference explicitly.</a:t>
            </a:r>
          </a:p>
          <a:p>
            <a:r>
              <a:t>• MFA — show the "assign MFA device" step; students routinely skip it and it's an Essential Eight</a:t>
            </a:r>
          </a:p>
          <a:p>
            <a:r>
              <a:t>requirement they're assessed on.</a:t>
            </a:r>
          </a:p>
          <a:p>
            <a:r>
              <a:t>• The role has NO password — point out there are no long-lived credentials; the instance assumes it.</a:t>
            </a:r>
          </a:p>
          <a:p>
            <a:r>
              <a:t>This is the payoff of the "IAM components" teaching slide.</a:t>
            </a:r>
          </a:p>
          <a:p>
            <a:r>
              <a:t>• Narrate the evidence capture — students must screenshot as they go for AT2; model it here.</a:t>
            </a:r>
          </a:p>
          <a:p/>
          <a:p>
            <a:r>
              <a:t>PREP: clean lab account open, the Accounting Baseline Design handy (for the group names), recorded demo</a:t>
            </a:r>
          </a:p>
          <a:p>
            <a:r>
              <a:t>queued. ~8–10 min to screen + narrate before the activity.</a:t>
            </a:r>
          </a:p>
          <a:p/>
          <a:p>
            <a:r>
              <a:t>WHERE TO FIND THE RECORDED DEMO: "Recorded demo: IAM" — ACF M04 · S31 (AWS Academy Cloud Foundations,</a:t>
            </a:r>
          </a:p>
          <a:p>
            <a:r>
              <a:t>Module 04 "AWS Cloud Security"), inside the instructor deck (original-materials/AWS-Instructor</a:t>
            </a:r>
          </a:p>
          <a:p>
            <a:r>
              <a:t>Presentations/…). Instructor-facing — screen it in class, don't distribute to students. Preview and cue</a:t>
            </a:r>
          </a:p>
          <a:p>
            <a:r>
              <a:t>it to this slide before class.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Facilitation — the C2 practice; they build the design's IAM foundation in the lab, evidencing as they go.</a:t>
            </a:r>
          </a:p>
          <a:p>
            <a:r>
              <a:t>Tell students, in these words: "Open the lab and the Accounting Baseline Design. Build the IAM foundation</a:t>
            </a:r>
          </a:p>
          <a:p>
            <a:r>
              <a:t>for the MTS engagement — exactly the groups and role in the design. Work in the lab account and capture</a:t>
            </a:r>
          </a:p>
          <a:p>
            <a:r>
              <a:t>evidence as you go."</a:t>
            </a:r>
          </a:p>
          <a:p>
            <a:r>
              <a:t>The task, step by step (put on the board / read out):</a:t>
            </a:r>
          </a:p>
          <a:p>
            <a:r>
              <a:t>1. Create the four groups from the design: YAT-ICT-Admins, MTS-Consultants, Application-Service (this one</a:t>
            </a:r>
          </a:p>
          <a:p>
            <a:r>
              <a:t>is the EC2 ROLE, not a human group), Finance-Auditors.</a:t>
            </a:r>
          </a:p>
          <a:p>
            <a:r>
              <a:t>2. Attach a least-privilege policy to each — only what that group needs.</a:t>
            </a:r>
          </a:p>
          <a:p>
            <a:r>
              <a:t>3. Create at least one user in each HUMAN group and enable MFA on it.</a:t>
            </a:r>
          </a:p>
          <a:p>
            <a:r>
              <a:t>4. Create the Application-Service role for the EC2 instance (RDS + S3 + CloudWatch access).</a:t>
            </a:r>
          </a:p>
          <a:p>
            <a:r>
              <a:t>5. Capture the IAM evidence: the groups list, a user with MFA on, and the role.</a:t>
            </a:r>
          </a:p>
          <a:p>
            <a:r>
              <a:t>MUST PRODUCE (the AT2 evidence): screenshots of the groups list, one user with MFA enabled, and the role</a:t>
            </a:r>
          </a:p>
          <a:p>
            <a:r>
              <a:t>with its policy.</a:t>
            </a:r>
          </a:p>
          <a:p>
            <a:r>
              <a:t>TIMING: ~30 min. Circulate — the two common sticking points are (a) forgetting MFA and (b) trying to</a:t>
            </a:r>
          </a:p>
          <a:p>
            <a:r>
              <a:t>attach a policy straight to a user.</a:t>
            </a:r>
          </a:p>
          <a:p>
            <a:r>
              <a:t>SHARE-BACK: ask one student to show their groups list; confirm least privilege (no AdministratorAccess</a:t>
            </a:r>
          </a:p>
          <a:p>
            <a:r>
              <a:t>shortcuts).</a:t>
            </a:r>
          </a:p>
          <a:p>
            <a:r>
              <a:t>No-leakage note: this practice uses the Accounting baseline; the assessed AT2 task uses a different system</a:t>
            </a:r>
          </a:p>
          <a:p>
            <a:r>
              <a:t>— comparable, not identical.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AWS-sourced (ACF M04) — teach the security dividing line. Use the shared-responsibility diagram.</a:t>
            </a:r>
          </a:p>
          <a:p>
            <a:r>
              <a:t>• The split, stated cleanly: AWS handles security OF the cloud — physical data centres, hardware, the</a:t>
            </a:r>
          </a:p>
          <a:p>
            <a:r>
              <a:t>network, the virtualisation infrastructure. YOU handle security IN the cloud — the EC2 OS (patching),</a:t>
            </a:r>
          </a:p>
          <a:p>
            <a:r>
              <a:t>your applications, security-group config, IAM, account management, and your DATA.</a:t>
            </a:r>
          </a:p>
          <a:p>
            <a:r>
              <a:t>• Accent-bold: knowing exactly where the line falls tells you what you must CONFIGURE versus what you can</a:t>
            </a:r>
          </a:p>
          <a:p>
            <a:r>
              <a:t>RELY ON. That's the whole practical value of the model.</a:t>
            </a:r>
          </a:p>
          <a:p>
            <a:r>
              <a:t>• Anchor it to the build: on our foundation, IAM and MFA sit firmly on the "you" side — which is why the</a:t>
            </a:r>
          </a:p>
          <a:p>
            <a:r>
              <a:t>last two slides mattered.</a:t>
            </a:r>
          </a:p>
          <a:p>
            <a:r>
              <a:t>Misconception to pre-empt: "it's the cloud, so AWS secures it all." No — AWS secures the infrastructure;</a:t>
            </a:r>
          </a:p>
          <a:p>
            <a:r>
              <a:t>misconfiguring a security group or skipping MFA is entirely on YOU, and that's where breaches happen.</a:t>
            </a:r>
          </a:p>
          <a:p>
            <a:r>
              <a:t>Question to pose: "The EC2 operating system needs a security patch — whose job is that, AWS's or yours?"</a:t>
            </a:r>
          </a:p>
          <a:p>
            <a:r>
              <a:t>(yours, on IaaS — sets up the next slide where the line shifts by service).</a:t>
            </a:r>
          </a:p>
          <a:p>
            <a:r>
              <a:t>UoC/AT2 tie: ICTCLD401 PC 1.2 + KE 7 (user/business/vendor responsibilities under shared models) +</a:t>
            </a:r>
          </a:p>
          <a:p>
            <a:r>
              <a:t>ICTCLD502 PC 1.3; the shared-responsibility assignment is marked under A2 (section detail A4).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AWS-sourced (ACF M04) — the crucial nuance: the responsibility line is not fixed; it MOVES by service type.</a:t>
            </a:r>
          </a:p>
          <a:p>
            <a:r>
              <a:t>• IaaS (EC2): you manage MORE — the OS, patching, security groups, access controls. Maximum control,</a:t>
            </a:r>
          </a:p>
          <a:p>
            <a:r>
              <a:t>maximum responsibility.</a:t>
            </a:r>
          </a:p>
          <a:p>
            <a:r>
              <a:t>• PaaS (RDS): AWS handles the OS, database patching, the firewall, DR; you manage your DATA + access. The</a:t>
            </a:r>
          </a:p>
          <a:p>
            <a:r>
              <a:t>line has shifted toward AWS.</a:t>
            </a:r>
          </a:p>
          <a:p>
            <a:r>
              <a:t>• Accent-bold: more managed = more on AWS. The SERVICE TYPE decides where the line falls — this is the</a:t>
            </a:r>
          </a:p>
          <a:p>
            <a:r>
              <a:t>IaaS/PaaS spectrum from Topic 1 now expressed as a security boundary.</a:t>
            </a:r>
          </a:p>
          <a:p>
            <a:r>
              <a:t>Misconception to pre-empt: that shared responsibility is one fixed diagram. It isn't — the same account</a:t>
            </a:r>
          </a:p>
          <a:p>
            <a:r>
              <a:t>can have EC2 (line well toward you) and RDS (line well toward AWS) side by side; you must map each service.</a:t>
            </a:r>
          </a:p>
          <a:p>
            <a:r>
              <a:t>Question to pose: "SQL Server needs patching — who does it if it's on an EC2 instance vs on RDS?" (EC2:</a:t>
            </a:r>
          </a:p>
          <a:p>
            <a:r>
              <a:t>you; RDS: AWS — same software, different service, different owner).</a:t>
            </a:r>
          </a:p>
          <a:p>
            <a:r>
              <a:t>UoC/AT2 tie: ICTCLD502 PC 1.3 (identify the LEVEL of shared responsibility per business needs) + KE 7;</a:t>
            </a:r>
          </a:p>
          <a:p>
            <a:r>
              <a:t>this per-service reasoning is exactly what the build assignment (next activity) requires.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Bespoke — apply the model to the actual Accounting foundation. This is the bridge from concept to the activity.</a:t>
            </a:r>
          </a:p>
          <a:p>
            <a:r>
              <a:t>• The task in one line: map each layer of the Accounting build to its owner — AWS · YAT ICT · MTS (build)</a:t>
            </a:r>
          </a:p>
          <a:p>
            <a:r>
              <a:t>· end-users. Four possible owners, not two.</a:t>
            </a:r>
          </a:p>
          <a:p>
            <a:r>
              <a:t>• Point them at the source: the supplied design's security section NAMES the split; their job is to apply</a:t>
            </a:r>
          </a:p>
          <a:p>
            <a:r>
              <a:t>it, not invent it (the working-to-a-design discipline again).</a:t>
            </a:r>
          </a:p>
          <a:p>
            <a:r>
              <a:t>• Worked examples (the sub-bullet): AWS patches the RDS host · YAT patches the EC2 OS · MTS sets the IAM +</a:t>
            </a:r>
          </a:p>
          <a:p>
            <a:r>
              <a:t>SG config at build time. Note how the owner changes by both service AND lifecycle stage (build vs run).</a:t>
            </a:r>
          </a:p>
          <a:p>
            <a:r>
              <a:t>Misconception to pre-empt: that it's a binary AWS-vs-"you." Here "you" splits three ways — YAT ICT (the</a:t>
            </a:r>
          </a:p>
          <a:p>
            <a:r>
              <a:t>ongoing owner), MTS (the builder, now), and end-users. Who's responsible depends on the phase too.</a:t>
            </a:r>
          </a:p>
          <a:p>
            <a:r>
              <a:t>Question to pose: "Security-group configuration — who owns it during the build, and who owns it after</a:t>
            </a:r>
          </a:p>
          <a:p>
            <a:r>
              <a:t>handover?" (MTS sets it at build; YAT ICT owns it operationally after — draws out the build/run split).</a:t>
            </a:r>
          </a:p>
          <a:p>
            <a:r>
              <a:t>UoC/AT2 tie: ICTCLD401 PC 1.7 + KE 7 + ICTCLD502 PC 1.3; produces the input for the Deployment Report's</a:t>
            </a:r>
          </a:p>
          <a:p>
            <a:r>
              <a:t>security section (A2 / A4).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Facilitation — the C3 practice. Note this one is ANALYSIS, not a console build (say so up front).</a:t>
            </a:r>
          </a:p>
          <a:p>
            <a:r>
              <a:t>Tell students, in these words: "No building this time — an analysis task in the style of the AWS scenario.</a:t>
            </a:r>
          </a:p>
          <a:p>
            <a:r>
              <a:t>For each part of the Accounting foundation, name who is responsible — AWS, or you (YAT ICT / MTS) — using</a:t>
            </a:r>
          </a:p>
          <a:p>
            <a:r>
              <a:t>the supplied design and the shared-responsibility model. Write it up as about half a page."</a:t>
            </a:r>
          </a:p>
          <a:p>
            <a:r>
              <a:t>The parts to assign (put up):</a:t>
            </a:r>
          </a:p>
          <a:p>
            <a:r>
              <a:t>1. EC2 OS patching · security-group settings · application config · IAM / MFA</a:t>
            </a:r>
          </a:p>
          <a:p>
            <a:r>
              <a:t>2. SQL Server patching on RDS · physical data-centre security · S3 bucket access config · data</a:t>
            </a:r>
          </a:p>
          <a:p>
            <a:r>
              <a:t>MUST PRODUCE: a ~½-page written assignment naming the responsible party for each part, justified against</a:t>
            </a:r>
          </a:p>
          <a:p>
            <a:r>
              <a:t>the design + the model — this feeds their Deployment Report's security section.</a:t>
            </a:r>
          </a:p>
          <a:p>
            <a:r>
              <a:t>TIMING: ~15 min, then discuss as a group.</a:t>
            </a:r>
          </a:p>
          <a:p>
            <a:r>
              <a:t>Where they get stuck: the ones that shift by service — SQL Server patching is AWS's on RDS but would be</a:t>
            </a:r>
          </a:p>
          <a:p>
            <a:r>
              <a:t>theirs on EC2; physical security is always AWS. Circulate and probe the reasoning, not just the answer.</a:t>
            </a:r>
          </a:p>
          <a:p>
            <a:r>
              <a:t>SHARE-BACK: take the two trickiest (RDS patching, physical data-centre security), get the room's answer,</a:t>
            </a:r>
          </a:p>
          <a:p>
            <a:r>
              <a:t>and confirm WHY — the reasoning is the assessable skill.</a:t>
            </a:r>
          </a:p>
          <a:p>
            <a:r>
              <a:t>No-leakage note: practice on the Accounting foundation; AT2 assesses the same reasoning on a different</a:t>
            </a:r>
          </a:p>
          <a:p>
            <a:r>
              <a:t>system — comparable, not identical.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2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notesSlide" Target="../notesSlides/notesSlide8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2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notesSlide" Target="../notesSlides/notesSlide13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4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5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6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2A2929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411480" cy="6858000"/>
          </a:xfrm>
          <a:prstGeom prst="rect">
            <a:avLst/>
          </a:prstGeom>
          <a:solidFill>
            <a:srgbClr val="EDAB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14400" y="2011680"/>
            <a:ext cx="10515600" cy="2377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2000" b="1" i="0">
                <a:solidFill>
                  <a:srgbClr val="FBB900"/>
                </a:solidFill>
                <a:latin typeface="Roboto"/>
              </a:rPr>
              <a:t>TOPIC 06</a:t>
            </a:r>
          </a:p>
          <a:p>
            <a:pPr>
              <a:spcBef>
                <a:spcPts val="800"/>
              </a:spcBef>
            </a:pPr>
            <a:r>
              <a:rPr sz="4600" b="1" i="0">
                <a:solidFill>
                  <a:srgbClr val="FFFFFF"/>
                </a:solidFill>
                <a:latin typeface="Roboto"/>
              </a:rPr>
              <a:t>Build foundations</a:t>
            </a:r>
          </a:p>
          <a:p>
            <a:pPr>
              <a:spcBef>
                <a:spcPts val="1200"/>
              </a:spcBef>
            </a:pPr>
            <a:r>
              <a:rPr sz="2200" b="0" i="1">
                <a:solidFill>
                  <a:srgbClr val="D1D1D1"/>
                </a:solidFill>
                <a:latin typeface="Roboto Light"/>
              </a:rPr>
              <a:t>Implement the supplied design in AWS — account, identity, and the shared-responsibility line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5943600"/>
            <a:ext cx="73152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600" b="1" i="0">
                <a:solidFill>
                  <a:srgbClr val="FFFFFF"/>
                </a:solidFill>
                <a:latin typeface="Roboto"/>
              </a:rPr>
              <a:t>Kangan </a:t>
            </a:r>
            <a:r>
              <a:rPr sz="1600" b="1" i="0">
                <a:solidFill>
                  <a:srgbClr val="EDAB0C"/>
                </a:solidFill>
                <a:latin typeface="Roboto"/>
              </a:rPr>
              <a:t>Institute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9601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2800" b="1" i="0">
                <a:solidFill>
                  <a:srgbClr val="2A2929"/>
                </a:solidFill>
                <a:latin typeface="Roboto"/>
              </a:rPr>
              <a:t>From advising to building</a:t>
            </a:r>
          </a:p>
          <a:p>
            <a:pPr>
              <a:spcBef>
                <a:spcPts val="200"/>
              </a:spcBef>
            </a:pPr>
            <a:r>
              <a:rPr sz="1800" b="0" i="1">
                <a:solidFill>
                  <a:srgbClr val="D68E10"/>
                </a:solidFill>
                <a:latin typeface="Roboto Light"/>
              </a:rPr>
              <a:t>AT1 was advice; now you build</a:t>
            </a:r>
          </a:p>
        </p:txBody>
      </p:sp>
      <p:sp>
        <p:nvSpPr>
          <p:cNvPr id="3" name="Rectangle 2"/>
          <p:cNvSpPr/>
          <p:nvPr/>
        </p:nvSpPr>
        <p:spPr>
          <a:xfrm>
            <a:off x="658368" y="1371600"/>
            <a:ext cx="1463040" cy="50800"/>
          </a:xfrm>
          <a:prstGeom prst="rect">
            <a:avLst/>
          </a:prstGeom>
          <a:solidFill>
            <a:srgbClr val="EDAB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58368" y="1691640"/>
            <a:ext cx="10881360" cy="44805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marL="0" indent="0">
              <a:lnSpc>
                <a:spcPct val="105000"/>
              </a:lnSpc>
              <a:spcBef>
                <a:spcPts val="0"/>
              </a:spcBef>
              <a:spcAft>
                <a:spcPts val="1000"/>
              </a:spcAft>
            </a:pPr>
            <a:r>
              <a:rPr sz="2400" b="1" i="0">
                <a:solidFill>
                  <a:srgbClr val="EDAB0C"/>
                </a:solidFill>
                <a:latin typeface="Roboto"/>
              </a:rPr>
              <a:t>■  </a:t>
            </a:r>
            <a:r>
              <a:rPr sz="2400" b="0" i="0">
                <a:solidFill>
                  <a:srgbClr val="2A2929"/>
                </a:solidFill>
                <a:latin typeface="Roboto"/>
              </a:rPr>
              <a:t>You implement a supplied design in the AWS lab — and evidence it.</a:t>
            </a:r>
          </a:p>
          <a:p>
            <a:pPr marL="0" indent="0">
              <a:lnSpc>
                <a:spcPct val="105000"/>
              </a:lnSpc>
              <a:spcBef>
                <a:spcPts val="0"/>
              </a:spcBef>
              <a:spcAft>
                <a:spcPts val="1000"/>
              </a:spcAft>
            </a:pPr>
            <a:r>
              <a:rPr sz="2400" b="1" i="0">
                <a:solidFill>
                  <a:srgbClr val="EDAB0C"/>
                </a:solidFill>
                <a:latin typeface="Roboto"/>
              </a:rPr>
              <a:t>■  </a:t>
            </a:r>
            <a:r>
              <a:rPr sz="2400" b="0" i="0">
                <a:solidFill>
                  <a:srgbClr val="2A2929"/>
                </a:solidFill>
                <a:latin typeface="Roboto"/>
              </a:rPr>
              <a:t>New mode: work to a design you didn't write — read it, build it faithfully.</a:t>
            </a:r>
          </a:p>
          <a:p>
            <a:pPr marL="0" indent="0">
              <a:lnSpc>
                <a:spcPct val="105000"/>
              </a:lnSpc>
              <a:spcBef>
                <a:spcPts val="0"/>
              </a:spcBef>
              <a:spcAft>
                <a:spcPts val="1000"/>
              </a:spcAft>
            </a:pPr>
            <a:r>
              <a:rPr sz="2400" b="1" i="0">
                <a:solidFill>
                  <a:srgbClr val="EDAB0C"/>
                </a:solidFill>
                <a:latin typeface="Roboto"/>
              </a:rPr>
              <a:t>■  </a:t>
            </a:r>
            <a:r>
              <a:rPr sz="2400" b="0" i="0">
                <a:solidFill>
                  <a:srgbClr val="2A2929"/>
                </a:solidFill>
                <a:latin typeface="Roboto"/>
              </a:rPr>
              <a:t>New discipline: capture evidence as you go — the Deployment Report is built from it.</a:t>
            </a:r>
          </a:p>
          <a:p>
            <a:pPr marL="0" indent="0">
              <a:lnSpc>
                <a:spcPct val="105000"/>
              </a:lnSpc>
              <a:spcBef>
                <a:spcPts val="0"/>
              </a:spcBef>
              <a:spcAft>
                <a:spcPts val="1000"/>
              </a:spcAft>
            </a:pPr>
            <a:r>
              <a:rPr sz="2400" b="1" i="0">
                <a:solidFill>
                  <a:srgbClr val="EDAB0C"/>
                </a:solidFill>
                <a:latin typeface="Roboto"/>
              </a:rPr>
              <a:t>■  </a:t>
            </a:r>
            <a:r>
              <a:rPr sz="2400" b="0" i="0">
                <a:solidFill>
                  <a:srgbClr val="2A2929"/>
                </a:solidFill>
                <a:latin typeface="Roboto"/>
              </a:rPr>
              <a:t>This Topic — the foundation tier: account &amp; Region, identity &amp; access, shared responsibility.</a:t>
            </a:r>
          </a:p>
          <a:p>
            <a:pPr marL="0" indent="0">
              <a:lnSpc>
                <a:spcPct val="105000"/>
              </a:lnSpc>
              <a:spcBef>
                <a:spcPts val="0"/>
              </a:spcBef>
              <a:spcAft>
                <a:spcPts val="1000"/>
              </a:spcAft>
            </a:pPr>
            <a:r>
              <a:rPr sz="2400" b="1" i="0">
                <a:solidFill>
                  <a:srgbClr val="EDAB0C"/>
                </a:solidFill>
                <a:latin typeface="Roboto"/>
              </a:rPr>
              <a:t>■  </a:t>
            </a:r>
            <a:r>
              <a:rPr sz="2400" b="0" i="0">
                <a:solidFill>
                  <a:srgbClr val="2A2929"/>
                </a:solidFill>
                <a:latin typeface="Roboto"/>
              </a:rPr>
              <a:t>For every AWS task: watch the demo, then do it yourself.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565392"/>
            <a:ext cx="12191695" cy="38100"/>
          </a:xfrm>
          <a:prstGeom prst="rect">
            <a:avLst/>
          </a:prstGeom>
          <a:solidFill>
            <a:srgbClr val="EDAB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02920" y="6400800"/>
            <a:ext cx="5486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100" b="1" i="0">
                <a:solidFill>
                  <a:srgbClr val="2A2929"/>
                </a:solidFill>
                <a:latin typeface="Roboto"/>
              </a:rPr>
              <a:t>Kangan </a:t>
            </a:r>
            <a:r>
              <a:rPr sz="1100" b="1" i="0">
                <a:solidFill>
                  <a:srgbClr val="D68E10"/>
                </a:solidFill>
                <a:latin typeface="Roboto"/>
              </a:rPr>
              <a:t>Institute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515600" y="6400800"/>
            <a:ext cx="11887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 i="0">
                <a:solidFill>
                  <a:srgbClr val="7A7A7A"/>
                </a:solidFill>
                <a:latin typeface="Roboto"/>
              </a:rPr>
              <a:t>1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3931920" cy="6858000"/>
          </a:xfrm>
          <a:prstGeom prst="rect">
            <a:avLst/>
          </a:prstGeom>
          <a:solidFill>
            <a:srgbClr val="9226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2103120"/>
            <a:ext cx="3291840" cy="21945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3000" b="1" i="0">
                <a:solidFill>
                  <a:srgbClr val="FFFFFF"/>
                </a:solidFill>
                <a:latin typeface="Roboto"/>
              </a:rPr>
              <a:t>01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480560" y="2468880"/>
            <a:ext cx="7132320" cy="21945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600" b="1" i="0">
                <a:solidFill>
                  <a:srgbClr val="92268F"/>
                </a:solidFill>
                <a:latin typeface="Roboto"/>
              </a:rPr>
              <a:t>SECTION</a:t>
            </a:r>
          </a:p>
          <a:p>
            <a:pPr>
              <a:spcBef>
                <a:spcPts val="600"/>
              </a:spcBef>
            </a:pPr>
            <a:r>
              <a:rPr sz="3800" b="1" i="0">
                <a:solidFill>
                  <a:srgbClr val="2A2929"/>
                </a:solidFill>
                <a:latin typeface="Roboto"/>
              </a:rPr>
              <a:t>Working to a supplied design</a:t>
            </a:r>
          </a:p>
          <a:p>
            <a:pPr>
              <a:spcBef>
                <a:spcPts val="1000"/>
              </a:spcBef>
            </a:pPr>
            <a:r>
              <a:rPr sz="2000" b="0" i="1">
                <a:solidFill>
                  <a:srgbClr val="484848"/>
                </a:solidFill>
                <a:latin typeface="Roboto Light"/>
              </a:rPr>
              <a:t>account · Region · evidence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565392"/>
            <a:ext cx="12191695" cy="38100"/>
          </a:xfrm>
          <a:prstGeom prst="rect">
            <a:avLst/>
          </a:prstGeom>
          <a:solidFill>
            <a:srgbClr val="9226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02920" y="6400800"/>
            <a:ext cx="5486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100" b="1" i="0">
                <a:solidFill>
                  <a:srgbClr val="2A2929"/>
                </a:solidFill>
                <a:latin typeface="Roboto"/>
              </a:rPr>
              <a:t>Kangan </a:t>
            </a:r>
            <a:r>
              <a:rPr sz="1100" b="1" i="0">
                <a:solidFill>
                  <a:srgbClr val="D68E10"/>
                </a:solidFill>
                <a:latin typeface="Roboto"/>
              </a:rPr>
              <a:t>Institute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515600" y="6400800"/>
            <a:ext cx="11887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 i="0">
                <a:solidFill>
                  <a:srgbClr val="7A7A7A"/>
                </a:solidFill>
                <a:latin typeface="Roboto"/>
              </a:rPr>
              <a:t/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9601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2800" b="1" i="0">
                <a:solidFill>
                  <a:srgbClr val="2A2929"/>
                </a:solidFill>
                <a:latin typeface="Roboto"/>
              </a:rPr>
              <a:t>Cloud architecture: requirements → design → build</a:t>
            </a:r>
          </a:p>
          <a:p>
            <a:pPr>
              <a:spcBef>
                <a:spcPts val="200"/>
              </a:spcBef>
            </a:pPr>
            <a:r>
              <a:rPr sz="1800" b="0" i="1">
                <a:solidFill>
                  <a:srgbClr val="D68E10"/>
                </a:solidFill>
                <a:latin typeface="Roboto Light"/>
              </a:rPr>
              <a:t>ACA M02</a:t>
            </a:r>
          </a:p>
        </p:txBody>
      </p:sp>
      <p:sp>
        <p:nvSpPr>
          <p:cNvPr id="3" name="Rectangle 2"/>
          <p:cNvSpPr/>
          <p:nvPr/>
        </p:nvSpPr>
        <p:spPr>
          <a:xfrm>
            <a:off x="658368" y="1371600"/>
            <a:ext cx="1463040" cy="50800"/>
          </a:xfrm>
          <a:prstGeom prst="rect">
            <a:avLst/>
          </a:prstGeom>
          <a:solidFill>
            <a:srgbClr val="9226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58368" y="1737360"/>
            <a:ext cx="5486400" cy="429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marL="0" indent="0">
              <a:lnSpc>
                <a:spcPct val="105000"/>
              </a:lnSpc>
              <a:spcBef>
                <a:spcPts val="0"/>
              </a:spcBef>
              <a:spcAft>
                <a:spcPts val="1000"/>
              </a:spcAft>
            </a:pPr>
            <a:r>
              <a:rPr sz="1700" b="1" i="0">
                <a:solidFill>
                  <a:srgbClr val="EDAB0C"/>
                </a:solidFill>
                <a:latin typeface="Roboto"/>
              </a:rPr>
              <a:t>■  </a:t>
            </a:r>
            <a:r>
              <a:rPr sz="1700" b="0" i="0">
                <a:solidFill>
                  <a:srgbClr val="2A2929"/>
                </a:solidFill>
                <a:latin typeface="Roboto"/>
              </a:rPr>
              <a:t>Cloud architecture turns requirements into a structure:</a:t>
            </a:r>
          </a:p>
          <a:p>
            <a:pPr marL="365760" indent="0">
              <a:lnSpc>
                <a:spcPct val="105000"/>
              </a:lnSpc>
              <a:spcBef>
                <a:spcPts val="0"/>
              </a:spcBef>
              <a:spcAft>
                <a:spcPts val="500"/>
              </a:spcAft>
            </a:pPr>
            <a:r>
              <a:rPr sz="1400" b="0" i="0">
                <a:solidFill>
                  <a:srgbClr val="7A7A7A"/>
                </a:solidFill>
                <a:latin typeface="Roboto"/>
              </a:rPr>
              <a:t>–  </a:t>
            </a:r>
            <a:r>
              <a:rPr sz="1400" b="0" i="0">
                <a:solidFill>
                  <a:srgbClr val="2A2929"/>
                </a:solidFill>
                <a:latin typeface="Roboto"/>
              </a:rPr>
              <a:t>the customer sets the requirements · the architect produces the design · the delivery crew builds it</a:t>
            </a:r>
          </a:p>
          <a:p>
            <a:pPr marL="0" indent="0">
              <a:lnSpc>
                <a:spcPct val="105000"/>
              </a:lnSpc>
              <a:spcBef>
                <a:spcPts val="0"/>
              </a:spcBef>
              <a:spcAft>
                <a:spcPts val="1000"/>
              </a:spcAft>
            </a:pPr>
            <a:r>
              <a:rPr sz="1700" b="1" i="0">
                <a:solidFill>
                  <a:srgbClr val="EDAB0C"/>
                </a:solidFill>
                <a:latin typeface="Roboto"/>
              </a:rPr>
              <a:t>■  </a:t>
            </a:r>
            <a:r>
              <a:rPr sz="1700" b="0" i="0">
                <a:solidFill>
                  <a:srgbClr val="2A2929"/>
                </a:solidFill>
                <a:latin typeface="Roboto"/>
              </a:rPr>
              <a:t>In AT2 you're the delivery crew — the design is already done.</a:t>
            </a:r>
          </a:p>
        </p:txBody>
      </p:sp>
      <p:pic>
        <p:nvPicPr>
          <p:cNvPr id="5" name="Picture 4" descr="06-aws-arch-reqs-design-buil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0" y="2521331"/>
            <a:ext cx="5120640" cy="2546858"/>
          </a:xfrm>
          <a:prstGeom prst="rect">
            <a:avLst/>
          </a:prstGeom>
        </p:spPr>
      </p:pic>
      <p:sp>
        <p:nvSpPr>
          <p:cNvPr id="6" name="Rectangle 5"/>
          <p:cNvSpPr/>
          <p:nvPr/>
        </p:nvSpPr>
        <p:spPr>
          <a:xfrm>
            <a:off x="0" y="6565392"/>
            <a:ext cx="12191695" cy="38100"/>
          </a:xfrm>
          <a:prstGeom prst="rect">
            <a:avLst/>
          </a:prstGeom>
          <a:solidFill>
            <a:srgbClr val="9226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02920" y="6400800"/>
            <a:ext cx="5486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100" b="1" i="0">
                <a:solidFill>
                  <a:srgbClr val="2A2929"/>
                </a:solidFill>
                <a:latin typeface="Roboto"/>
              </a:rPr>
              <a:t>Kangan </a:t>
            </a:r>
            <a:r>
              <a:rPr sz="1100" b="1" i="0">
                <a:solidFill>
                  <a:srgbClr val="D68E10"/>
                </a:solidFill>
                <a:latin typeface="Roboto"/>
              </a:rPr>
              <a:t>Institute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515600" y="6400800"/>
            <a:ext cx="11887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 i="0">
                <a:solidFill>
                  <a:srgbClr val="7A7A7A"/>
                </a:solidFill>
                <a:latin typeface="Roboto"/>
              </a:rPr>
              <a:t>2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9601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2800" b="1" i="0">
                <a:solidFill>
                  <a:srgbClr val="2A2929"/>
                </a:solidFill>
                <a:latin typeface="Roboto"/>
              </a:rPr>
              <a:t>Working to a supplied design</a:t>
            </a:r>
          </a:p>
          <a:p>
            <a:pPr>
              <a:spcBef>
                <a:spcPts val="200"/>
              </a:spcBef>
            </a:pPr>
            <a:r>
              <a:rPr sz="1800" b="0" i="1">
                <a:solidFill>
                  <a:srgbClr val="D68E10"/>
                </a:solidFill>
                <a:latin typeface="Roboto Light"/>
              </a:rPr>
              <a:t>faithful implementation, not redesign</a:t>
            </a:r>
          </a:p>
        </p:txBody>
      </p:sp>
      <p:sp>
        <p:nvSpPr>
          <p:cNvPr id="3" name="Rectangle 2"/>
          <p:cNvSpPr/>
          <p:nvPr/>
        </p:nvSpPr>
        <p:spPr>
          <a:xfrm>
            <a:off x="658368" y="1371600"/>
            <a:ext cx="1463040" cy="50800"/>
          </a:xfrm>
          <a:prstGeom prst="rect">
            <a:avLst/>
          </a:prstGeom>
          <a:solidFill>
            <a:srgbClr val="9226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58368" y="1691640"/>
            <a:ext cx="10881360" cy="44805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marL="0" indent="0">
              <a:lnSpc>
                <a:spcPct val="105000"/>
              </a:lnSpc>
              <a:spcBef>
                <a:spcPts val="0"/>
              </a:spcBef>
              <a:spcAft>
                <a:spcPts val="1000"/>
              </a:spcAft>
            </a:pPr>
            <a:r>
              <a:rPr sz="2400" b="1" i="0">
                <a:solidFill>
                  <a:srgbClr val="EDAB0C"/>
                </a:solidFill>
                <a:latin typeface="Roboto"/>
              </a:rPr>
              <a:t>■  </a:t>
            </a:r>
            <a:r>
              <a:rPr sz="2400" b="0" i="0">
                <a:solidFill>
                  <a:srgbClr val="2A2929"/>
                </a:solidFill>
                <a:latin typeface="Roboto"/>
              </a:rPr>
              <a:t>Read the design end to end before you touch the console.</a:t>
            </a:r>
          </a:p>
          <a:p>
            <a:pPr marL="0" indent="0">
              <a:lnSpc>
                <a:spcPct val="105000"/>
              </a:lnSpc>
              <a:spcBef>
                <a:spcPts val="0"/>
              </a:spcBef>
              <a:spcAft>
                <a:spcPts val="1000"/>
              </a:spcAft>
            </a:pPr>
            <a:r>
              <a:rPr sz="2400" b="1" i="0">
                <a:solidFill>
                  <a:srgbClr val="EDAB0C"/>
                </a:solidFill>
                <a:latin typeface="Roboto"/>
              </a:rPr>
              <a:t>■  </a:t>
            </a:r>
            <a:r>
              <a:rPr sz="2400" b="0" i="0">
                <a:solidFill>
                  <a:srgbClr val="2A2929"/>
                </a:solidFill>
                <a:latin typeface="Roboto"/>
              </a:rPr>
              <a:t>Build what it specifies; make and justify only the decisions it leaves open (C1–C8).</a:t>
            </a:r>
          </a:p>
          <a:p>
            <a:pPr marL="0" indent="0">
              <a:lnSpc>
                <a:spcPct val="105000"/>
              </a:lnSpc>
              <a:spcBef>
                <a:spcPts val="0"/>
              </a:spcBef>
              <a:spcAft>
                <a:spcPts val="1000"/>
              </a:spcAft>
            </a:pPr>
            <a:r>
              <a:rPr sz="2400" b="1" i="0">
                <a:solidFill>
                  <a:srgbClr val="EDAB0C"/>
                </a:solidFill>
                <a:latin typeface="Roboto"/>
              </a:rPr>
              <a:t>■  </a:t>
            </a:r>
            <a:r>
              <a:rPr sz="2400" b="0" i="0">
                <a:solidFill>
                  <a:srgbClr val="2A2929"/>
                </a:solidFill>
                <a:latin typeface="Roboto"/>
              </a:rPr>
              <a:t>“Implementer decision” = where your judgement is assessed.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565392"/>
            <a:ext cx="12191695" cy="38100"/>
          </a:xfrm>
          <a:prstGeom prst="rect">
            <a:avLst/>
          </a:prstGeom>
          <a:solidFill>
            <a:srgbClr val="9226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02920" y="6400800"/>
            <a:ext cx="5486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100" b="1" i="0">
                <a:solidFill>
                  <a:srgbClr val="2A2929"/>
                </a:solidFill>
                <a:latin typeface="Roboto"/>
              </a:rPr>
              <a:t>Kangan </a:t>
            </a:r>
            <a:r>
              <a:rPr sz="1100" b="1" i="0">
                <a:solidFill>
                  <a:srgbClr val="D68E10"/>
                </a:solidFill>
                <a:latin typeface="Roboto"/>
              </a:rPr>
              <a:t>Institute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515600" y="6400800"/>
            <a:ext cx="11887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 i="0">
                <a:solidFill>
                  <a:srgbClr val="7A7A7A"/>
                </a:solidFill>
                <a:latin typeface="Roboto"/>
              </a:rPr>
              <a:t>3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9601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2800" b="1" i="0">
                <a:solidFill>
                  <a:srgbClr val="2A2929"/>
                </a:solidFill>
                <a:latin typeface="Roboto"/>
              </a:rPr>
              <a:t>Choose your Region — data residency first</a:t>
            </a:r>
          </a:p>
          <a:p>
            <a:pPr>
              <a:spcBef>
                <a:spcPts val="200"/>
              </a:spcBef>
            </a:pPr>
            <a:r>
              <a:rPr sz="1800" b="0" i="1">
                <a:solidFill>
                  <a:srgbClr val="D68E10"/>
                </a:solidFill>
                <a:latin typeface="Roboto Light"/>
              </a:rPr>
              <a:t>(applied from Topic 1)</a:t>
            </a:r>
          </a:p>
        </p:txBody>
      </p:sp>
      <p:sp>
        <p:nvSpPr>
          <p:cNvPr id="3" name="Rectangle 2"/>
          <p:cNvSpPr/>
          <p:nvPr/>
        </p:nvSpPr>
        <p:spPr>
          <a:xfrm>
            <a:off x="658368" y="1371600"/>
            <a:ext cx="1463040" cy="50800"/>
          </a:xfrm>
          <a:prstGeom prst="rect">
            <a:avLst/>
          </a:prstGeom>
          <a:solidFill>
            <a:srgbClr val="9226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58368" y="1691640"/>
            <a:ext cx="10881360" cy="44805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marL="0" indent="0">
              <a:lnSpc>
                <a:spcPct val="105000"/>
              </a:lnSpc>
              <a:spcBef>
                <a:spcPts val="0"/>
              </a:spcBef>
              <a:spcAft>
                <a:spcPts val="1000"/>
              </a:spcAft>
            </a:pPr>
            <a:r>
              <a:rPr sz="2200" b="1" i="0">
                <a:solidFill>
                  <a:srgbClr val="EDAB0C"/>
                </a:solidFill>
                <a:latin typeface="Roboto"/>
              </a:rPr>
              <a:t>■  </a:t>
            </a:r>
            <a:r>
              <a:rPr sz="2200" b="0" i="0">
                <a:solidFill>
                  <a:srgbClr val="2A2929"/>
                </a:solidFill>
                <a:latin typeface="Roboto"/>
              </a:rPr>
              <a:t>Region is the first build decision — and it's compliance, not preference.</a:t>
            </a:r>
          </a:p>
          <a:p>
            <a:pPr marL="0" indent="0">
              <a:lnSpc>
                <a:spcPct val="105000"/>
              </a:lnSpc>
              <a:spcBef>
                <a:spcPts val="0"/>
              </a:spcBef>
              <a:spcAft>
                <a:spcPts val="1000"/>
              </a:spcAft>
            </a:pPr>
            <a:r>
              <a:rPr sz="2200" b="1" i="0">
                <a:solidFill>
                  <a:srgbClr val="EDAB0C"/>
                </a:solidFill>
                <a:latin typeface="Roboto"/>
              </a:rPr>
              <a:t>■  </a:t>
            </a:r>
            <a:r>
              <a:rPr sz="2200" b="0" i="0">
                <a:solidFill>
                  <a:srgbClr val="2A2929"/>
                </a:solidFill>
                <a:latin typeface="Roboto"/>
              </a:rPr>
              <a:t>The design mandates ap-southeast-2 (Sydney): financial records + PII stay onshore.</a:t>
            </a:r>
          </a:p>
          <a:p>
            <a:pPr marL="0" indent="0">
              <a:lnSpc>
                <a:spcPct val="105000"/>
              </a:lnSpc>
              <a:spcBef>
                <a:spcPts val="0"/>
              </a:spcBef>
              <a:spcAft>
                <a:spcPts val="1000"/>
              </a:spcAft>
            </a:pPr>
            <a:r>
              <a:rPr sz="2200" b="1" i="0">
                <a:solidFill>
                  <a:srgbClr val="EDAB0C"/>
                </a:solidFill>
                <a:latin typeface="Roboto"/>
              </a:rPr>
              <a:t>■  </a:t>
            </a:r>
            <a:r>
              <a:rPr sz="2200" b="0" i="0">
                <a:solidFill>
                  <a:srgbClr val="2A2929"/>
                </a:solidFill>
                <a:latin typeface="Roboto"/>
              </a:rPr>
              <a:t>In the AWS Academy Learner Lab you deploy to us-east-1 — [scenario: ap-southeast-2 (Sydney) | deploy: us-east-1]. Same build; only the location label changes.</a:t>
            </a:r>
          </a:p>
          <a:p>
            <a:pPr marL="0" indent="0">
              <a:lnSpc>
                <a:spcPct val="105000"/>
              </a:lnSpc>
              <a:spcBef>
                <a:spcPts val="0"/>
              </a:spcBef>
              <a:spcAft>
                <a:spcPts val="1000"/>
              </a:spcAft>
            </a:pPr>
            <a:r>
              <a:rPr sz="2200" b="1" i="0">
                <a:solidFill>
                  <a:srgbClr val="EDAB0C"/>
                </a:solidFill>
                <a:latin typeface="Roboto"/>
              </a:rPr>
              <a:t>■  </a:t>
            </a:r>
            <a:r>
              <a:rPr sz="2200" b="0" i="0">
                <a:solidFill>
                  <a:srgbClr val="2A2929"/>
                </a:solidFill>
                <a:latin typeface="Roboto"/>
              </a:rPr>
              <a:t>Set the console Region before creating anything — resources are Region-scoped.</a:t>
            </a:r>
          </a:p>
          <a:p>
            <a:pPr marL="0" indent="0">
              <a:lnSpc>
                <a:spcPct val="105000"/>
              </a:lnSpc>
              <a:spcBef>
                <a:spcPts val="0"/>
              </a:spcBef>
              <a:spcAft>
                <a:spcPts val="1000"/>
              </a:spcAft>
            </a:pPr>
            <a:r>
              <a:rPr sz="2200" b="1" i="0">
                <a:solidFill>
                  <a:srgbClr val="EDAB0C"/>
                </a:solidFill>
                <a:latin typeface="Roboto"/>
              </a:rPr>
              <a:t>■  </a:t>
            </a:r>
            <a:r>
              <a:rPr sz="2200" b="0" i="0">
                <a:solidFill>
                  <a:srgbClr val="2A2929"/>
                </a:solidFill>
                <a:latin typeface="Roboto"/>
              </a:rPr>
              <a:t>Deploy everything in the lab's Region (us-east-1) — the assessor checks the Region matches in every screenshot.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565392"/>
            <a:ext cx="12191695" cy="38100"/>
          </a:xfrm>
          <a:prstGeom prst="rect">
            <a:avLst/>
          </a:prstGeom>
          <a:solidFill>
            <a:srgbClr val="9226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02920" y="6400800"/>
            <a:ext cx="5486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100" b="1" i="0">
                <a:solidFill>
                  <a:srgbClr val="2A2929"/>
                </a:solidFill>
                <a:latin typeface="Roboto"/>
              </a:rPr>
              <a:t>Kangan </a:t>
            </a:r>
            <a:r>
              <a:rPr sz="1100" b="1" i="0">
                <a:solidFill>
                  <a:srgbClr val="D68E10"/>
                </a:solidFill>
                <a:latin typeface="Roboto"/>
              </a:rPr>
              <a:t>Institute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515600" y="6400800"/>
            <a:ext cx="11887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 i="0">
                <a:solidFill>
                  <a:srgbClr val="7A7A7A"/>
                </a:solidFill>
                <a:latin typeface="Roboto"/>
              </a:rPr>
              <a:t>4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9601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2800" b="1" i="0">
                <a:solidFill>
                  <a:srgbClr val="2A2929"/>
                </a:solidFill>
                <a:latin typeface="Roboto"/>
              </a:rPr>
              <a:t>Evidence discipline — capture as you build</a:t>
            </a:r>
          </a:p>
        </p:txBody>
      </p:sp>
      <p:sp>
        <p:nvSpPr>
          <p:cNvPr id="3" name="Rectangle 2"/>
          <p:cNvSpPr/>
          <p:nvPr/>
        </p:nvSpPr>
        <p:spPr>
          <a:xfrm>
            <a:off x="658368" y="1371600"/>
            <a:ext cx="1463040" cy="50800"/>
          </a:xfrm>
          <a:prstGeom prst="rect">
            <a:avLst/>
          </a:prstGeom>
          <a:solidFill>
            <a:srgbClr val="9226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58368" y="1691640"/>
            <a:ext cx="10881360" cy="44805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marL="0" indent="0">
              <a:lnSpc>
                <a:spcPct val="105000"/>
              </a:lnSpc>
              <a:spcBef>
                <a:spcPts val="0"/>
              </a:spcBef>
              <a:spcAft>
                <a:spcPts val="1000"/>
              </a:spcAft>
            </a:pPr>
            <a:r>
              <a:rPr sz="2400" b="1" i="0">
                <a:solidFill>
                  <a:srgbClr val="EDAB0C"/>
                </a:solidFill>
                <a:latin typeface="Roboto"/>
              </a:rPr>
              <a:t>■  </a:t>
            </a:r>
            <a:r>
              <a:rPr sz="2400" b="0" i="0">
                <a:solidFill>
                  <a:srgbClr val="2A2929"/>
                </a:solidFill>
                <a:latin typeface="Roboto"/>
              </a:rPr>
              <a:t>The Deployment Report is evidenced from what you capture live — you can't reconstruct it later.</a:t>
            </a:r>
          </a:p>
          <a:p>
            <a:pPr marL="0" indent="0">
              <a:lnSpc>
                <a:spcPct val="105000"/>
              </a:lnSpc>
              <a:spcBef>
                <a:spcPts val="0"/>
              </a:spcBef>
              <a:spcAft>
                <a:spcPts val="1000"/>
              </a:spcAft>
            </a:pPr>
            <a:r>
              <a:rPr sz="2400" b="1" i="0">
                <a:solidFill>
                  <a:srgbClr val="EDAB0C"/>
                </a:solidFill>
                <a:latin typeface="Roboto"/>
              </a:rPr>
              <a:t>■  </a:t>
            </a:r>
            <a:r>
              <a:rPr sz="2400" b="0" i="0">
                <a:solidFill>
                  <a:srgbClr val="2A2929"/>
                </a:solidFill>
                <a:latin typeface="Roboto"/>
              </a:rPr>
              <a:t>Capture each named screenshot the template lists, as you build that resource (Region + the named resource visible).</a:t>
            </a:r>
          </a:p>
          <a:p>
            <a:pPr marL="0" indent="0">
              <a:lnSpc>
                <a:spcPct val="105000"/>
              </a:lnSpc>
              <a:spcBef>
                <a:spcPts val="0"/>
              </a:spcBef>
              <a:spcAft>
                <a:spcPts val="1000"/>
              </a:spcAft>
            </a:pPr>
            <a:r>
              <a:rPr sz="2400" b="1" i="0">
                <a:solidFill>
                  <a:srgbClr val="EDAB0C"/>
                </a:solidFill>
                <a:latin typeface="Roboto"/>
              </a:rPr>
              <a:t>■  </a:t>
            </a:r>
            <a:r>
              <a:rPr sz="2400" b="0" i="0">
                <a:solidFill>
                  <a:srgbClr val="2A2929"/>
                </a:solidFill>
                <a:latin typeface="Roboto"/>
              </a:rPr>
              <a:t>Export configs (IAM policies, SG rules, VPC) as you go → Appendix B.</a:t>
            </a:r>
          </a:p>
          <a:p>
            <a:pPr marL="0" indent="0">
              <a:lnSpc>
                <a:spcPct val="105000"/>
              </a:lnSpc>
              <a:spcBef>
                <a:spcPts val="0"/>
              </a:spcBef>
              <a:spcAft>
                <a:spcPts val="1000"/>
              </a:spcAft>
            </a:pPr>
            <a:r>
              <a:rPr sz="2400" b="1" i="0">
                <a:solidFill>
                  <a:srgbClr val="EDAB0C"/>
                </a:solidFill>
                <a:latin typeface="Roboto"/>
              </a:rPr>
              <a:t>■  </a:t>
            </a:r>
            <a:r>
              <a:rPr sz="2400" b="0" i="0">
                <a:solidFill>
                  <a:srgbClr val="2A2929"/>
                </a:solidFill>
                <a:latin typeface="Roboto"/>
              </a:rPr>
              <a:t>Build → capture → move on. Evidence is part of the build, not a write-up afterwards.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565392"/>
            <a:ext cx="12191695" cy="38100"/>
          </a:xfrm>
          <a:prstGeom prst="rect">
            <a:avLst/>
          </a:prstGeom>
          <a:solidFill>
            <a:srgbClr val="9226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02920" y="6400800"/>
            <a:ext cx="5486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100" b="1" i="0">
                <a:solidFill>
                  <a:srgbClr val="2A2929"/>
                </a:solidFill>
                <a:latin typeface="Roboto"/>
              </a:rPr>
              <a:t>Kangan </a:t>
            </a:r>
            <a:r>
              <a:rPr sz="1100" b="1" i="0">
                <a:solidFill>
                  <a:srgbClr val="D68E10"/>
                </a:solidFill>
                <a:latin typeface="Roboto"/>
              </a:rPr>
              <a:t>Institute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515600" y="6400800"/>
            <a:ext cx="11887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 i="0">
                <a:solidFill>
                  <a:srgbClr val="7A7A7A"/>
                </a:solidFill>
                <a:latin typeface="Roboto"/>
              </a:rPr>
              <a:t>5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234440"/>
          </a:xfrm>
          <a:prstGeom prst="rect">
            <a:avLst/>
          </a:prstGeom>
          <a:solidFill>
            <a:srgbClr val="2A292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640080" y="384048"/>
            <a:ext cx="2240280" cy="457200"/>
          </a:xfrm>
          <a:prstGeom prst="roundRect">
            <a:avLst/>
          </a:prstGeom>
          <a:solidFill>
            <a:srgbClr val="9226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300" b="1" i="0">
                <a:solidFill>
                  <a:srgbClr val="2A2929"/>
                </a:solidFill>
                <a:latin typeface="Roboto"/>
              </a:rPr>
              <a:t>DEMONSTRATION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0" y="310896"/>
            <a:ext cx="8321040" cy="685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2500" b="1" i="0">
                <a:solidFill>
                  <a:srgbClr val="FFFFFF"/>
                </a:solidFill>
                <a:latin typeface="Roboto"/>
              </a:rPr>
              <a:t>Set up the build workspace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1554480"/>
            <a:ext cx="10881360" cy="429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marL="0" indent="0">
              <a:lnSpc>
                <a:spcPct val="105000"/>
              </a:lnSpc>
              <a:spcBef>
                <a:spcPts val="0"/>
              </a:spcBef>
              <a:spcAft>
                <a:spcPts val="1000"/>
              </a:spcAft>
            </a:pPr>
            <a:r>
              <a:rPr sz="1700" b="1" i="0">
                <a:solidFill>
                  <a:srgbClr val="EDAB0C"/>
                </a:solidFill>
                <a:latin typeface="Roboto"/>
              </a:rPr>
              <a:t>■  </a:t>
            </a:r>
            <a:r>
              <a:rPr sz="1700" b="0" i="0">
                <a:solidFill>
                  <a:srgbClr val="2A2929"/>
                </a:solidFill>
                <a:latin typeface="Roboto"/>
              </a:rPr>
              <a:t>Sign in to the AWS Academy Learner Lab; set the Region to us-east-1 — [scenario: ap-southeast-2 (Sydney) | deploy: us-east-1].</a:t>
            </a:r>
          </a:p>
          <a:p>
            <a:pPr marL="0" indent="0">
              <a:lnSpc>
                <a:spcPct val="105000"/>
              </a:lnSpc>
              <a:spcBef>
                <a:spcPts val="0"/>
              </a:spcBef>
              <a:spcAft>
                <a:spcPts val="1000"/>
              </a:spcAft>
            </a:pPr>
            <a:r>
              <a:rPr sz="1700" b="1" i="0">
                <a:solidFill>
                  <a:srgbClr val="EDAB0C"/>
                </a:solidFill>
                <a:latin typeface="Roboto"/>
              </a:rPr>
              <a:t>■  </a:t>
            </a:r>
            <a:r>
              <a:rPr sz="1700" b="0" i="0">
                <a:solidFill>
                  <a:srgbClr val="2A2929"/>
                </a:solidFill>
                <a:latin typeface="Roboto"/>
              </a:rPr>
              <a:t>Confirm the identity you're building as.</a:t>
            </a:r>
          </a:p>
          <a:p>
            <a:pPr marL="0" indent="0">
              <a:lnSpc>
                <a:spcPct val="105000"/>
              </a:lnSpc>
              <a:spcBef>
                <a:spcPts val="0"/>
              </a:spcBef>
              <a:spcAft>
                <a:spcPts val="1000"/>
              </a:spcAft>
            </a:pPr>
            <a:r>
              <a:rPr sz="1700" b="1" i="0">
                <a:solidFill>
                  <a:srgbClr val="EDAB0C"/>
                </a:solidFill>
                <a:latin typeface="Roboto"/>
              </a:rPr>
              <a:t>■  </a:t>
            </a:r>
            <a:r>
              <a:rPr sz="1700" b="0" i="0">
                <a:solidFill>
                  <a:srgbClr val="2A2929"/>
                </a:solidFill>
                <a:latin typeface="Roboto"/>
              </a:rPr>
              <a:t>Capture the first named screenshot (the Region selector) into the evidence log.</a:t>
            </a:r>
          </a:p>
          <a:p>
            <a:pPr marL="0" indent="0">
              <a:lnSpc>
                <a:spcPct val="105000"/>
              </a:lnSpc>
              <a:spcBef>
                <a:spcPts val="0"/>
              </a:spcBef>
              <a:spcAft>
                <a:spcPts val="1000"/>
              </a:spcAft>
            </a:pPr>
            <a:r>
              <a:rPr sz="1700" b="1" i="0">
                <a:solidFill>
                  <a:srgbClr val="EDAB0C"/>
                </a:solidFill>
                <a:latin typeface="Roboto"/>
              </a:rPr>
              <a:t>■  </a:t>
            </a:r>
            <a:r>
              <a:rPr sz="1700" b="0" i="0">
                <a:solidFill>
                  <a:srgbClr val="2A2929"/>
                </a:solidFill>
                <a:latin typeface="Roboto"/>
              </a:rPr>
              <a:t>Show where configuration exports come from.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5897880"/>
            <a:ext cx="6583680" cy="457200"/>
          </a:xfrm>
          <a:prstGeom prst="roundRect">
            <a:avLst/>
          </a:prstGeom>
          <a:solidFill>
            <a:srgbClr val="F9F9F9"/>
          </a:solidFill>
          <a:ln w="12700">
            <a:solidFill>
              <a:srgbClr val="CCCC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22960" y="5943600"/>
            <a:ext cx="621792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1400" b="1" i="0">
                <a:solidFill>
                  <a:srgbClr val="2A2929"/>
                </a:solidFill>
                <a:latin typeface="Roboto"/>
              </a:rPr>
              <a:t>▶  Instructor demonstrates live (no recorded demo) — you do this next</a:t>
            </a:r>
          </a:p>
        </p:txBody>
      </p:sp>
      <p:sp>
        <p:nvSpPr>
          <p:cNvPr id="8" name="Rectangle 7"/>
          <p:cNvSpPr/>
          <p:nvPr/>
        </p:nvSpPr>
        <p:spPr>
          <a:xfrm>
            <a:off x="0" y="6565392"/>
            <a:ext cx="12191695" cy="38100"/>
          </a:xfrm>
          <a:prstGeom prst="rect">
            <a:avLst/>
          </a:prstGeom>
          <a:solidFill>
            <a:srgbClr val="9226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02920" y="6400800"/>
            <a:ext cx="5486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100" b="1" i="0">
                <a:solidFill>
                  <a:srgbClr val="2A2929"/>
                </a:solidFill>
                <a:latin typeface="Roboto"/>
              </a:rPr>
              <a:t>Kangan </a:t>
            </a:r>
            <a:r>
              <a:rPr sz="1100" b="1" i="0">
                <a:solidFill>
                  <a:srgbClr val="D68E10"/>
                </a:solidFill>
                <a:latin typeface="Roboto"/>
              </a:rPr>
              <a:t>Institute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515600" y="6400800"/>
            <a:ext cx="11887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 i="0">
                <a:solidFill>
                  <a:srgbClr val="7A7A7A"/>
                </a:solidFill>
                <a:latin typeface="Roboto"/>
              </a:rPr>
              <a:t>6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234440"/>
          </a:xfrm>
          <a:prstGeom prst="rect">
            <a:avLst/>
          </a:prstGeom>
          <a:solidFill>
            <a:srgbClr val="9226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640080" y="384048"/>
            <a:ext cx="1691640" cy="457200"/>
          </a:xfrm>
          <a:prstGeom prst="roundRect">
            <a:avLst/>
          </a:prstGeom>
          <a:solidFill>
            <a:srgbClr val="2A292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400" b="1" i="0">
                <a:solidFill>
                  <a:srgbClr val="FBB900"/>
                </a:solidFill>
                <a:latin typeface="Roboto"/>
              </a:rPr>
              <a:t>ACTIVITY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560320" y="310896"/>
            <a:ext cx="8961120" cy="685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Roboto"/>
              </a:rPr>
              <a:t>Set up your build workspace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1554480"/>
            <a:ext cx="10881360" cy="429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marL="0" indent="0">
              <a:lnSpc>
                <a:spcPct val="105000"/>
              </a:lnSpc>
              <a:spcBef>
                <a:spcPts val="0"/>
              </a:spcBef>
              <a:spcAft>
                <a:spcPts val="1000"/>
              </a:spcAft>
            </a:pPr>
            <a:r>
              <a:rPr sz="1700" b="1" i="0">
                <a:solidFill>
                  <a:srgbClr val="EDAB0C"/>
                </a:solidFill>
                <a:latin typeface="Roboto"/>
              </a:rPr>
              <a:t>■  </a:t>
            </a:r>
            <a:r>
              <a:rPr sz="1700" b="0" i="0">
                <a:solidFill>
                  <a:srgbClr val="2A2929"/>
                </a:solidFill>
                <a:latin typeface="Roboto"/>
              </a:rPr>
              <a:t>In the AWS Academy Learner Lab, set up to build the Accounting System foundation:</a:t>
            </a:r>
          </a:p>
          <a:p>
            <a:pPr marL="365760" indent="0">
              <a:lnSpc>
                <a:spcPct val="105000"/>
              </a:lnSpc>
              <a:spcBef>
                <a:spcPts val="0"/>
              </a:spcBef>
              <a:spcAft>
                <a:spcPts val="500"/>
              </a:spcAft>
            </a:pPr>
            <a:r>
              <a:rPr sz="1400" b="0" i="0">
                <a:solidFill>
                  <a:srgbClr val="7A7A7A"/>
                </a:solidFill>
                <a:latin typeface="Roboto"/>
              </a:rPr>
              <a:t>–  </a:t>
            </a:r>
            <a:r>
              <a:rPr sz="1400" b="0" i="0">
                <a:solidFill>
                  <a:srgbClr val="2A2929"/>
                </a:solidFill>
                <a:latin typeface="Roboto"/>
              </a:rPr>
              <a:t>set the Region to us-east-1 — [scenario: ap-southeast-2 (Sydney) | deploy: us-east-1] (confirm it in your evidence)</a:t>
            </a:r>
          </a:p>
          <a:p>
            <a:pPr marL="365760" indent="0">
              <a:lnSpc>
                <a:spcPct val="105000"/>
              </a:lnSpc>
              <a:spcBef>
                <a:spcPts val="0"/>
              </a:spcBef>
              <a:spcAft>
                <a:spcPts val="500"/>
              </a:spcAft>
            </a:pPr>
            <a:r>
              <a:rPr sz="1400" b="0" i="0">
                <a:solidFill>
                  <a:srgbClr val="7A7A7A"/>
                </a:solidFill>
                <a:latin typeface="Roboto"/>
              </a:rPr>
              <a:t>–  </a:t>
            </a:r>
            <a:r>
              <a:rPr sz="1400" b="0" i="0">
                <a:solidFill>
                  <a:srgbClr val="2A2929"/>
                </a:solidFill>
                <a:latin typeface="Roboto"/>
              </a:rPr>
              <a:t>confirm your build identity</a:t>
            </a:r>
          </a:p>
          <a:p>
            <a:pPr marL="365760" indent="0">
              <a:lnSpc>
                <a:spcPct val="105000"/>
              </a:lnSpc>
              <a:spcBef>
                <a:spcPts val="0"/>
              </a:spcBef>
              <a:spcAft>
                <a:spcPts val="500"/>
              </a:spcAft>
            </a:pPr>
            <a:r>
              <a:rPr sz="1400" b="0" i="0">
                <a:solidFill>
                  <a:srgbClr val="7A7A7A"/>
                </a:solidFill>
                <a:latin typeface="Roboto"/>
              </a:rPr>
              <a:t>–  </a:t>
            </a:r>
            <a:r>
              <a:rPr sz="1400" b="0" i="0">
                <a:solidFill>
                  <a:srgbClr val="2A2929"/>
                </a:solidFill>
                <a:latin typeface="Roboto"/>
              </a:rPr>
              <a:t>capture your first named evidence screenshot (Region visible) into your evidence log</a:t>
            </a:r>
          </a:p>
          <a:p>
            <a:pPr marL="0" indent="0">
              <a:lnSpc>
                <a:spcPct val="105000"/>
              </a:lnSpc>
              <a:spcBef>
                <a:spcPts val="0"/>
              </a:spcBef>
              <a:spcAft>
                <a:spcPts val="1000"/>
              </a:spcAft>
            </a:pPr>
            <a:r>
              <a:rPr sz="1700" b="1" i="0">
                <a:solidFill>
                  <a:srgbClr val="EDAB0C"/>
                </a:solidFill>
                <a:latin typeface="Roboto"/>
              </a:rPr>
              <a:t>■  </a:t>
            </a:r>
            <a:r>
              <a:rPr sz="1700" b="0" i="0">
                <a:solidFill>
                  <a:srgbClr val="2A2929"/>
                </a:solidFill>
                <a:latin typeface="Roboto"/>
              </a:rPr>
              <a:t>Open the supplied Accounting Baseline Solution Design and skim it end to end.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5897880"/>
            <a:ext cx="4023360" cy="457200"/>
          </a:xfrm>
          <a:prstGeom prst="roundRect">
            <a:avLst/>
          </a:prstGeom>
          <a:solidFill>
            <a:srgbClr val="F9F9F9"/>
          </a:solidFill>
          <a:ln w="12700">
            <a:solidFill>
              <a:srgbClr val="CCCC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22960" y="5943600"/>
            <a:ext cx="365760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1500" b="1" i="0">
                <a:solidFill>
                  <a:srgbClr val="2A2929"/>
                </a:solidFill>
                <a:latin typeface="Roboto"/>
              </a:rPr>
              <a:t>⏱  ~15 min</a:t>
            </a:r>
          </a:p>
        </p:txBody>
      </p:sp>
      <p:sp>
        <p:nvSpPr>
          <p:cNvPr id="8" name="Rectangle 7"/>
          <p:cNvSpPr/>
          <p:nvPr/>
        </p:nvSpPr>
        <p:spPr>
          <a:xfrm>
            <a:off x="0" y="6565392"/>
            <a:ext cx="12191695" cy="38100"/>
          </a:xfrm>
          <a:prstGeom prst="rect">
            <a:avLst/>
          </a:prstGeom>
          <a:solidFill>
            <a:srgbClr val="9226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02920" y="6400800"/>
            <a:ext cx="5486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100" b="1" i="0">
                <a:solidFill>
                  <a:srgbClr val="2A2929"/>
                </a:solidFill>
                <a:latin typeface="Roboto"/>
              </a:rPr>
              <a:t>Kangan </a:t>
            </a:r>
            <a:r>
              <a:rPr sz="1100" b="1" i="0">
                <a:solidFill>
                  <a:srgbClr val="D68E10"/>
                </a:solidFill>
                <a:latin typeface="Roboto"/>
              </a:rPr>
              <a:t>Institute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515600" y="6400800"/>
            <a:ext cx="11887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 i="0">
                <a:solidFill>
                  <a:srgbClr val="7A7A7A"/>
                </a:solidFill>
                <a:latin typeface="Roboto"/>
              </a:rPr>
              <a:t>7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9F9F9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548640"/>
            <a:ext cx="10881360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3200" b="1" i="0">
                <a:solidFill>
                  <a:srgbClr val="2A2929"/>
                </a:solidFill>
                <a:latin typeface="Roboto"/>
              </a:rPr>
              <a:t>Key takeaways</a:t>
            </a:r>
          </a:p>
          <a:p>
            <a:pPr>
              <a:spcBef>
                <a:spcPts val="200"/>
              </a:spcBef>
            </a:pPr>
            <a:r>
              <a:rPr sz="1800" b="1" i="0">
                <a:solidFill>
                  <a:srgbClr val="92268F"/>
                </a:solidFill>
                <a:latin typeface="Roboto"/>
              </a:rPr>
              <a:t>Section 1 · Working to a supplied design</a:t>
            </a:r>
          </a:p>
        </p:txBody>
      </p:sp>
      <p:sp>
        <p:nvSpPr>
          <p:cNvPr id="3" name="Rectangle 2"/>
          <p:cNvSpPr/>
          <p:nvPr/>
        </p:nvSpPr>
        <p:spPr>
          <a:xfrm>
            <a:off x="658368" y="1600200"/>
            <a:ext cx="1463040" cy="50800"/>
          </a:xfrm>
          <a:prstGeom prst="rect">
            <a:avLst/>
          </a:prstGeom>
          <a:solidFill>
            <a:srgbClr val="9226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640080" y="1965960"/>
            <a:ext cx="10927080" cy="841248"/>
          </a:xfrm>
          <a:prstGeom prst="rect">
            <a:avLst/>
          </a:prstGeom>
          <a:solidFill>
            <a:srgbClr val="FFFFFF"/>
          </a:solidFill>
          <a:ln w="12700">
            <a:solidFill>
              <a:srgbClr val="CCCC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640080" y="1965960"/>
            <a:ext cx="109728" cy="841248"/>
          </a:xfrm>
          <a:prstGeom prst="rect">
            <a:avLst/>
          </a:prstGeom>
          <a:solidFill>
            <a:srgbClr val="9226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60120" y="1965960"/>
            <a:ext cx="10424160" cy="8412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>
              <a:lnSpc>
                <a:spcPct val="100000"/>
              </a:lnSpc>
            </a:pPr>
            <a:r>
              <a:rPr sz="1700" b="0" i="0">
                <a:solidFill>
                  <a:srgbClr val="2A2929"/>
                </a:solidFill>
                <a:latin typeface="Roboto"/>
              </a:rPr>
              <a:t>Architecture = requirements → design → build; in AT2 you're the builder, to a supplied design.</a:t>
            </a:r>
          </a:p>
        </p:txBody>
      </p:sp>
      <p:sp>
        <p:nvSpPr>
          <p:cNvPr id="7" name="Rectangle 6"/>
          <p:cNvSpPr/>
          <p:nvPr/>
        </p:nvSpPr>
        <p:spPr>
          <a:xfrm>
            <a:off x="640080" y="2916936"/>
            <a:ext cx="10927080" cy="841248"/>
          </a:xfrm>
          <a:prstGeom prst="rect">
            <a:avLst/>
          </a:prstGeom>
          <a:solidFill>
            <a:srgbClr val="FFFFFF"/>
          </a:solidFill>
          <a:ln w="12700">
            <a:solidFill>
              <a:srgbClr val="CCCC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640080" y="2916936"/>
            <a:ext cx="109728" cy="841248"/>
          </a:xfrm>
          <a:prstGeom prst="rect">
            <a:avLst/>
          </a:prstGeom>
          <a:solidFill>
            <a:srgbClr val="9226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60120" y="2916936"/>
            <a:ext cx="10424160" cy="8412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>
              <a:lnSpc>
                <a:spcPct val="100000"/>
              </a:lnSpc>
            </a:pPr>
            <a:r>
              <a:rPr sz="1700" b="0" i="0">
                <a:solidFill>
                  <a:srgbClr val="2A2929"/>
                </a:solidFill>
                <a:latin typeface="Roboto"/>
              </a:rPr>
              <a:t>Region first — the design mandates Sydney (ap-southeast-2) for residency; you deploy to us-east-1 in the lab, visible in all evidence.</a:t>
            </a:r>
          </a:p>
        </p:txBody>
      </p:sp>
      <p:sp>
        <p:nvSpPr>
          <p:cNvPr id="10" name="Rectangle 9"/>
          <p:cNvSpPr/>
          <p:nvPr/>
        </p:nvSpPr>
        <p:spPr>
          <a:xfrm>
            <a:off x="640080" y="3867912"/>
            <a:ext cx="10927080" cy="841248"/>
          </a:xfrm>
          <a:prstGeom prst="rect">
            <a:avLst/>
          </a:prstGeom>
          <a:solidFill>
            <a:srgbClr val="FFFFFF"/>
          </a:solidFill>
          <a:ln w="12700">
            <a:solidFill>
              <a:srgbClr val="CCCC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640080" y="3867912"/>
            <a:ext cx="109728" cy="841248"/>
          </a:xfrm>
          <a:prstGeom prst="rect">
            <a:avLst/>
          </a:prstGeom>
          <a:solidFill>
            <a:srgbClr val="9226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960120" y="3867912"/>
            <a:ext cx="10424160" cy="8412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>
              <a:lnSpc>
                <a:spcPct val="100000"/>
              </a:lnSpc>
            </a:pPr>
            <a:r>
              <a:rPr sz="1700" b="0" i="0">
                <a:solidFill>
                  <a:srgbClr val="2A2929"/>
                </a:solidFill>
                <a:latin typeface="Roboto"/>
              </a:rPr>
              <a:t>Capture evidence live as you build — the report is made from it.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0" y="6565392"/>
            <a:ext cx="12191695" cy="38100"/>
          </a:xfrm>
          <a:prstGeom prst="rect">
            <a:avLst/>
          </a:prstGeom>
          <a:solidFill>
            <a:srgbClr val="9226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502920" y="6400800"/>
            <a:ext cx="5486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100" b="1" i="0">
                <a:solidFill>
                  <a:srgbClr val="2A2929"/>
                </a:solidFill>
                <a:latin typeface="Roboto"/>
              </a:rPr>
              <a:t>Kangan </a:t>
            </a:r>
            <a:r>
              <a:rPr sz="1100" b="1" i="0">
                <a:solidFill>
                  <a:srgbClr val="D68E10"/>
                </a:solidFill>
                <a:latin typeface="Roboto"/>
              </a:rPr>
              <a:t>Institute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515600" y="6400800"/>
            <a:ext cx="11887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 i="0">
                <a:solidFill>
                  <a:srgbClr val="7A7A7A"/>
                </a:solidFill>
                <a:latin typeface="Roboto"/>
              </a:rPr>
              <a:t>8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3931920" cy="6858000"/>
          </a:xfrm>
          <a:prstGeom prst="rect">
            <a:avLst/>
          </a:prstGeom>
          <a:solidFill>
            <a:srgbClr val="27B5C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2103120"/>
            <a:ext cx="3291840" cy="21945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3000" b="1" i="0">
                <a:solidFill>
                  <a:srgbClr val="FFFFFF"/>
                </a:solidFill>
                <a:latin typeface="Roboto"/>
              </a:rPr>
              <a:t>02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480560" y="2468880"/>
            <a:ext cx="7132320" cy="21945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600" b="1" i="0">
                <a:solidFill>
                  <a:srgbClr val="27B5CE"/>
                </a:solidFill>
                <a:latin typeface="Roboto"/>
              </a:rPr>
              <a:t>SECTION</a:t>
            </a:r>
          </a:p>
          <a:p>
            <a:pPr>
              <a:spcBef>
                <a:spcPts val="600"/>
              </a:spcBef>
            </a:pPr>
            <a:r>
              <a:rPr sz="3800" b="1" i="0">
                <a:solidFill>
                  <a:srgbClr val="2A2929"/>
                </a:solidFill>
                <a:latin typeface="Roboto"/>
              </a:rPr>
              <a:t>Identity &amp; access</a:t>
            </a:r>
          </a:p>
          <a:p>
            <a:pPr>
              <a:spcBef>
                <a:spcPts val="1000"/>
              </a:spcBef>
            </a:pPr>
            <a:r>
              <a:rPr sz="2000" b="0" i="1">
                <a:solidFill>
                  <a:srgbClr val="484848"/>
                </a:solidFill>
                <a:latin typeface="Roboto Light"/>
              </a:rPr>
              <a:t>who can do what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565392"/>
            <a:ext cx="12191695" cy="38100"/>
          </a:xfrm>
          <a:prstGeom prst="rect">
            <a:avLst/>
          </a:prstGeom>
          <a:solidFill>
            <a:srgbClr val="27B5C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02920" y="6400800"/>
            <a:ext cx="5486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100" b="1" i="0">
                <a:solidFill>
                  <a:srgbClr val="2A2929"/>
                </a:solidFill>
                <a:latin typeface="Roboto"/>
              </a:rPr>
              <a:t>Kangan </a:t>
            </a:r>
            <a:r>
              <a:rPr sz="1100" b="1" i="0">
                <a:solidFill>
                  <a:srgbClr val="D68E10"/>
                </a:solidFill>
                <a:latin typeface="Roboto"/>
              </a:rPr>
              <a:t>Institute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515600" y="6400800"/>
            <a:ext cx="11887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 i="0">
                <a:solidFill>
                  <a:srgbClr val="7A7A7A"/>
                </a:solidFill>
                <a:latin typeface="Roboto"/>
              </a:rPr>
              <a:t/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9601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2800" b="1" i="0">
                <a:solidFill>
                  <a:srgbClr val="2A2929"/>
                </a:solidFill>
                <a:latin typeface="Roboto"/>
              </a:rPr>
              <a:t>IAM — the essential components</a:t>
            </a:r>
          </a:p>
          <a:p>
            <a:pPr>
              <a:spcBef>
                <a:spcPts val="200"/>
              </a:spcBef>
            </a:pPr>
            <a:r>
              <a:rPr sz="1800" b="0" i="1">
                <a:solidFill>
                  <a:srgbClr val="D68E10"/>
                </a:solidFill>
                <a:latin typeface="Roboto Light"/>
              </a:rPr>
              <a:t>ACF M04</a:t>
            </a:r>
          </a:p>
        </p:txBody>
      </p:sp>
      <p:sp>
        <p:nvSpPr>
          <p:cNvPr id="3" name="Rectangle 2"/>
          <p:cNvSpPr/>
          <p:nvPr/>
        </p:nvSpPr>
        <p:spPr>
          <a:xfrm>
            <a:off x="658368" y="1371600"/>
            <a:ext cx="1463040" cy="50800"/>
          </a:xfrm>
          <a:prstGeom prst="rect">
            <a:avLst/>
          </a:prstGeom>
          <a:solidFill>
            <a:srgbClr val="27B5C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58368" y="1737360"/>
            <a:ext cx="5486400" cy="429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marL="0" indent="0">
              <a:lnSpc>
                <a:spcPct val="105000"/>
              </a:lnSpc>
              <a:spcBef>
                <a:spcPts val="0"/>
              </a:spcBef>
              <a:spcAft>
                <a:spcPts val="1000"/>
              </a:spcAft>
            </a:pPr>
            <a:r>
              <a:rPr sz="1700" b="1" i="0">
                <a:solidFill>
                  <a:srgbClr val="EDAB0C"/>
                </a:solidFill>
                <a:latin typeface="Roboto"/>
              </a:rPr>
              <a:t>■  </a:t>
            </a:r>
            <a:r>
              <a:rPr sz="1700" b="0" i="0">
                <a:solidFill>
                  <a:srgbClr val="2A2929"/>
                </a:solidFill>
                <a:latin typeface="Roboto"/>
              </a:rPr>
              <a:t>IAM user — a person or application that authenticates to the account.</a:t>
            </a:r>
          </a:p>
          <a:p>
            <a:pPr marL="0" indent="0">
              <a:lnSpc>
                <a:spcPct val="105000"/>
              </a:lnSpc>
              <a:spcBef>
                <a:spcPts val="0"/>
              </a:spcBef>
              <a:spcAft>
                <a:spcPts val="1000"/>
              </a:spcAft>
            </a:pPr>
            <a:r>
              <a:rPr sz="1700" b="1" i="0">
                <a:solidFill>
                  <a:srgbClr val="EDAB0C"/>
                </a:solidFill>
                <a:latin typeface="Roboto"/>
              </a:rPr>
              <a:t>■  </a:t>
            </a:r>
            <a:r>
              <a:rPr sz="1700" b="0" i="0">
                <a:solidFill>
                  <a:srgbClr val="2A2929"/>
                </a:solidFill>
                <a:latin typeface="Roboto"/>
              </a:rPr>
              <a:t>IAM group — a collection of users granted identical permissions.</a:t>
            </a:r>
          </a:p>
          <a:p>
            <a:pPr marL="0" indent="0">
              <a:lnSpc>
                <a:spcPct val="105000"/>
              </a:lnSpc>
              <a:spcBef>
                <a:spcPts val="0"/>
              </a:spcBef>
              <a:spcAft>
                <a:spcPts val="1000"/>
              </a:spcAft>
            </a:pPr>
            <a:r>
              <a:rPr sz="1700" b="1" i="0">
                <a:solidFill>
                  <a:srgbClr val="EDAB0C"/>
                </a:solidFill>
                <a:latin typeface="Roboto"/>
              </a:rPr>
              <a:t>■  </a:t>
            </a:r>
            <a:r>
              <a:rPr sz="1700" b="0" i="0">
                <a:solidFill>
                  <a:srgbClr val="2A2929"/>
                </a:solidFill>
                <a:latin typeface="Roboto"/>
              </a:rPr>
              <a:t>IAM role — temporary permissions, assumable by a person, application or service (e.g. an EC2 instance).</a:t>
            </a:r>
          </a:p>
          <a:p>
            <a:pPr marL="0" indent="0">
              <a:lnSpc>
                <a:spcPct val="105000"/>
              </a:lnSpc>
              <a:spcBef>
                <a:spcPts val="0"/>
              </a:spcBef>
              <a:spcAft>
                <a:spcPts val="1000"/>
              </a:spcAft>
            </a:pPr>
            <a:r>
              <a:rPr sz="1700" b="1" i="0">
                <a:solidFill>
                  <a:srgbClr val="EDAB0C"/>
                </a:solidFill>
                <a:latin typeface="Roboto"/>
              </a:rPr>
              <a:t>■  </a:t>
            </a:r>
            <a:r>
              <a:rPr sz="1700" b="0" i="0">
                <a:solidFill>
                  <a:srgbClr val="2A2929"/>
                </a:solidFill>
                <a:latin typeface="Roboto"/>
              </a:rPr>
              <a:t>IAM policy — a JSON document defining which resources can be accessed, and how.</a:t>
            </a:r>
          </a:p>
        </p:txBody>
      </p:sp>
      <p:pic>
        <p:nvPicPr>
          <p:cNvPr id="5" name="Picture 4" descr="06-iam-component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0" y="2554558"/>
            <a:ext cx="5120640" cy="2480404"/>
          </a:xfrm>
          <a:prstGeom prst="rect">
            <a:avLst/>
          </a:prstGeom>
        </p:spPr>
      </p:pic>
      <p:sp>
        <p:nvSpPr>
          <p:cNvPr id="6" name="Rectangle 5"/>
          <p:cNvSpPr/>
          <p:nvPr/>
        </p:nvSpPr>
        <p:spPr>
          <a:xfrm>
            <a:off x="0" y="6565392"/>
            <a:ext cx="12191695" cy="38100"/>
          </a:xfrm>
          <a:prstGeom prst="rect">
            <a:avLst/>
          </a:prstGeom>
          <a:solidFill>
            <a:srgbClr val="27B5C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02920" y="6400800"/>
            <a:ext cx="5486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100" b="1" i="0">
                <a:solidFill>
                  <a:srgbClr val="2A2929"/>
                </a:solidFill>
                <a:latin typeface="Roboto"/>
              </a:rPr>
              <a:t>Kangan </a:t>
            </a:r>
            <a:r>
              <a:rPr sz="1100" b="1" i="0">
                <a:solidFill>
                  <a:srgbClr val="D68E10"/>
                </a:solidFill>
                <a:latin typeface="Roboto"/>
              </a:rPr>
              <a:t>Institute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515600" y="6400800"/>
            <a:ext cx="11887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 i="0">
                <a:solidFill>
                  <a:srgbClr val="7A7A7A"/>
                </a:solidFill>
                <a:latin typeface="Roboto"/>
              </a:rPr>
              <a:t>9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9601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2800" b="1" i="0">
                <a:solidFill>
                  <a:srgbClr val="2A2929"/>
                </a:solidFill>
                <a:latin typeface="Roboto"/>
              </a:rPr>
              <a:t>Securing access — the best practices</a:t>
            </a:r>
          </a:p>
          <a:p>
            <a:pPr>
              <a:spcBef>
                <a:spcPts val="200"/>
              </a:spcBef>
            </a:pPr>
            <a:r>
              <a:rPr sz="1800" b="0" i="1">
                <a:solidFill>
                  <a:srgbClr val="D68E10"/>
                </a:solidFill>
                <a:latin typeface="Roboto Light"/>
              </a:rPr>
              <a:t>ACF M04</a:t>
            </a:r>
          </a:p>
        </p:txBody>
      </p:sp>
      <p:sp>
        <p:nvSpPr>
          <p:cNvPr id="3" name="Rectangle 2"/>
          <p:cNvSpPr/>
          <p:nvPr/>
        </p:nvSpPr>
        <p:spPr>
          <a:xfrm>
            <a:off x="658368" y="1371600"/>
            <a:ext cx="1463040" cy="50800"/>
          </a:xfrm>
          <a:prstGeom prst="rect">
            <a:avLst/>
          </a:prstGeom>
          <a:solidFill>
            <a:srgbClr val="27B5C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58368" y="1691640"/>
            <a:ext cx="10881360" cy="44805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marL="0" indent="0">
              <a:lnSpc>
                <a:spcPct val="105000"/>
              </a:lnSpc>
              <a:spcBef>
                <a:spcPts val="0"/>
              </a:spcBef>
              <a:spcAft>
                <a:spcPts val="1000"/>
              </a:spcAft>
            </a:pPr>
            <a:r>
              <a:rPr sz="2400" b="1" i="0">
                <a:solidFill>
                  <a:srgbClr val="EDAB0C"/>
                </a:solidFill>
                <a:latin typeface="Roboto"/>
              </a:rPr>
              <a:t>■  </a:t>
            </a:r>
            <a:r>
              <a:rPr sz="2400" b="0" i="0">
                <a:solidFill>
                  <a:srgbClr val="2A2929"/>
                </a:solidFill>
                <a:latin typeface="Roboto"/>
              </a:rPr>
              <a:t>Attach policies to groups; assign users to groups (don't attach policies to individuals).</a:t>
            </a:r>
          </a:p>
          <a:p>
            <a:pPr marL="0" indent="0">
              <a:lnSpc>
                <a:spcPct val="105000"/>
              </a:lnSpc>
              <a:spcBef>
                <a:spcPts val="0"/>
              </a:spcBef>
              <a:spcAft>
                <a:spcPts val="1000"/>
              </a:spcAft>
            </a:pPr>
            <a:r>
              <a:rPr sz="2400" b="1" i="0">
                <a:solidFill>
                  <a:srgbClr val="EDAB0C"/>
                </a:solidFill>
                <a:latin typeface="Roboto"/>
              </a:rPr>
              <a:t>■  </a:t>
            </a:r>
            <a:r>
              <a:rPr sz="2400" b="0" i="0">
                <a:solidFill>
                  <a:srgbClr val="2A2929"/>
                </a:solidFill>
                <a:latin typeface="Roboto"/>
              </a:rPr>
              <a:t>Least privilege — grant only the permissions the task needs; all access is denied by default.</a:t>
            </a:r>
          </a:p>
          <a:p>
            <a:pPr marL="0" indent="0">
              <a:lnSpc>
                <a:spcPct val="105000"/>
              </a:lnSpc>
              <a:spcBef>
                <a:spcPts val="0"/>
              </a:spcBef>
              <a:spcAft>
                <a:spcPts val="1000"/>
              </a:spcAft>
            </a:pPr>
            <a:r>
              <a:rPr sz="2400" b="1" i="0">
                <a:solidFill>
                  <a:srgbClr val="EDAB0C"/>
                </a:solidFill>
                <a:latin typeface="Roboto"/>
              </a:rPr>
              <a:t>■  </a:t>
            </a:r>
            <a:r>
              <a:rPr sz="2400" b="0" i="0">
                <a:solidFill>
                  <a:srgbClr val="2A2929"/>
                </a:solidFill>
                <a:latin typeface="Roboto"/>
              </a:rPr>
              <a:t>MFA on human users; protect the root user (use it only when you must).</a:t>
            </a:r>
          </a:p>
          <a:p>
            <a:pPr marL="0" indent="0">
              <a:lnSpc>
                <a:spcPct val="105000"/>
              </a:lnSpc>
              <a:spcBef>
                <a:spcPts val="0"/>
              </a:spcBef>
              <a:spcAft>
                <a:spcPts val="1000"/>
              </a:spcAft>
            </a:pPr>
            <a:r>
              <a:rPr sz="2400" b="1" i="0">
                <a:solidFill>
                  <a:srgbClr val="EDAB0C"/>
                </a:solidFill>
                <a:latin typeface="Roboto"/>
              </a:rPr>
              <a:t>■  </a:t>
            </a:r>
            <a:r>
              <a:rPr sz="2400" b="0" i="0">
                <a:solidFill>
                  <a:srgbClr val="2A2929"/>
                </a:solidFill>
                <a:latin typeface="Roboto"/>
              </a:rPr>
              <a:t>Roles, not long-lived keys, for services — an EC2 instance assumes a role to reach RDS / S3.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565392"/>
            <a:ext cx="12191695" cy="38100"/>
          </a:xfrm>
          <a:prstGeom prst="rect">
            <a:avLst/>
          </a:prstGeom>
          <a:solidFill>
            <a:srgbClr val="27B5C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02920" y="6400800"/>
            <a:ext cx="5486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100" b="1" i="0">
                <a:solidFill>
                  <a:srgbClr val="2A2929"/>
                </a:solidFill>
                <a:latin typeface="Roboto"/>
              </a:rPr>
              <a:t>Kangan </a:t>
            </a:r>
            <a:r>
              <a:rPr sz="1100" b="1" i="0">
                <a:solidFill>
                  <a:srgbClr val="D68E10"/>
                </a:solidFill>
                <a:latin typeface="Roboto"/>
              </a:rPr>
              <a:t>Institute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515600" y="6400800"/>
            <a:ext cx="11887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 i="0">
                <a:solidFill>
                  <a:srgbClr val="7A7A7A"/>
                </a:solidFill>
                <a:latin typeface="Roboto"/>
              </a:rPr>
              <a:t>10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9601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2800" b="1" i="0">
                <a:solidFill>
                  <a:srgbClr val="2A2929"/>
                </a:solidFill>
                <a:latin typeface="Roboto"/>
              </a:rPr>
              <a:t>The design's IAM model</a:t>
            </a:r>
          </a:p>
          <a:p>
            <a:pPr>
              <a:spcBef>
                <a:spcPts val="200"/>
              </a:spcBef>
            </a:pPr>
            <a:r>
              <a:rPr sz="1800" b="0" i="1">
                <a:solidFill>
                  <a:srgbClr val="D68E10"/>
                </a:solidFill>
                <a:latin typeface="Roboto Light"/>
              </a:rPr>
              <a:t>build these groups + role</a:t>
            </a:r>
          </a:p>
        </p:txBody>
      </p:sp>
      <p:sp>
        <p:nvSpPr>
          <p:cNvPr id="3" name="Rectangle 2"/>
          <p:cNvSpPr/>
          <p:nvPr/>
        </p:nvSpPr>
        <p:spPr>
          <a:xfrm>
            <a:off x="658368" y="1371600"/>
            <a:ext cx="1463040" cy="50800"/>
          </a:xfrm>
          <a:prstGeom prst="rect">
            <a:avLst/>
          </a:prstGeom>
          <a:solidFill>
            <a:srgbClr val="27B5C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58368" y="1691640"/>
            <a:ext cx="10881360" cy="44805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marL="0" indent="0">
              <a:lnSpc>
                <a:spcPct val="105000"/>
              </a:lnSpc>
              <a:spcBef>
                <a:spcPts val="0"/>
              </a:spcBef>
              <a:spcAft>
                <a:spcPts val="1000"/>
              </a:spcAft>
            </a:pPr>
            <a:r>
              <a:rPr sz="2400" b="1" i="0">
                <a:solidFill>
                  <a:srgbClr val="EDAB0C"/>
                </a:solidFill>
                <a:latin typeface="Roboto"/>
              </a:rPr>
              <a:t>■  </a:t>
            </a:r>
            <a:r>
              <a:rPr sz="2400" b="0" i="0">
                <a:solidFill>
                  <a:srgbClr val="2A2929"/>
                </a:solidFill>
                <a:latin typeface="Roboto"/>
              </a:rPr>
              <a:t>YAT-ICT-Admins — read-only infra + console post-handover</a:t>
            </a:r>
          </a:p>
          <a:p>
            <a:pPr marL="0" indent="0">
              <a:lnSpc>
                <a:spcPct val="105000"/>
              </a:lnSpc>
              <a:spcBef>
                <a:spcPts val="0"/>
              </a:spcBef>
              <a:spcAft>
                <a:spcPts val="1000"/>
              </a:spcAft>
            </a:pPr>
            <a:r>
              <a:rPr sz="2400" b="1" i="0">
                <a:solidFill>
                  <a:srgbClr val="EDAB0C"/>
                </a:solidFill>
                <a:latin typeface="Roboto"/>
              </a:rPr>
              <a:t>■  </a:t>
            </a:r>
            <a:r>
              <a:rPr sz="2400" b="0" i="0">
                <a:solidFill>
                  <a:srgbClr val="2A2929"/>
                </a:solidFill>
                <a:latin typeface="Roboto"/>
              </a:rPr>
              <a:t>MTS-Consultants — build admin</a:t>
            </a:r>
          </a:p>
          <a:p>
            <a:pPr marL="0" indent="0">
              <a:lnSpc>
                <a:spcPct val="105000"/>
              </a:lnSpc>
              <a:spcBef>
                <a:spcPts val="0"/>
              </a:spcBef>
              <a:spcAft>
                <a:spcPts val="1000"/>
              </a:spcAft>
            </a:pPr>
            <a:r>
              <a:rPr sz="2400" b="1" i="0">
                <a:solidFill>
                  <a:srgbClr val="EDAB0C"/>
                </a:solidFill>
                <a:latin typeface="Roboto"/>
              </a:rPr>
              <a:t>■  </a:t>
            </a:r>
            <a:r>
              <a:rPr sz="2400" b="0" i="0">
                <a:solidFill>
                  <a:srgbClr val="2A2929"/>
                </a:solidFill>
                <a:latin typeface="Roboto"/>
              </a:rPr>
              <a:t>Application-Service — EC2 instance role (RDS + S3 + CloudWatch)</a:t>
            </a:r>
          </a:p>
          <a:p>
            <a:pPr marL="0" indent="0">
              <a:lnSpc>
                <a:spcPct val="105000"/>
              </a:lnSpc>
              <a:spcBef>
                <a:spcPts val="0"/>
              </a:spcBef>
              <a:spcAft>
                <a:spcPts val="1000"/>
              </a:spcAft>
            </a:pPr>
            <a:r>
              <a:rPr sz="2400" b="1" i="0">
                <a:solidFill>
                  <a:srgbClr val="EDAB0C"/>
                </a:solidFill>
                <a:latin typeface="Roboto"/>
              </a:rPr>
              <a:t>■  </a:t>
            </a:r>
            <a:r>
              <a:rPr sz="2400" b="0" i="0">
                <a:solidFill>
                  <a:srgbClr val="2A2929"/>
                </a:solidFill>
                <a:latin typeface="Roboto"/>
              </a:rPr>
              <a:t>Finance-Auditors — read-only on logs / metrics / configs</a:t>
            </a:r>
          </a:p>
          <a:p>
            <a:pPr marL="0" indent="0">
              <a:lnSpc>
                <a:spcPct val="105000"/>
              </a:lnSpc>
              <a:spcBef>
                <a:spcPts val="0"/>
              </a:spcBef>
              <a:spcAft>
                <a:spcPts val="1000"/>
              </a:spcAft>
            </a:pPr>
            <a:r>
              <a:rPr sz="2400" b="1" i="0">
                <a:solidFill>
                  <a:srgbClr val="EDAB0C"/>
                </a:solidFill>
                <a:latin typeface="Roboto"/>
              </a:rPr>
              <a:t>■  </a:t>
            </a:r>
            <a:r>
              <a:rPr sz="2400" b="0" i="0">
                <a:solidFill>
                  <a:srgbClr val="2A2929"/>
                </a:solidFill>
                <a:latin typeface="Roboto"/>
              </a:rPr>
              <a:t>Enforce MFA on the human groups (Essential Eight).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565392"/>
            <a:ext cx="12191695" cy="38100"/>
          </a:xfrm>
          <a:prstGeom prst="rect">
            <a:avLst/>
          </a:prstGeom>
          <a:solidFill>
            <a:srgbClr val="27B5C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02920" y="6400800"/>
            <a:ext cx="5486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100" b="1" i="0">
                <a:solidFill>
                  <a:srgbClr val="2A2929"/>
                </a:solidFill>
                <a:latin typeface="Roboto"/>
              </a:rPr>
              <a:t>Kangan </a:t>
            </a:r>
            <a:r>
              <a:rPr sz="1100" b="1" i="0">
                <a:solidFill>
                  <a:srgbClr val="D68E10"/>
                </a:solidFill>
                <a:latin typeface="Roboto"/>
              </a:rPr>
              <a:t>Institute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515600" y="6400800"/>
            <a:ext cx="11887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 i="0">
                <a:solidFill>
                  <a:srgbClr val="7A7A7A"/>
                </a:solidFill>
                <a:latin typeface="Roboto"/>
              </a:rPr>
              <a:t>11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234440"/>
          </a:xfrm>
          <a:prstGeom prst="rect">
            <a:avLst/>
          </a:prstGeom>
          <a:solidFill>
            <a:srgbClr val="2A292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640080" y="384048"/>
            <a:ext cx="2331720" cy="457200"/>
          </a:xfrm>
          <a:prstGeom prst="roundRect">
            <a:avLst/>
          </a:prstGeom>
          <a:solidFill>
            <a:srgbClr val="27B5C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300" b="1" i="0">
                <a:solidFill>
                  <a:srgbClr val="2A2929"/>
                </a:solidFill>
                <a:latin typeface="Roboto"/>
              </a:rPr>
              <a:t>RECORDED DEMO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0" y="310896"/>
            <a:ext cx="8321040" cy="685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2500" b="1" i="0">
                <a:solidFill>
                  <a:srgbClr val="FFFFFF"/>
                </a:solidFill>
                <a:latin typeface="Roboto"/>
              </a:rPr>
              <a:t>Build an IAM group, user &amp; MFA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1554480"/>
            <a:ext cx="10881360" cy="429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marL="0" indent="0">
              <a:lnSpc>
                <a:spcPct val="105000"/>
              </a:lnSpc>
              <a:spcBef>
                <a:spcPts val="0"/>
              </a:spcBef>
              <a:spcAft>
                <a:spcPts val="1000"/>
              </a:spcAft>
            </a:pPr>
            <a:r>
              <a:rPr sz="1700" b="1" i="0">
                <a:solidFill>
                  <a:srgbClr val="EDAB0C"/>
                </a:solidFill>
                <a:latin typeface="Roboto"/>
              </a:rPr>
              <a:t>■  </a:t>
            </a:r>
            <a:r>
              <a:rPr sz="1700" b="0" i="0">
                <a:solidFill>
                  <a:srgbClr val="2A2929"/>
                </a:solidFill>
                <a:latin typeface="Roboto"/>
              </a:rPr>
              <a:t>Create a group; attach a least-privilege policy.</a:t>
            </a:r>
          </a:p>
          <a:p>
            <a:pPr marL="0" indent="0">
              <a:lnSpc>
                <a:spcPct val="105000"/>
              </a:lnSpc>
              <a:spcBef>
                <a:spcPts val="0"/>
              </a:spcBef>
              <a:spcAft>
                <a:spcPts val="1000"/>
              </a:spcAft>
            </a:pPr>
            <a:r>
              <a:rPr sz="1700" b="1" i="0">
                <a:solidFill>
                  <a:srgbClr val="EDAB0C"/>
                </a:solidFill>
                <a:latin typeface="Roboto"/>
              </a:rPr>
              <a:t>■  </a:t>
            </a:r>
            <a:r>
              <a:rPr sz="1700" b="0" i="0">
                <a:solidFill>
                  <a:srgbClr val="2A2929"/>
                </a:solidFill>
                <a:latin typeface="Roboto"/>
              </a:rPr>
              <a:t>Create a user; add to the group; enable MFA.</a:t>
            </a:r>
          </a:p>
          <a:p>
            <a:pPr marL="0" indent="0">
              <a:lnSpc>
                <a:spcPct val="105000"/>
              </a:lnSpc>
              <a:spcBef>
                <a:spcPts val="0"/>
              </a:spcBef>
              <a:spcAft>
                <a:spcPts val="1000"/>
              </a:spcAft>
            </a:pPr>
            <a:r>
              <a:rPr sz="1700" b="1" i="0">
                <a:solidFill>
                  <a:srgbClr val="EDAB0C"/>
                </a:solidFill>
                <a:latin typeface="Roboto"/>
              </a:rPr>
              <a:t>■  </a:t>
            </a:r>
            <a:r>
              <a:rPr sz="1700" b="0" i="0">
                <a:solidFill>
                  <a:srgbClr val="2A2929"/>
                </a:solidFill>
                <a:latin typeface="Roboto"/>
              </a:rPr>
              <a:t>Create the EC2 instance role (Application-Service) and attach its policy.</a:t>
            </a:r>
          </a:p>
          <a:p>
            <a:pPr marL="0" indent="0">
              <a:lnSpc>
                <a:spcPct val="105000"/>
              </a:lnSpc>
              <a:spcBef>
                <a:spcPts val="0"/>
              </a:spcBef>
              <a:spcAft>
                <a:spcPts val="1000"/>
              </a:spcAft>
            </a:pPr>
            <a:r>
              <a:rPr sz="1700" b="1" i="0">
                <a:solidFill>
                  <a:srgbClr val="EDAB0C"/>
                </a:solidFill>
                <a:latin typeface="Roboto"/>
              </a:rPr>
              <a:t>■  </a:t>
            </a:r>
            <a:r>
              <a:rPr sz="1700" b="0" i="0">
                <a:solidFill>
                  <a:srgbClr val="2A2929"/>
                </a:solidFill>
                <a:latin typeface="Roboto"/>
              </a:rPr>
              <a:t>Capture the IAM evidence screenshot (groups list + a user with MFA).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5897880"/>
            <a:ext cx="7863840" cy="457200"/>
          </a:xfrm>
          <a:prstGeom prst="roundRect">
            <a:avLst/>
          </a:prstGeom>
          <a:solidFill>
            <a:srgbClr val="F9F9F9"/>
          </a:solidFill>
          <a:ln w="12700">
            <a:solidFill>
              <a:srgbClr val="CCCC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22960" y="5943600"/>
            <a:ext cx="749808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1400" b="1" i="0">
                <a:solidFill>
                  <a:srgbClr val="2A2929"/>
                </a:solidFill>
                <a:latin typeface="Roboto"/>
              </a:rPr>
              <a:t>▶  Play the AWS recorded demo (ACF M04 · IAM) — you do this next</a:t>
            </a:r>
          </a:p>
        </p:txBody>
      </p:sp>
      <p:sp>
        <p:nvSpPr>
          <p:cNvPr id="8" name="Rectangle 7"/>
          <p:cNvSpPr/>
          <p:nvPr/>
        </p:nvSpPr>
        <p:spPr>
          <a:xfrm>
            <a:off x="0" y="6565392"/>
            <a:ext cx="12191695" cy="38100"/>
          </a:xfrm>
          <a:prstGeom prst="rect">
            <a:avLst/>
          </a:prstGeom>
          <a:solidFill>
            <a:srgbClr val="27B5C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02920" y="6400800"/>
            <a:ext cx="5486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100" b="1" i="0">
                <a:solidFill>
                  <a:srgbClr val="2A2929"/>
                </a:solidFill>
                <a:latin typeface="Roboto"/>
              </a:rPr>
              <a:t>Kangan </a:t>
            </a:r>
            <a:r>
              <a:rPr sz="1100" b="1" i="0">
                <a:solidFill>
                  <a:srgbClr val="D68E10"/>
                </a:solidFill>
                <a:latin typeface="Roboto"/>
              </a:rPr>
              <a:t>Institute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515600" y="6400800"/>
            <a:ext cx="11887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 i="0">
                <a:solidFill>
                  <a:srgbClr val="7A7A7A"/>
                </a:solidFill>
                <a:latin typeface="Roboto"/>
              </a:rPr>
              <a:t>12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234440"/>
          </a:xfrm>
          <a:prstGeom prst="rect">
            <a:avLst/>
          </a:prstGeom>
          <a:solidFill>
            <a:srgbClr val="27B5C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640080" y="384048"/>
            <a:ext cx="1691640" cy="457200"/>
          </a:xfrm>
          <a:prstGeom prst="roundRect">
            <a:avLst/>
          </a:prstGeom>
          <a:solidFill>
            <a:srgbClr val="2A292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400" b="1" i="0">
                <a:solidFill>
                  <a:srgbClr val="FBB900"/>
                </a:solidFill>
                <a:latin typeface="Roboto"/>
              </a:rPr>
              <a:t>ACTIVITY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560320" y="310896"/>
            <a:ext cx="8961120" cy="685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Roboto"/>
              </a:rPr>
              <a:t>Build the IAM model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1554480"/>
            <a:ext cx="10881360" cy="429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marL="0" indent="0">
              <a:lnSpc>
                <a:spcPct val="105000"/>
              </a:lnSpc>
              <a:spcBef>
                <a:spcPts val="0"/>
              </a:spcBef>
              <a:spcAft>
                <a:spcPts val="1000"/>
              </a:spcAft>
            </a:pPr>
            <a:r>
              <a:rPr sz="1700" b="1" i="0">
                <a:solidFill>
                  <a:srgbClr val="EDAB0C"/>
                </a:solidFill>
                <a:latin typeface="Roboto"/>
              </a:rPr>
              <a:t>■  </a:t>
            </a:r>
            <a:r>
              <a:rPr sz="1700" b="0" i="0">
                <a:solidFill>
                  <a:srgbClr val="2A2929"/>
                </a:solidFill>
                <a:latin typeface="Roboto"/>
              </a:rPr>
              <a:t>Per the Accounting Baseline Design, build the IAM foundation in the lab:</a:t>
            </a:r>
          </a:p>
          <a:p>
            <a:pPr marL="365760" indent="0">
              <a:lnSpc>
                <a:spcPct val="105000"/>
              </a:lnSpc>
              <a:spcBef>
                <a:spcPts val="0"/>
              </a:spcBef>
              <a:spcAft>
                <a:spcPts val="500"/>
              </a:spcAft>
            </a:pPr>
            <a:r>
              <a:rPr sz="1400" b="0" i="0">
                <a:solidFill>
                  <a:srgbClr val="7A7A7A"/>
                </a:solidFill>
                <a:latin typeface="Roboto"/>
              </a:rPr>
              <a:t>–  </a:t>
            </a:r>
            <a:r>
              <a:rPr sz="1400" b="0" i="0">
                <a:solidFill>
                  <a:srgbClr val="2A2929"/>
                </a:solidFill>
                <a:latin typeface="Roboto"/>
              </a:rPr>
              <a:t>create the groups + the application-service role, with least-privilege policies</a:t>
            </a:r>
          </a:p>
          <a:p>
            <a:pPr marL="365760" indent="0">
              <a:lnSpc>
                <a:spcPct val="105000"/>
              </a:lnSpc>
              <a:spcBef>
                <a:spcPts val="0"/>
              </a:spcBef>
              <a:spcAft>
                <a:spcPts val="500"/>
              </a:spcAft>
            </a:pPr>
            <a:r>
              <a:rPr sz="1400" b="0" i="0">
                <a:solidFill>
                  <a:srgbClr val="7A7A7A"/>
                </a:solidFill>
                <a:latin typeface="Roboto"/>
              </a:rPr>
              <a:t>–  </a:t>
            </a:r>
            <a:r>
              <a:rPr sz="1400" b="0" i="0">
                <a:solidFill>
                  <a:srgbClr val="2A2929"/>
                </a:solidFill>
                <a:latin typeface="Roboto"/>
              </a:rPr>
              <a:t>create at least one user per human group; enforce MFA</a:t>
            </a:r>
          </a:p>
          <a:p>
            <a:pPr marL="365760" indent="0">
              <a:lnSpc>
                <a:spcPct val="105000"/>
              </a:lnSpc>
              <a:spcBef>
                <a:spcPts val="0"/>
              </a:spcBef>
              <a:spcAft>
                <a:spcPts val="500"/>
              </a:spcAft>
            </a:pPr>
            <a:r>
              <a:rPr sz="1400" b="0" i="0">
                <a:solidFill>
                  <a:srgbClr val="7A7A7A"/>
                </a:solidFill>
                <a:latin typeface="Roboto"/>
              </a:rPr>
              <a:t>–  </a:t>
            </a:r>
            <a:r>
              <a:rPr sz="1400" b="0" i="0">
                <a:solidFill>
                  <a:srgbClr val="2A2929"/>
                </a:solidFill>
                <a:latin typeface="Roboto"/>
              </a:rPr>
              <a:t>capture the IAM evidence (groups, a user with MFA, the role)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5897880"/>
            <a:ext cx="4023360" cy="457200"/>
          </a:xfrm>
          <a:prstGeom prst="roundRect">
            <a:avLst/>
          </a:prstGeom>
          <a:solidFill>
            <a:srgbClr val="F9F9F9"/>
          </a:solidFill>
          <a:ln w="12700">
            <a:solidFill>
              <a:srgbClr val="CCCC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22960" y="5943600"/>
            <a:ext cx="365760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1500" b="1" i="0">
                <a:solidFill>
                  <a:srgbClr val="2A2929"/>
                </a:solidFill>
                <a:latin typeface="Roboto"/>
              </a:rPr>
              <a:t>⏱  ~30 min</a:t>
            </a:r>
          </a:p>
        </p:txBody>
      </p:sp>
      <p:sp>
        <p:nvSpPr>
          <p:cNvPr id="8" name="Rectangle 7"/>
          <p:cNvSpPr/>
          <p:nvPr/>
        </p:nvSpPr>
        <p:spPr>
          <a:xfrm>
            <a:off x="0" y="6565392"/>
            <a:ext cx="12191695" cy="38100"/>
          </a:xfrm>
          <a:prstGeom prst="rect">
            <a:avLst/>
          </a:prstGeom>
          <a:solidFill>
            <a:srgbClr val="27B5C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02920" y="6400800"/>
            <a:ext cx="5486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100" b="1" i="0">
                <a:solidFill>
                  <a:srgbClr val="2A2929"/>
                </a:solidFill>
                <a:latin typeface="Roboto"/>
              </a:rPr>
              <a:t>Kangan </a:t>
            </a:r>
            <a:r>
              <a:rPr sz="1100" b="1" i="0">
                <a:solidFill>
                  <a:srgbClr val="D68E10"/>
                </a:solidFill>
                <a:latin typeface="Roboto"/>
              </a:rPr>
              <a:t>Institute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515600" y="6400800"/>
            <a:ext cx="11887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 i="0">
                <a:solidFill>
                  <a:srgbClr val="7A7A7A"/>
                </a:solidFill>
                <a:latin typeface="Roboto"/>
              </a:rPr>
              <a:t>13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9F9F9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548640"/>
            <a:ext cx="10881360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3200" b="1" i="0">
                <a:solidFill>
                  <a:srgbClr val="2A2929"/>
                </a:solidFill>
                <a:latin typeface="Roboto"/>
              </a:rPr>
              <a:t>Key takeaways</a:t>
            </a:r>
          </a:p>
          <a:p>
            <a:pPr>
              <a:spcBef>
                <a:spcPts val="200"/>
              </a:spcBef>
            </a:pPr>
            <a:r>
              <a:rPr sz="1800" b="1" i="0">
                <a:solidFill>
                  <a:srgbClr val="27B5CE"/>
                </a:solidFill>
                <a:latin typeface="Roboto"/>
              </a:rPr>
              <a:t>Section 2 · Identity &amp; access</a:t>
            </a:r>
          </a:p>
        </p:txBody>
      </p:sp>
      <p:sp>
        <p:nvSpPr>
          <p:cNvPr id="3" name="Rectangle 2"/>
          <p:cNvSpPr/>
          <p:nvPr/>
        </p:nvSpPr>
        <p:spPr>
          <a:xfrm>
            <a:off x="658368" y="1600200"/>
            <a:ext cx="1463040" cy="50800"/>
          </a:xfrm>
          <a:prstGeom prst="rect">
            <a:avLst/>
          </a:prstGeom>
          <a:solidFill>
            <a:srgbClr val="27B5C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640080" y="1965960"/>
            <a:ext cx="10927080" cy="841248"/>
          </a:xfrm>
          <a:prstGeom prst="rect">
            <a:avLst/>
          </a:prstGeom>
          <a:solidFill>
            <a:srgbClr val="FFFFFF"/>
          </a:solidFill>
          <a:ln w="12700">
            <a:solidFill>
              <a:srgbClr val="CCCC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640080" y="1965960"/>
            <a:ext cx="109728" cy="841248"/>
          </a:xfrm>
          <a:prstGeom prst="rect">
            <a:avLst/>
          </a:prstGeom>
          <a:solidFill>
            <a:srgbClr val="27B5C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60120" y="1965960"/>
            <a:ext cx="10424160" cy="8412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>
              <a:lnSpc>
                <a:spcPct val="100000"/>
              </a:lnSpc>
            </a:pPr>
            <a:r>
              <a:rPr sz="1700" b="0" i="0">
                <a:solidFill>
                  <a:srgbClr val="2A2929"/>
                </a:solidFill>
                <a:latin typeface="Roboto"/>
              </a:rPr>
              <a:t>IAM = users + groups (people), roles (services, temporary creds), policies (JSON permissions).</a:t>
            </a:r>
          </a:p>
        </p:txBody>
      </p:sp>
      <p:sp>
        <p:nvSpPr>
          <p:cNvPr id="7" name="Rectangle 6"/>
          <p:cNvSpPr/>
          <p:nvPr/>
        </p:nvSpPr>
        <p:spPr>
          <a:xfrm>
            <a:off x="640080" y="2916936"/>
            <a:ext cx="10927080" cy="841248"/>
          </a:xfrm>
          <a:prstGeom prst="rect">
            <a:avLst/>
          </a:prstGeom>
          <a:solidFill>
            <a:srgbClr val="FFFFFF"/>
          </a:solidFill>
          <a:ln w="12700">
            <a:solidFill>
              <a:srgbClr val="CCCC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640080" y="2916936"/>
            <a:ext cx="109728" cy="841248"/>
          </a:xfrm>
          <a:prstGeom prst="rect">
            <a:avLst/>
          </a:prstGeom>
          <a:solidFill>
            <a:srgbClr val="27B5C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60120" y="2916936"/>
            <a:ext cx="10424160" cy="8412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>
              <a:lnSpc>
                <a:spcPct val="100000"/>
              </a:lnSpc>
            </a:pPr>
            <a:r>
              <a:rPr sz="1700" b="0" i="0">
                <a:solidFill>
                  <a:srgbClr val="2A2929"/>
                </a:solidFill>
                <a:latin typeface="Roboto"/>
              </a:rPr>
              <a:t>Attach policies to groups; least privilege; MFA on humans; roles for services.</a:t>
            </a:r>
          </a:p>
        </p:txBody>
      </p:sp>
      <p:sp>
        <p:nvSpPr>
          <p:cNvPr id="10" name="Rectangle 9"/>
          <p:cNvSpPr/>
          <p:nvPr/>
        </p:nvSpPr>
        <p:spPr>
          <a:xfrm>
            <a:off x="640080" y="3867912"/>
            <a:ext cx="10927080" cy="841248"/>
          </a:xfrm>
          <a:prstGeom prst="rect">
            <a:avLst/>
          </a:prstGeom>
          <a:solidFill>
            <a:srgbClr val="FFFFFF"/>
          </a:solidFill>
          <a:ln w="12700">
            <a:solidFill>
              <a:srgbClr val="CCCC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640080" y="3867912"/>
            <a:ext cx="109728" cy="841248"/>
          </a:xfrm>
          <a:prstGeom prst="rect">
            <a:avLst/>
          </a:prstGeom>
          <a:solidFill>
            <a:srgbClr val="27B5C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960120" y="3867912"/>
            <a:ext cx="10424160" cy="8412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>
              <a:lnSpc>
                <a:spcPct val="100000"/>
              </a:lnSpc>
            </a:pPr>
            <a:r>
              <a:rPr sz="1700" b="0" i="0">
                <a:solidFill>
                  <a:srgbClr val="2A2929"/>
                </a:solidFill>
                <a:latin typeface="Roboto"/>
              </a:rPr>
              <a:t>Build the design's groups + role, and evidence it as you go.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0" y="6565392"/>
            <a:ext cx="12191695" cy="38100"/>
          </a:xfrm>
          <a:prstGeom prst="rect">
            <a:avLst/>
          </a:prstGeom>
          <a:solidFill>
            <a:srgbClr val="27B5C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502920" y="6400800"/>
            <a:ext cx="5486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100" b="1" i="0">
                <a:solidFill>
                  <a:srgbClr val="2A2929"/>
                </a:solidFill>
                <a:latin typeface="Roboto"/>
              </a:rPr>
              <a:t>Kangan </a:t>
            </a:r>
            <a:r>
              <a:rPr sz="1100" b="1" i="0">
                <a:solidFill>
                  <a:srgbClr val="D68E10"/>
                </a:solidFill>
                <a:latin typeface="Roboto"/>
              </a:rPr>
              <a:t>Institute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515600" y="6400800"/>
            <a:ext cx="11887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 i="0">
                <a:solidFill>
                  <a:srgbClr val="7A7A7A"/>
                </a:solidFill>
                <a:latin typeface="Roboto"/>
              </a:rPr>
              <a:t>14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3931920" cy="6858000"/>
          </a:xfrm>
          <a:prstGeom prst="rect">
            <a:avLst/>
          </a:prstGeom>
          <a:solidFill>
            <a:srgbClr val="205F6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2103120"/>
            <a:ext cx="3291840" cy="21945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3000" b="1" i="0">
                <a:solidFill>
                  <a:srgbClr val="FFFFFF"/>
                </a:solidFill>
                <a:latin typeface="Roboto"/>
              </a:rPr>
              <a:t>03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480560" y="2468880"/>
            <a:ext cx="7132320" cy="21945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600" b="1" i="0">
                <a:solidFill>
                  <a:srgbClr val="205F61"/>
                </a:solidFill>
                <a:latin typeface="Roboto"/>
              </a:rPr>
              <a:t>SECTION</a:t>
            </a:r>
          </a:p>
          <a:p>
            <a:pPr>
              <a:spcBef>
                <a:spcPts val="600"/>
              </a:spcBef>
            </a:pPr>
            <a:r>
              <a:rPr sz="3800" b="1" i="0">
                <a:solidFill>
                  <a:srgbClr val="2A2929"/>
                </a:solidFill>
                <a:latin typeface="Roboto"/>
              </a:rPr>
              <a:t>Shared responsibility</a:t>
            </a:r>
          </a:p>
          <a:p>
            <a:pPr>
              <a:spcBef>
                <a:spcPts val="1000"/>
              </a:spcBef>
            </a:pPr>
            <a:r>
              <a:rPr sz="2000" b="0" i="1">
                <a:solidFill>
                  <a:srgbClr val="484848"/>
                </a:solidFill>
                <a:latin typeface="Roboto Light"/>
              </a:rPr>
              <a:t>who secures what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565392"/>
            <a:ext cx="12191695" cy="38100"/>
          </a:xfrm>
          <a:prstGeom prst="rect">
            <a:avLst/>
          </a:prstGeom>
          <a:solidFill>
            <a:srgbClr val="205F6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02920" y="6400800"/>
            <a:ext cx="5486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100" b="1" i="0">
                <a:solidFill>
                  <a:srgbClr val="2A2929"/>
                </a:solidFill>
                <a:latin typeface="Roboto"/>
              </a:rPr>
              <a:t>Kangan </a:t>
            </a:r>
            <a:r>
              <a:rPr sz="1100" b="1" i="0">
                <a:solidFill>
                  <a:srgbClr val="D68E10"/>
                </a:solidFill>
                <a:latin typeface="Roboto"/>
              </a:rPr>
              <a:t>Institute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515600" y="6400800"/>
            <a:ext cx="11887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 i="0">
                <a:solidFill>
                  <a:srgbClr val="7A7A7A"/>
                </a:solidFill>
                <a:latin typeface="Roboto"/>
              </a:rPr>
              <a:t/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9601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2800" b="1" i="0">
                <a:solidFill>
                  <a:srgbClr val="2A2929"/>
                </a:solidFill>
                <a:latin typeface="Roboto"/>
              </a:rPr>
              <a:t>The shared responsibility model</a:t>
            </a:r>
          </a:p>
          <a:p>
            <a:pPr>
              <a:spcBef>
                <a:spcPts val="200"/>
              </a:spcBef>
            </a:pPr>
            <a:r>
              <a:rPr sz="1800" b="0" i="1">
                <a:solidFill>
                  <a:srgbClr val="D68E10"/>
                </a:solidFill>
                <a:latin typeface="Roboto Light"/>
              </a:rPr>
              <a:t>ACF M04</a:t>
            </a:r>
          </a:p>
        </p:txBody>
      </p:sp>
      <p:sp>
        <p:nvSpPr>
          <p:cNvPr id="3" name="Rectangle 2"/>
          <p:cNvSpPr/>
          <p:nvPr/>
        </p:nvSpPr>
        <p:spPr>
          <a:xfrm>
            <a:off x="658368" y="1371600"/>
            <a:ext cx="1463040" cy="50800"/>
          </a:xfrm>
          <a:prstGeom prst="rect">
            <a:avLst/>
          </a:prstGeom>
          <a:solidFill>
            <a:srgbClr val="205F6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58368" y="1737360"/>
            <a:ext cx="5486400" cy="429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marL="0" indent="0">
              <a:lnSpc>
                <a:spcPct val="105000"/>
              </a:lnSpc>
              <a:spcBef>
                <a:spcPts val="0"/>
              </a:spcBef>
              <a:spcAft>
                <a:spcPts val="1000"/>
              </a:spcAft>
            </a:pPr>
            <a:r>
              <a:rPr sz="1700" b="1" i="0">
                <a:solidFill>
                  <a:srgbClr val="EDAB0C"/>
                </a:solidFill>
                <a:latin typeface="Roboto"/>
              </a:rPr>
              <a:t>■  </a:t>
            </a:r>
            <a:r>
              <a:rPr sz="1700" b="0" i="0">
                <a:solidFill>
                  <a:srgbClr val="2A2929"/>
                </a:solidFill>
                <a:latin typeface="Roboto"/>
              </a:rPr>
              <a:t>AWS — security OF the cloud: physical data centres, hardware, network, virtualization infrastructure.</a:t>
            </a:r>
          </a:p>
          <a:p>
            <a:pPr marL="0" indent="0">
              <a:lnSpc>
                <a:spcPct val="105000"/>
              </a:lnSpc>
              <a:spcBef>
                <a:spcPts val="0"/>
              </a:spcBef>
              <a:spcAft>
                <a:spcPts val="1000"/>
              </a:spcAft>
            </a:pPr>
            <a:r>
              <a:rPr sz="1700" b="1" i="0">
                <a:solidFill>
                  <a:srgbClr val="EDAB0C"/>
                </a:solidFill>
                <a:latin typeface="Roboto"/>
              </a:rPr>
              <a:t>■  </a:t>
            </a:r>
            <a:r>
              <a:rPr sz="1700" b="0" i="0">
                <a:solidFill>
                  <a:srgbClr val="2A2929"/>
                </a:solidFill>
                <a:latin typeface="Roboto"/>
              </a:rPr>
              <a:t>You — security IN the cloud: the EC2 OS (patching), applications, security-group config, IAM, account management, and your data.</a:t>
            </a:r>
          </a:p>
          <a:p>
            <a:pPr marL="0" indent="0">
              <a:lnSpc>
                <a:spcPct val="105000"/>
              </a:lnSpc>
              <a:spcBef>
                <a:spcPts val="0"/>
              </a:spcBef>
              <a:spcAft>
                <a:spcPts val="1000"/>
              </a:spcAft>
            </a:pPr>
            <a:r>
              <a:rPr sz="1700" b="1" i="0">
                <a:solidFill>
                  <a:srgbClr val="EDAB0C"/>
                </a:solidFill>
                <a:latin typeface="Roboto"/>
              </a:rPr>
              <a:t>■  </a:t>
            </a:r>
            <a:r>
              <a:rPr sz="1700" b="0" i="0">
                <a:solidFill>
                  <a:srgbClr val="2A2929"/>
                </a:solidFill>
                <a:latin typeface="Roboto"/>
              </a:rPr>
              <a:t>Knowing the line tells you what you must configure — and what you can rely on.</a:t>
            </a:r>
          </a:p>
        </p:txBody>
      </p:sp>
      <p:pic>
        <p:nvPicPr>
          <p:cNvPr id="5" name="Picture 4" descr="06-shared-responsibilit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0" y="2384615"/>
            <a:ext cx="5120640" cy="2820290"/>
          </a:xfrm>
          <a:prstGeom prst="rect">
            <a:avLst/>
          </a:prstGeom>
        </p:spPr>
      </p:pic>
      <p:sp>
        <p:nvSpPr>
          <p:cNvPr id="6" name="Rectangle 5"/>
          <p:cNvSpPr/>
          <p:nvPr/>
        </p:nvSpPr>
        <p:spPr>
          <a:xfrm>
            <a:off x="0" y="6565392"/>
            <a:ext cx="12191695" cy="38100"/>
          </a:xfrm>
          <a:prstGeom prst="rect">
            <a:avLst/>
          </a:prstGeom>
          <a:solidFill>
            <a:srgbClr val="205F6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02920" y="6400800"/>
            <a:ext cx="5486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100" b="1" i="0">
                <a:solidFill>
                  <a:srgbClr val="2A2929"/>
                </a:solidFill>
                <a:latin typeface="Roboto"/>
              </a:rPr>
              <a:t>Kangan </a:t>
            </a:r>
            <a:r>
              <a:rPr sz="1100" b="1" i="0">
                <a:solidFill>
                  <a:srgbClr val="D68E10"/>
                </a:solidFill>
                <a:latin typeface="Roboto"/>
              </a:rPr>
              <a:t>Institute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515600" y="6400800"/>
            <a:ext cx="11887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 i="0">
                <a:solidFill>
                  <a:srgbClr val="7A7A7A"/>
                </a:solidFill>
                <a:latin typeface="Roboto"/>
              </a:rPr>
              <a:t>15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9601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2800" b="1" i="0">
                <a:solidFill>
                  <a:srgbClr val="2A2929"/>
                </a:solidFill>
                <a:latin typeface="Roboto"/>
              </a:rPr>
              <a:t>The line shifts with the service</a:t>
            </a:r>
          </a:p>
          <a:p>
            <a:pPr>
              <a:spcBef>
                <a:spcPts val="200"/>
              </a:spcBef>
            </a:pPr>
            <a:r>
              <a:rPr sz="1800" b="0" i="1">
                <a:solidFill>
                  <a:srgbClr val="D68E10"/>
                </a:solidFill>
                <a:latin typeface="Roboto Light"/>
              </a:rPr>
              <a:t>ACF M04</a:t>
            </a:r>
          </a:p>
        </p:txBody>
      </p:sp>
      <p:sp>
        <p:nvSpPr>
          <p:cNvPr id="3" name="Rectangle 2"/>
          <p:cNvSpPr/>
          <p:nvPr/>
        </p:nvSpPr>
        <p:spPr>
          <a:xfrm>
            <a:off x="658368" y="1371600"/>
            <a:ext cx="1463040" cy="50800"/>
          </a:xfrm>
          <a:prstGeom prst="rect">
            <a:avLst/>
          </a:prstGeom>
          <a:solidFill>
            <a:srgbClr val="205F6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58368" y="1691640"/>
            <a:ext cx="10881360" cy="44805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marL="0" indent="0">
              <a:lnSpc>
                <a:spcPct val="105000"/>
              </a:lnSpc>
              <a:spcBef>
                <a:spcPts val="0"/>
              </a:spcBef>
              <a:spcAft>
                <a:spcPts val="1000"/>
              </a:spcAft>
            </a:pPr>
            <a:r>
              <a:rPr sz="2400" b="1" i="0">
                <a:solidFill>
                  <a:srgbClr val="EDAB0C"/>
                </a:solidFill>
                <a:latin typeface="Roboto"/>
              </a:rPr>
              <a:t>■  </a:t>
            </a:r>
            <a:r>
              <a:rPr sz="2400" b="0" i="0">
                <a:solidFill>
                  <a:srgbClr val="2A2929"/>
                </a:solidFill>
                <a:latin typeface="Roboto"/>
              </a:rPr>
              <a:t>IaaS (EC2) — you manage more: the OS, patching, security groups, access controls.</a:t>
            </a:r>
          </a:p>
          <a:p>
            <a:pPr marL="0" indent="0">
              <a:lnSpc>
                <a:spcPct val="105000"/>
              </a:lnSpc>
              <a:spcBef>
                <a:spcPts val="0"/>
              </a:spcBef>
              <a:spcAft>
                <a:spcPts val="1000"/>
              </a:spcAft>
            </a:pPr>
            <a:r>
              <a:rPr sz="2400" b="1" i="0">
                <a:solidFill>
                  <a:srgbClr val="EDAB0C"/>
                </a:solidFill>
                <a:latin typeface="Roboto"/>
              </a:rPr>
              <a:t>■  </a:t>
            </a:r>
            <a:r>
              <a:rPr sz="2400" b="0" i="0">
                <a:solidFill>
                  <a:srgbClr val="2A2929"/>
                </a:solidFill>
                <a:latin typeface="Roboto"/>
              </a:rPr>
              <a:t>PaaS (RDS) — AWS handles the OS, database patching, firewall, DR; you manage your data + access.</a:t>
            </a:r>
          </a:p>
          <a:p>
            <a:pPr marL="0" indent="0">
              <a:lnSpc>
                <a:spcPct val="105000"/>
              </a:lnSpc>
              <a:spcBef>
                <a:spcPts val="0"/>
              </a:spcBef>
              <a:spcAft>
                <a:spcPts val="1000"/>
              </a:spcAft>
            </a:pPr>
            <a:r>
              <a:rPr sz="2400" b="1" i="0">
                <a:solidFill>
                  <a:srgbClr val="EDAB0C"/>
                </a:solidFill>
                <a:latin typeface="Roboto"/>
              </a:rPr>
              <a:t>■  </a:t>
            </a:r>
            <a:r>
              <a:rPr sz="2400" b="0" i="0">
                <a:solidFill>
                  <a:srgbClr val="2A2929"/>
                </a:solidFill>
                <a:latin typeface="Roboto"/>
              </a:rPr>
              <a:t>More managed = more on AWS. The service type sets where the line falls.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565392"/>
            <a:ext cx="12191695" cy="38100"/>
          </a:xfrm>
          <a:prstGeom prst="rect">
            <a:avLst/>
          </a:prstGeom>
          <a:solidFill>
            <a:srgbClr val="205F6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02920" y="6400800"/>
            <a:ext cx="5486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100" b="1" i="0">
                <a:solidFill>
                  <a:srgbClr val="2A2929"/>
                </a:solidFill>
                <a:latin typeface="Roboto"/>
              </a:rPr>
              <a:t>Kangan </a:t>
            </a:r>
            <a:r>
              <a:rPr sz="1100" b="1" i="0">
                <a:solidFill>
                  <a:srgbClr val="D68E10"/>
                </a:solidFill>
                <a:latin typeface="Roboto"/>
              </a:rPr>
              <a:t>Institute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515600" y="6400800"/>
            <a:ext cx="11887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 i="0">
                <a:solidFill>
                  <a:srgbClr val="7A7A7A"/>
                </a:solidFill>
                <a:latin typeface="Roboto"/>
              </a:rPr>
              <a:t>16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9601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2800" b="1" i="0">
                <a:solidFill>
                  <a:srgbClr val="2A2929"/>
                </a:solidFill>
                <a:latin typeface="Roboto"/>
              </a:rPr>
              <a:t>Assigning responsibility on this build</a:t>
            </a:r>
          </a:p>
        </p:txBody>
      </p:sp>
      <p:sp>
        <p:nvSpPr>
          <p:cNvPr id="3" name="Rectangle 2"/>
          <p:cNvSpPr/>
          <p:nvPr/>
        </p:nvSpPr>
        <p:spPr>
          <a:xfrm>
            <a:off x="658368" y="1371600"/>
            <a:ext cx="1463040" cy="50800"/>
          </a:xfrm>
          <a:prstGeom prst="rect">
            <a:avLst/>
          </a:prstGeom>
          <a:solidFill>
            <a:srgbClr val="205F6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58368" y="1691640"/>
            <a:ext cx="10881360" cy="44805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marL="0" indent="0">
              <a:lnSpc>
                <a:spcPct val="105000"/>
              </a:lnSpc>
              <a:spcBef>
                <a:spcPts val="0"/>
              </a:spcBef>
              <a:spcAft>
                <a:spcPts val="1000"/>
              </a:spcAft>
            </a:pPr>
            <a:r>
              <a:rPr sz="2400" b="1" i="0">
                <a:solidFill>
                  <a:srgbClr val="EDAB0C"/>
                </a:solidFill>
                <a:latin typeface="Roboto"/>
              </a:rPr>
              <a:t>■  </a:t>
            </a:r>
            <a:r>
              <a:rPr sz="2400" b="0" i="0">
                <a:solidFill>
                  <a:srgbClr val="2A2929"/>
                </a:solidFill>
                <a:latin typeface="Roboto"/>
              </a:rPr>
              <a:t>Map each layer of the Accounting build to its owner — AWS · YAT ICT · MTS (build) · end-users.</a:t>
            </a:r>
          </a:p>
          <a:p>
            <a:pPr marL="0" indent="0">
              <a:lnSpc>
                <a:spcPct val="105000"/>
              </a:lnSpc>
              <a:spcBef>
                <a:spcPts val="0"/>
              </a:spcBef>
              <a:spcAft>
                <a:spcPts val="1000"/>
              </a:spcAft>
            </a:pPr>
            <a:r>
              <a:rPr sz="2400" b="1" i="0">
                <a:solidFill>
                  <a:srgbClr val="EDAB0C"/>
                </a:solidFill>
                <a:latin typeface="Roboto"/>
              </a:rPr>
              <a:t>■  </a:t>
            </a:r>
            <a:r>
              <a:rPr sz="2400" b="0" i="0">
                <a:solidFill>
                  <a:srgbClr val="2A2929"/>
                </a:solidFill>
                <a:latin typeface="Roboto"/>
              </a:rPr>
              <a:t>The supplied design's security section names the split; your job is to apply it:</a:t>
            </a:r>
          </a:p>
          <a:p>
            <a:pPr marL="365760" indent="0">
              <a:lnSpc>
                <a:spcPct val="105000"/>
              </a:lnSpc>
              <a:spcBef>
                <a:spcPts val="0"/>
              </a:spcBef>
              <a:spcAft>
                <a:spcPts val="500"/>
              </a:spcAft>
            </a:pPr>
            <a:r>
              <a:rPr sz="2100" b="0" i="0">
                <a:solidFill>
                  <a:srgbClr val="7A7A7A"/>
                </a:solidFill>
                <a:latin typeface="Roboto"/>
              </a:rPr>
              <a:t>–  </a:t>
            </a:r>
            <a:r>
              <a:rPr sz="2100" b="0" i="0">
                <a:solidFill>
                  <a:srgbClr val="2A2929"/>
                </a:solidFill>
                <a:latin typeface="Roboto"/>
              </a:rPr>
              <a:t>AWS patches the RDS host · YAT patches the EC2 OS · MTS sets the IAM + SG config at build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565392"/>
            <a:ext cx="12191695" cy="38100"/>
          </a:xfrm>
          <a:prstGeom prst="rect">
            <a:avLst/>
          </a:prstGeom>
          <a:solidFill>
            <a:srgbClr val="205F6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02920" y="6400800"/>
            <a:ext cx="5486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100" b="1" i="0">
                <a:solidFill>
                  <a:srgbClr val="2A2929"/>
                </a:solidFill>
                <a:latin typeface="Roboto"/>
              </a:rPr>
              <a:t>Kangan </a:t>
            </a:r>
            <a:r>
              <a:rPr sz="1100" b="1" i="0">
                <a:solidFill>
                  <a:srgbClr val="D68E10"/>
                </a:solidFill>
                <a:latin typeface="Roboto"/>
              </a:rPr>
              <a:t>Institute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515600" y="6400800"/>
            <a:ext cx="11887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 i="0">
                <a:solidFill>
                  <a:srgbClr val="7A7A7A"/>
                </a:solidFill>
                <a:latin typeface="Roboto"/>
              </a:rPr>
              <a:t>17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234440"/>
          </a:xfrm>
          <a:prstGeom prst="rect">
            <a:avLst/>
          </a:prstGeom>
          <a:solidFill>
            <a:srgbClr val="205F6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640080" y="384048"/>
            <a:ext cx="1691640" cy="457200"/>
          </a:xfrm>
          <a:prstGeom prst="roundRect">
            <a:avLst/>
          </a:prstGeom>
          <a:solidFill>
            <a:srgbClr val="2A292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400" b="1" i="0">
                <a:solidFill>
                  <a:srgbClr val="FBB900"/>
                </a:solidFill>
                <a:latin typeface="Roboto"/>
              </a:rPr>
              <a:t>ACTIVITY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560320" y="310896"/>
            <a:ext cx="8961120" cy="685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Roboto"/>
              </a:rPr>
              <a:t>Complete the shared-responsibility assignment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1554480"/>
            <a:ext cx="10881360" cy="429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marL="0" indent="0">
              <a:lnSpc>
                <a:spcPct val="105000"/>
              </a:lnSpc>
              <a:spcBef>
                <a:spcPts val="0"/>
              </a:spcBef>
              <a:spcAft>
                <a:spcPts val="1000"/>
              </a:spcAft>
            </a:pPr>
            <a:r>
              <a:rPr sz="1700" b="1" i="0">
                <a:solidFill>
                  <a:srgbClr val="EDAB0C"/>
                </a:solidFill>
                <a:latin typeface="Roboto"/>
              </a:rPr>
              <a:t>■  </a:t>
            </a:r>
            <a:r>
              <a:rPr sz="1700" b="0" i="0">
                <a:solidFill>
                  <a:srgbClr val="2A2929"/>
                </a:solidFill>
                <a:latin typeface="Roboto"/>
              </a:rPr>
              <a:t>No console build — an analysis task (in the style of the AWS scenario).</a:t>
            </a:r>
          </a:p>
          <a:p>
            <a:pPr marL="0" indent="0">
              <a:lnSpc>
                <a:spcPct val="105000"/>
              </a:lnSpc>
              <a:spcBef>
                <a:spcPts val="0"/>
              </a:spcBef>
              <a:spcAft>
                <a:spcPts val="1000"/>
              </a:spcAft>
            </a:pPr>
            <a:r>
              <a:rPr sz="1700" b="1" i="0">
                <a:solidFill>
                  <a:srgbClr val="EDAB0C"/>
                </a:solidFill>
                <a:latin typeface="Roboto"/>
              </a:rPr>
              <a:t>■  </a:t>
            </a:r>
            <a:r>
              <a:rPr sz="1700" b="0" i="0">
                <a:solidFill>
                  <a:srgbClr val="2A2929"/>
                </a:solidFill>
                <a:latin typeface="Roboto"/>
              </a:rPr>
              <a:t>For each part of the Accounting foundation, name who is responsible — AWS or you (YAT/MTS):</a:t>
            </a:r>
          </a:p>
          <a:p>
            <a:pPr marL="365760" indent="0">
              <a:lnSpc>
                <a:spcPct val="105000"/>
              </a:lnSpc>
              <a:spcBef>
                <a:spcPts val="0"/>
              </a:spcBef>
              <a:spcAft>
                <a:spcPts val="500"/>
              </a:spcAft>
            </a:pPr>
            <a:r>
              <a:rPr sz="1400" b="0" i="0">
                <a:solidFill>
                  <a:srgbClr val="7A7A7A"/>
                </a:solidFill>
                <a:latin typeface="Roboto"/>
              </a:rPr>
              <a:t>–  </a:t>
            </a:r>
            <a:r>
              <a:rPr sz="1400" b="0" i="0">
                <a:solidFill>
                  <a:srgbClr val="2A2929"/>
                </a:solidFill>
                <a:latin typeface="Roboto"/>
              </a:rPr>
              <a:t>EC2 OS patching · security-group settings · application config · IAM / MFA</a:t>
            </a:r>
          </a:p>
          <a:p>
            <a:pPr marL="365760" indent="0">
              <a:lnSpc>
                <a:spcPct val="105000"/>
              </a:lnSpc>
              <a:spcBef>
                <a:spcPts val="0"/>
              </a:spcBef>
              <a:spcAft>
                <a:spcPts val="500"/>
              </a:spcAft>
            </a:pPr>
            <a:r>
              <a:rPr sz="1400" b="0" i="0">
                <a:solidFill>
                  <a:srgbClr val="7A7A7A"/>
                </a:solidFill>
                <a:latin typeface="Roboto"/>
              </a:rPr>
              <a:t>–  </a:t>
            </a:r>
            <a:r>
              <a:rPr sz="1400" b="0" i="0">
                <a:solidFill>
                  <a:srgbClr val="2A2929"/>
                </a:solidFill>
                <a:latin typeface="Roboto"/>
              </a:rPr>
              <a:t>SQL Server patching on RDS · physical data-centre security · S3 bucket access config · data</a:t>
            </a:r>
          </a:p>
          <a:p>
            <a:pPr marL="0" indent="0">
              <a:lnSpc>
                <a:spcPct val="105000"/>
              </a:lnSpc>
              <a:spcBef>
                <a:spcPts val="0"/>
              </a:spcBef>
              <a:spcAft>
                <a:spcPts val="1000"/>
              </a:spcAft>
            </a:pPr>
            <a:r>
              <a:rPr sz="1700" b="1" i="0">
                <a:solidFill>
                  <a:srgbClr val="EDAB0C"/>
                </a:solidFill>
                <a:latin typeface="Roboto"/>
              </a:rPr>
              <a:t>■  </a:t>
            </a:r>
            <a:r>
              <a:rPr sz="1700" b="0" i="0">
                <a:solidFill>
                  <a:srgbClr val="2A2929"/>
                </a:solidFill>
                <a:latin typeface="Roboto"/>
              </a:rPr>
              <a:t>Per the supplied design + the shared-responsibility model. ~½ page — feeds your Deployment Report's security section.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5897880"/>
            <a:ext cx="4023360" cy="457200"/>
          </a:xfrm>
          <a:prstGeom prst="roundRect">
            <a:avLst/>
          </a:prstGeom>
          <a:solidFill>
            <a:srgbClr val="F9F9F9"/>
          </a:solidFill>
          <a:ln w="12700">
            <a:solidFill>
              <a:srgbClr val="CCCC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22960" y="5943600"/>
            <a:ext cx="365760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1500" b="1" i="0">
                <a:solidFill>
                  <a:srgbClr val="2A2929"/>
                </a:solidFill>
                <a:latin typeface="Roboto"/>
              </a:rPr>
              <a:t>⏱  ~15 min, then we discuss</a:t>
            </a:r>
          </a:p>
        </p:txBody>
      </p:sp>
      <p:sp>
        <p:nvSpPr>
          <p:cNvPr id="8" name="Rectangle 7"/>
          <p:cNvSpPr/>
          <p:nvPr/>
        </p:nvSpPr>
        <p:spPr>
          <a:xfrm>
            <a:off x="0" y="6565392"/>
            <a:ext cx="12191695" cy="38100"/>
          </a:xfrm>
          <a:prstGeom prst="rect">
            <a:avLst/>
          </a:prstGeom>
          <a:solidFill>
            <a:srgbClr val="205F6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02920" y="6400800"/>
            <a:ext cx="5486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100" b="1" i="0">
                <a:solidFill>
                  <a:srgbClr val="2A2929"/>
                </a:solidFill>
                <a:latin typeface="Roboto"/>
              </a:rPr>
              <a:t>Kangan </a:t>
            </a:r>
            <a:r>
              <a:rPr sz="1100" b="1" i="0">
                <a:solidFill>
                  <a:srgbClr val="D68E10"/>
                </a:solidFill>
                <a:latin typeface="Roboto"/>
              </a:rPr>
              <a:t>Institute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515600" y="6400800"/>
            <a:ext cx="11887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 i="0">
                <a:solidFill>
                  <a:srgbClr val="7A7A7A"/>
                </a:solidFill>
                <a:latin typeface="Roboto"/>
              </a:rPr>
              <a:t>18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9F9F9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548640"/>
            <a:ext cx="10881360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3200" b="1" i="0">
                <a:solidFill>
                  <a:srgbClr val="2A2929"/>
                </a:solidFill>
                <a:latin typeface="Roboto"/>
              </a:rPr>
              <a:t>Key takeaways</a:t>
            </a:r>
          </a:p>
          <a:p>
            <a:pPr>
              <a:spcBef>
                <a:spcPts val="200"/>
              </a:spcBef>
            </a:pPr>
            <a:r>
              <a:rPr sz="1800" b="1" i="0">
                <a:solidFill>
                  <a:srgbClr val="205F61"/>
                </a:solidFill>
                <a:latin typeface="Roboto"/>
              </a:rPr>
              <a:t>Section 3 · Shared responsibility</a:t>
            </a:r>
          </a:p>
        </p:txBody>
      </p:sp>
      <p:sp>
        <p:nvSpPr>
          <p:cNvPr id="3" name="Rectangle 2"/>
          <p:cNvSpPr/>
          <p:nvPr/>
        </p:nvSpPr>
        <p:spPr>
          <a:xfrm>
            <a:off x="658368" y="1600200"/>
            <a:ext cx="1463040" cy="50800"/>
          </a:xfrm>
          <a:prstGeom prst="rect">
            <a:avLst/>
          </a:prstGeom>
          <a:solidFill>
            <a:srgbClr val="205F6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640080" y="1965960"/>
            <a:ext cx="10927080" cy="841248"/>
          </a:xfrm>
          <a:prstGeom prst="rect">
            <a:avLst/>
          </a:prstGeom>
          <a:solidFill>
            <a:srgbClr val="FFFFFF"/>
          </a:solidFill>
          <a:ln w="12700">
            <a:solidFill>
              <a:srgbClr val="CCCC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640080" y="1965960"/>
            <a:ext cx="109728" cy="841248"/>
          </a:xfrm>
          <a:prstGeom prst="rect">
            <a:avLst/>
          </a:prstGeom>
          <a:solidFill>
            <a:srgbClr val="205F6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60120" y="1965960"/>
            <a:ext cx="10424160" cy="8412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>
              <a:lnSpc>
                <a:spcPct val="100000"/>
              </a:lnSpc>
            </a:pPr>
            <a:r>
              <a:rPr sz="1700" b="0" i="0">
                <a:solidFill>
                  <a:srgbClr val="2A2929"/>
                </a:solidFill>
                <a:latin typeface="Roboto"/>
              </a:rPr>
              <a:t>AWS secures the cloud; you secure what's in it — OS, apps, IAM, config, data.</a:t>
            </a:r>
          </a:p>
        </p:txBody>
      </p:sp>
      <p:sp>
        <p:nvSpPr>
          <p:cNvPr id="7" name="Rectangle 6"/>
          <p:cNvSpPr/>
          <p:nvPr/>
        </p:nvSpPr>
        <p:spPr>
          <a:xfrm>
            <a:off x="640080" y="2916936"/>
            <a:ext cx="10927080" cy="841248"/>
          </a:xfrm>
          <a:prstGeom prst="rect">
            <a:avLst/>
          </a:prstGeom>
          <a:solidFill>
            <a:srgbClr val="FFFFFF"/>
          </a:solidFill>
          <a:ln w="12700">
            <a:solidFill>
              <a:srgbClr val="CCCC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640080" y="2916936"/>
            <a:ext cx="109728" cy="841248"/>
          </a:xfrm>
          <a:prstGeom prst="rect">
            <a:avLst/>
          </a:prstGeom>
          <a:solidFill>
            <a:srgbClr val="205F6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60120" y="2916936"/>
            <a:ext cx="10424160" cy="8412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>
              <a:lnSpc>
                <a:spcPct val="100000"/>
              </a:lnSpc>
            </a:pPr>
            <a:r>
              <a:rPr sz="1700" b="0" i="0">
                <a:solidFill>
                  <a:srgbClr val="2A2929"/>
                </a:solidFill>
                <a:latin typeface="Roboto"/>
              </a:rPr>
              <a:t>The line shifts by service: IaaS = more on you; PaaS = more on AWS.</a:t>
            </a:r>
          </a:p>
        </p:txBody>
      </p:sp>
      <p:sp>
        <p:nvSpPr>
          <p:cNvPr id="10" name="Rectangle 9"/>
          <p:cNvSpPr/>
          <p:nvPr/>
        </p:nvSpPr>
        <p:spPr>
          <a:xfrm>
            <a:off x="640080" y="3867912"/>
            <a:ext cx="10927080" cy="841248"/>
          </a:xfrm>
          <a:prstGeom prst="rect">
            <a:avLst/>
          </a:prstGeom>
          <a:solidFill>
            <a:srgbClr val="FFFFFF"/>
          </a:solidFill>
          <a:ln w="12700">
            <a:solidFill>
              <a:srgbClr val="CCCC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640080" y="3867912"/>
            <a:ext cx="109728" cy="841248"/>
          </a:xfrm>
          <a:prstGeom prst="rect">
            <a:avLst/>
          </a:prstGeom>
          <a:solidFill>
            <a:srgbClr val="205F6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960120" y="3867912"/>
            <a:ext cx="10424160" cy="8412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>
              <a:lnSpc>
                <a:spcPct val="100000"/>
              </a:lnSpc>
            </a:pPr>
            <a:r>
              <a:rPr sz="1700" b="0" i="0">
                <a:solidFill>
                  <a:srgbClr val="2A2929"/>
                </a:solidFill>
                <a:latin typeface="Roboto"/>
              </a:rPr>
              <a:t>Map every component to its owner — that's what you configure vs rely on.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0" y="6565392"/>
            <a:ext cx="12191695" cy="38100"/>
          </a:xfrm>
          <a:prstGeom prst="rect">
            <a:avLst/>
          </a:prstGeom>
          <a:solidFill>
            <a:srgbClr val="205F6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502920" y="6400800"/>
            <a:ext cx="5486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100" b="1" i="0">
                <a:solidFill>
                  <a:srgbClr val="2A2929"/>
                </a:solidFill>
                <a:latin typeface="Roboto"/>
              </a:rPr>
              <a:t>Kangan </a:t>
            </a:r>
            <a:r>
              <a:rPr sz="1100" b="1" i="0">
                <a:solidFill>
                  <a:srgbClr val="D68E10"/>
                </a:solidFill>
                <a:latin typeface="Roboto"/>
              </a:rPr>
              <a:t>Institute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515600" y="6400800"/>
            <a:ext cx="11887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 i="0">
                <a:solidFill>
                  <a:srgbClr val="7A7A7A"/>
                </a:solidFill>
                <a:latin typeface="Roboto"/>
              </a:rPr>
              <a:t>19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2A2929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411480" cy="6858000"/>
          </a:xfrm>
          <a:prstGeom prst="rect">
            <a:avLst/>
          </a:prstGeom>
          <a:solidFill>
            <a:srgbClr val="EDAB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14400" y="1463040"/>
            <a:ext cx="10515600" cy="40233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4000" b="1" i="0">
                <a:solidFill>
                  <a:srgbClr val="FFFFFF"/>
                </a:solidFill>
                <a:latin typeface="Roboto"/>
              </a:rPr>
              <a:t>Foundation down — next, the network</a:t>
            </a:r>
          </a:p>
          <a:p>
            <a:pPr>
              <a:lnSpc>
                <a:spcPct val="105000"/>
              </a:lnSpc>
              <a:spcBef>
                <a:spcPts val="1200"/>
              </a:spcBef>
            </a:pPr>
            <a:r>
              <a:rPr sz="1900" b="0" i="0">
                <a:solidFill>
                  <a:srgbClr val="E8E8E8"/>
                </a:solidFill>
                <a:latin typeface="Roboto Light"/>
              </a:rPr>
              <a:t>You've set the build mode (work to the design, evidence as you go) and stood up the foundation: account/Region, IAM, shared responsibility.</a:t>
            </a:r>
          </a:p>
          <a:p>
            <a:pPr>
              <a:lnSpc>
                <a:spcPct val="105000"/>
              </a:lnSpc>
              <a:spcBef>
                <a:spcPts val="1200"/>
              </a:spcBef>
            </a:pPr>
            <a:r>
              <a:rPr sz="1900" b="0" i="0">
                <a:solidFill>
                  <a:srgbClr val="E8E8E8"/>
                </a:solidFill>
                <a:latin typeface="Roboto Light"/>
              </a:rPr>
              <a:t>Everything else sits on this identity + access base.</a:t>
            </a:r>
          </a:p>
          <a:p>
            <a:pPr>
              <a:lnSpc>
                <a:spcPct val="105000"/>
              </a:lnSpc>
              <a:spcBef>
                <a:spcPts val="1200"/>
              </a:spcBef>
            </a:pPr>
            <a:r>
              <a:rPr sz="1900" b="0" i="0">
                <a:solidFill>
                  <a:srgbClr val="E8E8E8"/>
                </a:solidFill>
                <a:latin typeface="Roboto Light"/>
              </a:rPr>
              <a:t>Next: the network &amp; security base — VPC, subnets, security groups, DNS.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