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1" i="0">
                <a:solidFill>
                  <a:srgbClr val="FBB900"/>
                </a:solidFill>
                <a:latin typeface="Roboto"/>
              </a:rPr>
              <a:t>TOPIC 06</a:t>
            </a:r>
          </a:p>
          <a:p>
            <a:pPr>
              <a:spcBef>
                <a:spcPts val="800"/>
              </a:spcBef>
            </a:pPr>
            <a:r>
              <a:rPr sz="4600" b="1" i="0">
                <a:solidFill>
                  <a:srgbClr val="FFFFFF"/>
                </a:solidFill>
                <a:latin typeface="Roboto"/>
              </a:rPr>
              <a:t>Build foundations</a:t>
            </a:r>
          </a:p>
          <a:p>
            <a:pPr>
              <a:spcBef>
                <a:spcPts val="1200"/>
              </a:spcBef>
            </a:pPr>
            <a:r>
              <a:rPr sz="2200" b="0" i="1">
                <a:solidFill>
                  <a:srgbClr val="D1D1D1"/>
                </a:solidFill>
                <a:latin typeface="Roboto Light"/>
              </a:rPr>
              <a:t>Implement the supplied design in AWS — account, identity, and the shared-responsibility 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Roboto"/>
              </a:rPr>
              <a:t>Kangan </a:t>
            </a:r>
            <a:r>
              <a:rPr sz="1600" b="1" i="0">
                <a:solidFill>
                  <a:srgbClr val="EDAB0C"/>
                </a:solidFill>
                <a:latin typeface="Roboto"/>
              </a:rPr>
              <a:t>Institute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From advising to building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AT1 was advice; now you build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You implement a supplied design in the AWS lab — and evidence it.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1800" b="1" i="0">
                <a:solidFill>
                  <a:srgbClr val="92268F"/>
                </a:solidFill>
                <a:latin typeface="Roboto"/>
              </a:rPr>
              <a:t>New mode: work to a design you didn't write — read it, build it faithfully.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New discipline: capture evidence as you go — the Deployment Report is built from it.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This Topic — the foundation tier: account &amp; Region, identity &amp; access, shared responsibility.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For every AWS task: watch the demo, then do it yourself.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92268F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Working to a supplied design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account · Region · evidence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Cloud architecture: requirements → design → build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ACA M02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548640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Cloud architecture turns requirements into a structure: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the customer sets the requirements · the architect produces the design · the delivery crew builds it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1700" b="1" i="0">
                <a:solidFill>
                  <a:srgbClr val="92268F"/>
                </a:solidFill>
                <a:latin typeface="Roboto"/>
              </a:rPr>
              <a:t>In AT2 you're the delivery crew — the design is already done.</a:t>
            </a:r>
          </a:p>
        </p:txBody>
      </p:sp>
      <p:pic>
        <p:nvPicPr>
          <p:cNvPr id="5" name="Picture 4" descr="06-aws-arch-reqs-design-bui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521331"/>
            <a:ext cx="5120640" cy="254685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Working to a supplied design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faithful implementation, not redesign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Read the design end to end before you touch the console.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Build what it specifies; make and justify only the decisions it leaves open (C1–C8).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1800" b="1" i="0">
                <a:solidFill>
                  <a:srgbClr val="92268F"/>
                </a:solidFill>
                <a:latin typeface="Roboto"/>
              </a:rPr>
              <a:t>“Implementer decision” = where your judgement is assessed.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Choose your Region — data residency first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(applied from Topic 1)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Region is the first build decision — and it's compliance, not preference.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The design mandates ap-southeast-2 (Sydney): financial records + PII stay onshore.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In the AWS Academy Learner Lab you deploy to us-east-1 — [scenario: ap-southeast-2 (Sydney) | deploy: us-east-1]. Same build; only the location label changes.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Set the console Region before creating anything — resources are Region-scoped.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1800" b="1" i="0">
                <a:solidFill>
                  <a:srgbClr val="92268F"/>
                </a:solidFill>
                <a:latin typeface="Roboto"/>
              </a:rPr>
              <a:t>Deploy everything in the lab's Region (us-east-1) — the assessor checks the Region matches in every screenshot.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Evidence discipline — capture as you build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The Deployment Report is evidenced from what you capture live — you can't reconstruct it later.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Capture each named screenshot the template lists, as you build that resource (Region + the named resource visible).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Export configs (IAM policies, SG rules, VPC) as you go → Appendix B.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1800" b="1" i="0">
                <a:solidFill>
                  <a:srgbClr val="92268F"/>
                </a:solidFill>
                <a:latin typeface="Roboto"/>
              </a:rPr>
              <a:t>Build → capture → move on. Evidence is part of the build, not a write-up afterwards.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2240280" cy="457200"/>
          </a:xfrm>
          <a:prstGeom prst="round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2A2929"/>
                </a:solidFill>
                <a:latin typeface="Roboto"/>
              </a:rPr>
              <a:t>DEMONSTRATION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0" y="310896"/>
            <a:ext cx="8321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500" b="1" i="0">
                <a:solidFill>
                  <a:srgbClr val="FFFFFF"/>
                </a:solidFill>
                <a:latin typeface="Roboto"/>
              </a:rPr>
              <a:t>Set up the build workspace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Sign in to the AWS Academy Learner Lab; set the Region to us-east-1 — [scenario: ap-southeast-2 (Sydney) | deploy: us-east-1].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Confirm the identity you're building as.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Capture the first named screenshot (the Region selector) into the evidence log.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Show where configuration exports come from.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658368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62179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1" i="0">
                <a:solidFill>
                  <a:srgbClr val="2A2929"/>
                </a:solidFill>
                <a:latin typeface="Roboto"/>
              </a:rPr>
              <a:t>▶  Instructor demonstrates live (no recorded demo) — you do this next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Set up your build workspace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A2929"/>
                </a:solidFill>
                <a:latin typeface="Roboto"/>
              </a:rPr>
              <a:t>In the AWS Academy Learner Lab, set up to build the Accounting System foundation: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set the Region to us-east-1 — [scenario: ap-southeast-2 (Sydney) | deploy: us-east-1] (confirm it in your evidence)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confirm your build identity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capture your first named evidence screenshot (Region visible) into your evidence log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Open the supplied Accounting Baseline Solution Design and skim it end to end.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~15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92268F"/>
                </a:solidFill>
                <a:latin typeface="Roboto"/>
              </a:rPr>
              <a:t>Section 1 · Working to a supplied design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Architecture = requirements → design → build; in AT2 you're the builder, to a supplied design.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Region first — the design mandates Sydney (ap-southeast-2) for residency; you deploy to us-east-1 in the lab, visible in all evidence.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Capture evidence live as you build — the report is made from it.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7B5CE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Identity &amp; access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who can do what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IAM — the essential components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ACF M04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548640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IAM user — a person or application that authenticates to the account.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IAM group — a collection of users granted identical permissions.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IAM role — temporary permissions, assumable by a person, application or service (e.g. an EC2 instance).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IAM policy — a JSON document defining which resources can be accessed, and how.</a:t>
            </a:r>
          </a:p>
        </p:txBody>
      </p:sp>
      <p:pic>
        <p:nvPicPr>
          <p:cNvPr id="5" name="Picture 4" descr="06-iam-compon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554558"/>
            <a:ext cx="5120640" cy="248040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Securing access — the best practices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ACF M04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Attach policies to groups; assign users to groups (don't attach policies to individuals).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Least privilege — grant only the permissions the task needs; all access is denied by default.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MFA on human users; protect the root user (use it only when you must).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7B5CE"/>
                </a:solidFill>
                <a:latin typeface="Roboto"/>
              </a:rPr>
              <a:t>■  </a:t>
            </a:r>
            <a:r>
              <a:rPr sz="1800" b="1" i="0">
                <a:solidFill>
                  <a:srgbClr val="27B5CE"/>
                </a:solidFill>
                <a:latin typeface="Roboto"/>
              </a:rPr>
              <a:t>Roles, not long-lived keys, for services — an EC2 instance assumes a role to reach RDS / S3.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design's IAM model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build these groups + role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YAT-ICT-Admins — read-only infra + console post-handover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MTS-Consultants — build admin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Application-Service — EC2 instance role (RDS + S3 + CloudWatch)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Finance-Auditors — read-only on logs / metrics / configs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7B5CE"/>
                </a:solidFill>
                <a:latin typeface="Roboto"/>
              </a:rPr>
              <a:t>■  </a:t>
            </a:r>
            <a:r>
              <a:rPr sz="1800" b="1" i="0">
                <a:solidFill>
                  <a:srgbClr val="27B5CE"/>
                </a:solidFill>
                <a:latin typeface="Roboto"/>
              </a:rPr>
              <a:t>Enforce MFA on the human groups (Essential Eight).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2331720" cy="457200"/>
          </a:xfrm>
          <a:prstGeom prst="round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2A2929"/>
                </a:solidFill>
                <a:latin typeface="Roboto"/>
              </a:rPr>
              <a:t>RECORDED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0" y="310896"/>
            <a:ext cx="8321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500" b="1" i="0">
                <a:solidFill>
                  <a:srgbClr val="FFFFFF"/>
                </a:solidFill>
                <a:latin typeface="Roboto"/>
              </a:rPr>
              <a:t>Build an IAM group, user &amp; MFA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Create a group; attach a least-privilege policy.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Create a user; add to the group; enable MFA.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Create the EC2 instance role (Application-Service) and attach its policy.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Capture the IAM evidence screenshot (groups list + a user with MFA).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786384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74980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1" i="0">
                <a:solidFill>
                  <a:srgbClr val="2A2929"/>
                </a:solidFill>
                <a:latin typeface="Roboto"/>
              </a:rPr>
              <a:t>▶  Play the AWS recorded demo (ACF M04 · IAM) — you do this next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Build the IAM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A2929"/>
                </a:solidFill>
                <a:latin typeface="Roboto"/>
              </a:rPr>
              <a:t>Per the Accounting Baseline Design, build the IAM foundation in the lab: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create the groups + the application-service role, with least-privilege policies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create at least one user per human group; enforce MFA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capture the IAM evidence (groups, a user with MFA, the role)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~30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27B5CE"/>
                </a:solidFill>
                <a:latin typeface="Roboto"/>
              </a:rPr>
              <a:t>Section 2 · Identity &amp; access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IAM = users + groups (people), roles (services, temporary creds), policies (JSON permissions).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Attach policies to groups; least privilege; MFA on humans; roles for services.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Build the design's groups + role, and evidence it as you go.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05F61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Shared responsibility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who secures what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shared responsibility model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ACF M04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548640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AWS — security OF the cloud: physical data centres, hardware, network, virtualization infrastructure.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You — security IN the cloud: the EC2 OS (patching), applications, security-group config, IAM, account management, and your data.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205F61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05F61"/>
                </a:solidFill>
                <a:latin typeface="Roboto"/>
              </a:rPr>
              <a:t>Knowing the line tells you what you must configure — and what you can rely on.</a:t>
            </a:r>
          </a:p>
        </p:txBody>
      </p:sp>
      <p:pic>
        <p:nvPicPr>
          <p:cNvPr id="5" name="Picture 4" descr="06-shared-responsi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384615"/>
            <a:ext cx="5120640" cy="282029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line shifts with the service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ACF M04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IaaS (EC2) — you manage more: the OS, patching, security groups, access controls.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PaaS (RDS) — AWS handles the OS, database patching, firewall, DR; you manage your data + access.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05F61"/>
                </a:solidFill>
                <a:latin typeface="Roboto"/>
              </a:rPr>
              <a:t>■  </a:t>
            </a:r>
            <a:r>
              <a:rPr sz="1800" b="1" i="0">
                <a:solidFill>
                  <a:srgbClr val="205F61"/>
                </a:solidFill>
                <a:latin typeface="Roboto"/>
              </a:rPr>
              <a:t>More managed = more on AWS. The service type sets where the line falls.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Assigning responsibility on this build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Map each layer of the Accounting build to its owner — AWS · YAT ICT · MTS (build) · end-users.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The supplied design's security section names the split; your job is to apply it: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500" b="0" i="0">
                <a:solidFill>
                  <a:srgbClr val="2A2929"/>
                </a:solidFill>
                <a:latin typeface="Roboto"/>
              </a:rPr>
              <a:t>AWS patches the RDS host · YAT patches the EC2 OS · MTS sets the IAM + SG config at build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Complete the shared-responsibility assignment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1">
                <a:solidFill>
                  <a:srgbClr val="484848"/>
                </a:solidFill>
                <a:latin typeface="Roboto"/>
              </a:rPr>
              <a:t>No console build — an analysis task (in the style of the AWS scenario).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A2929"/>
                </a:solidFill>
                <a:latin typeface="Roboto"/>
              </a:rPr>
              <a:t>For each part of the Accounting foundation, name who is responsible — AWS or you (YAT/MTS):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EC2 OS patching · security-group settings · application config · IAM / MFA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SQL Server patching on RDS · physical data-centre security · S3 bucket access config · data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Per the supplied design + the shared-responsibility model. ~½ page — feeds your Deployment Report's security section.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~15 min, then we discuss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205F61"/>
                </a:solidFill>
                <a:latin typeface="Roboto"/>
              </a:rPr>
              <a:t>Section 3 · Shared responsibility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AWS secures the cloud; you secure what's in it — OS, apps, IAM, config, data.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The line shifts by service: IaaS = more on you; PaaS = more on AWS.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Map every component to its owner — that's what you configure vs rely 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5156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Roboto"/>
              </a:rPr>
              <a:t>Foundation down — next, the network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You've set the build mode (work to the design, evidence as you go) and stood up the foundation: account/Region, IAM, shared responsibility.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Everything else sits on this identity + access base.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Next: the network &amp; security base — VPC, subnets, security groups, DNS.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