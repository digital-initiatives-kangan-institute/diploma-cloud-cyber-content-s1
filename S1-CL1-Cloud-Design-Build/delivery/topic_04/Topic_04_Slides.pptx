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this as the map for the whole Topic — this is where the consultant earns the fee. Set the</a:t>
            </a:r>
          </a:p>
          <a:p>
            <a:r>
              <a:t>turn, don't teach detail yet.</a:t>
            </a:r>
          </a:p>
          <a:p>
            <a:r>
              <a:t>• Recap the arc: Topic 2 diagnosed, Topic 3 evaluated (options, CBA, risk). Today they DECIDE and</a:t>
            </a:r>
          </a:p>
          <a:p>
            <a:r>
              <a:t>PLAN — the last analytical third of the business case.</a:t>
            </a:r>
          </a:p>
          <a:p>
            <a:r>
              <a:t>• Read the three moves (the bolded line): prioritise → recommend → plan it → then ask for the</a:t>
            </a:r>
          </a:p>
          <a:p>
            <a:r>
              <a:t>decision. Each move is one of today's three sections.</a:t>
            </a:r>
          </a:p>
          <a:p>
            <a:r>
              <a:t>• Stress the payoff: after this Topic the WRITTEN practice business case is complete (Topics 2→3→4</a:t>
            </a:r>
          </a:p>
          <a:p>
            <a:r>
              <a:t>build §2–§4, §5–§7, §8–§10). Only the pitch (Topic 5) remains.</a:t>
            </a:r>
          </a:p>
          <a:p>
            <a:r>
              <a:t>• Anchor the client: still the YAT Accounting System (Ledgerline) — same practice case all term.</a:t>
            </a:r>
          </a:p>
          <a:p>
            <a:r>
              <a:t>Misconception to pre-empt: "the recommendation is just my opinion." No — a board approves a call</a:t>
            </a:r>
          </a:p>
          <a:p>
            <a:r>
              <a:t>that rests on the evidence they already built, not a hunch.</a:t>
            </a:r>
          </a:p>
          <a:p>
            <a:r>
              <a:t>Question to pose: "You've weighed the options in Topic 3 — what does a client actually pay a</a:t>
            </a:r>
          </a:p>
          <a:p>
            <a:r>
              <a:t>consultant to do next?" (make the call and plan it, not just present analysis).</a:t>
            </a:r>
          </a:p>
          <a:p>
            <a:r>
              <a:t>UoC/AT1 tie: this Topic develops ICTICT517 §3 (PC 2.3/3.1–3.3, PE 4/6, KE 1) — the AT1 Business</a:t>
            </a:r>
          </a:p>
          <a:p>
            <a:r>
              <a:t>Case §8–§10 sections.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1 opener — the mindset shift from weighing options to advising a decision. Short, but it</a:t>
            </a:r>
          </a:p>
          <a:p>
            <a:r>
              <a:t>sets the tone for the whole section.</a:t>
            </a:r>
          </a:p>
          <a:p>
            <a:r>
              <a:t>• The turn (accent-bold): evaluation tells you what the options are WORTH; a recommendation says</a:t>
            </a:r>
          </a:p>
          <a:p>
            <a:r>
              <a:t>what to DO. You stop being the analyst and become the advisor.</a:t>
            </a:r>
          </a:p>
          <a:p>
            <a:r>
              <a:t>• Reassure the timid student: the board WANTS a clear call — sitting on the fence and listing</a:t>
            </a:r>
          </a:p>
          <a:p>
            <a:r>
              <a:t>options back to them is a non-answer.</a:t>
            </a:r>
          </a:p>
          <a:p>
            <a:r>
              <a:t>• The call isn't a leap — it's backed by the CBA and risk work from Topic 3; you're standing on</a:t>
            </a:r>
          </a:p>
          <a:p>
            <a:r>
              <a:t>evidence you've already built.</a:t>
            </a:r>
          </a:p>
          <a:p>
            <a:r>
              <a:t>Misconception to pre-empt: "a balanced consultant presents all options equally and lets the board</a:t>
            </a:r>
          </a:p>
          <a:p>
            <a:r>
              <a:t>choose." No — presenting options is Topic 3; the board is paying for your recommendation.</a:t>
            </a:r>
          </a:p>
          <a:p>
            <a:r>
              <a:t>Question to pose: "What's the difference between a report that says 'here are three options' and</a:t>
            </a:r>
          </a:p>
          <a:p>
            <a:r>
              <a:t>one that says 'do this'?" (the second is advice — and worth more).</a:t>
            </a:r>
          </a:p>
          <a:p>
            <a:r>
              <a:t>UoC/AT1 tie: opens PC 2.3 / PE 4 (prioritise + recommend) → AT1 §8 Recommendation.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 prioritisation as the step BEFORE the recommendation — you can't recommend or sequence work</a:t>
            </a:r>
          </a:p>
          <a:p>
            <a:r>
              <a:t>you haven't ranked. High-leverage; don't skip past it.</a:t>
            </a:r>
          </a:p>
          <a:p>
            <a:r>
              <a:t>• The changes come from their gap analysis (Topic 2/3): rank what matters most, what's urgent,</a:t>
            </a:r>
          </a:p>
          <a:p>
            <a:r>
              <a:t>what can wait.</a:t>
            </a:r>
          </a:p>
          <a:p>
            <a:r>
              <a:t>• Give them the lens: impact (against the objectives) versus effort / urgency — a simple 2-axis</a:t>
            </a:r>
          </a:p>
          <a:p>
            <a:r>
              <a:t>sort, not a weighted scoring model.</a:t>
            </a:r>
          </a:p>
          <a:p>
            <a:r>
              <a:t>• The payoff (accent-bold): prioritisation makes the plan SEQUENCEABLE later, and it shows the</a:t>
            </a:r>
          </a:p>
          <a:p>
            <a:r>
              <a:t>board you're not "boiling the ocean" — doing everything at once.</a:t>
            </a:r>
          </a:p>
          <a:p>
            <a:r>
              <a:t>Misconception to pre-empt: "prioritise = do the cheapest / easiest first." No — high-impact work</a:t>
            </a:r>
          </a:p>
          <a:p>
            <a:r>
              <a:t>can be worth doing first even if it's harder; impact leads, effort is the second axis.</a:t>
            </a:r>
          </a:p>
          <a:p>
            <a:r>
              <a:t>Question to pose: "If YAT can only fund half of the proposed changes this year, which do you do</a:t>
            </a:r>
          </a:p>
          <a:p>
            <a:r>
              <a:t>first — and on what basis?" (impact against the objectives, then urgency).</a:t>
            </a:r>
          </a:p>
          <a:p>
            <a:r>
              <a:t>UoC/AT1 tie: PC 2.3 (prioritise proposed changes to assist scheduling) + PE 4 → AT1 §8.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heart of the section — teach how to STATE and JUSTIFY the recommendation. Model the "no</a:t>
            </a:r>
          </a:p>
          <a:p>
            <a:r>
              <a:t>hedging" tone yourself as you talk.</a:t>
            </a:r>
          </a:p>
          <a:p>
            <a:r>
              <a:t>• State the recommended option plainly — one option, no weasel words ("we could possibly consider").</a:t>
            </a:r>
          </a:p>
          <a:p>
            <a:r>
              <a:t>• Justify it straight from the evidence they already have: the CBA result (cost over the horizon),</a:t>
            </a:r>
          </a:p>
          <a:p>
            <a:r>
              <a:t>the risk / impact comparison, and alignment with the strategic objectives (§2).</a:t>
            </a:r>
          </a:p>
          <a:p>
            <a:r>
              <a:t>• The line that earns trust (accent-bold): NAME the trade-off you're accepting — a recommendation</a:t>
            </a:r>
          </a:p>
          <a:p>
            <a:r>
              <a:t>with no downside reads as naive and the board won't believe it.</a:t>
            </a:r>
          </a:p>
          <a:p>
            <a:r>
              <a:t>Misconception to pre-empt: "justifying means re-arguing the whole CBA." No — POINT at the evidence</a:t>
            </a:r>
          </a:p>
          <a:p>
            <a:r>
              <a:t>section; the recommendation cites, it doesn't repeat.</a:t>
            </a:r>
          </a:p>
          <a:p>
            <a:r>
              <a:t>Question to pose: "You recommend moving Ledgerline to the cloud — what's the honest trade-off</a:t>
            </a:r>
          </a:p>
          <a:p>
            <a:r>
              <a:t>you're asking the board to accept?" (e.g. ongoing opex vs owned capex, migration risk).</a:t>
            </a:r>
          </a:p>
          <a:p>
            <a:r>
              <a:t>UoC/AT1 tie: PC 2.3 / PE 4 → AT1 §8 — the recommended option with evidence-linked justification.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checklist slide — the four marks of a recommendation that lands. Use it as the quality bar they</a:t>
            </a:r>
          </a:p>
          <a:p>
            <a:r>
              <a:t>self-check the activity against.</a:t>
            </a:r>
          </a:p>
          <a:p>
            <a:r>
              <a:t>• Decisive — one clear recommended option, not a shortlist.</a:t>
            </a:r>
          </a:p>
          <a:p>
            <a:r>
              <a:t>• Evidence-linked — every reason traces back to their CBA / risk / strategy work (nothing new</a:t>
            </a:r>
          </a:p>
          <a:p>
            <a:r>
              <a:t>invented here).</a:t>
            </a:r>
          </a:p>
          <a:p>
            <a:r>
              <a:t>• Honest — names the trade-off and why it's acceptable.</a:t>
            </a:r>
          </a:p>
          <a:p>
            <a:r>
              <a:t>• Actionable (accent-bold) — it leads naturally into the plan; a recommendation you can't act on</a:t>
            </a:r>
          </a:p>
          <a:p>
            <a:r>
              <a:t>isn't finished.</a:t>
            </a:r>
          </a:p>
          <a:p>
            <a:r>
              <a:t>Misconception to pre-empt: "more reasons = stronger." No — a few reasons that each trace to real</a:t>
            </a:r>
          </a:p>
          <a:p>
            <a:r>
              <a:t>evidence beat a long list of assertions; padding weakens it.</a:t>
            </a:r>
          </a:p>
          <a:p>
            <a:r>
              <a:t>Question to pose: "Which of these four is the one students most often miss?" (honest — naming the</a:t>
            </a:r>
          </a:p>
          <a:p>
            <a:r>
              <a:t>trade-off; get them to commit to including one).</a:t>
            </a:r>
          </a:p>
          <a:p>
            <a:r>
              <a:t>UoC/AT1 tie: this is the quality bar for AT1 §8; a recommendation hitting all four is what the</a:t>
            </a:r>
          </a:p>
          <a:p>
            <a:r>
              <a:t>marking grid rewards.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Facilitation — first build task of the Topic. They add §8 to the SAME practice business case they</a:t>
            </a:r>
          </a:p>
          <a:p>
            <a:r>
              <a:t>started in Topic 2. Circulate; this is where analyst-to-advisor becomes real.</a:t>
            </a:r>
          </a:p>
          <a:p>
            <a:r>
              <a:t>Tell students: "In your working copy of the Business Case, add the Recommendation section for the</a:t>
            </a:r>
          </a:p>
          <a:p>
            <a:r>
              <a:t>YAT Accounting System (Ledgerline). Recommend, don't re-argue — point at the evidence you already</a:t>
            </a:r>
          </a:p>
          <a:p>
            <a:r>
              <a:t>built in Topic 3."</a:t>
            </a:r>
          </a:p>
          <a:p>
            <a:r>
              <a:t>Steps (put on the board):</a:t>
            </a:r>
          </a:p>
          <a:p>
            <a:r>
              <a:t>1. Prioritise your proposed changes (from your gap analysis) — impact vs effort/urgency.</a:t>
            </a:r>
          </a:p>
          <a:p>
            <a:r>
              <a:t>2. State the recommended option plainly — one option.</a:t>
            </a:r>
          </a:p>
          <a:p>
            <a:r>
              <a:t>3. Justify it from your CBA + risk + strategic alignment — CITE your own earlier sections.</a:t>
            </a:r>
          </a:p>
          <a:p>
            <a:r>
              <a:t>4. Name the trade-off you're accepting.</a:t>
            </a:r>
          </a:p>
          <a:p>
            <a:r>
              <a:t>Must produce: a ~½-page Recommendation section added to their practice BC — a prioritised call</a:t>
            </a:r>
          </a:p>
          <a:p>
            <a:r>
              <a:t>with evidence-linked justification and a named trade-off.</a:t>
            </a:r>
          </a:p>
          <a:p>
            <a:r>
              <a:t>Timing: ~20 min then discuss. Where they get stuck: they re-argue the whole CBA instead of citing</a:t>
            </a:r>
          </a:p>
          <a:p>
            <a:r>
              <a:t>it, or they hedge with two options — push them to pick ONE and point back at their evidence.</a:t>
            </a:r>
          </a:p>
          <a:p>
            <a:r>
              <a:t>Share-back prompt: take two recommendations and ask the room which trade-off is more honest.</a:t>
            </a:r>
          </a:p>
          <a:p>
            <a:r>
              <a:t>No-leakage note: this is PRACTICE on Ledgerline; AT1 assesses the same §8 skill on the LMS —</a:t>
            </a:r>
          </a:p>
          <a:p>
            <a:r>
              <a:t>comparable, not identical. Keep them on the practice case.</a:t>
            </a:r>
          </a:p>
          <a:p>
            <a:r>
              <a:t>UoC/AT1 tie: PC 2.3 / PE 4 → AT1 Part A §8.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2 opener — the purpose of the action plan before its parts. Keep it to the "why" so the</a:t>
            </a:r>
          </a:p>
          <a:p>
            <a:r>
              <a:t>parts slide next has a job to do.</a:t>
            </a:r>
          </a:p>
          <a:p>
            <a:r>
              <a:t>• The distinction (walk it slowly): a recommendation says WHAT and WHY; the action plan says HOW</a:t>
            </a:r>
          </a:p>
          <a:p>
            <a:r>
              <a:t>and WHEN. Two different questions.</a:t>
            </a:r>
          </a:p>
          <a:p>
            <a:r>
              <a:t>• It turns a board's "yes" into execution the organisation can actually run — a decision no one can</a:t>
            </a:r>
          </a:p>
          <a:p>
            <a:r>
              <a:t>act on is worthless.</a:t>
            </a:r>
          </a:p>
          <a:p>
            <a:r>
              <a:t>• And (accent-bold) it PROVES the recommendation is feasible — a plan that holds together is</a:t>
            </a:r>
          </a:p>
          <a:p>
            <a:r>
              <a:t>evidence the call was realistic.</a:t>
            </a:r>
          </a:p>
          <a:p>
            <a:r>
              <a:t>Misconception to pre-empt: "the plan is where I design the whole solution." No — at AT1 level it's</a:t>
            </a:r>
          </a:p>
          <a:p>
            <a:r>
              <a:t>a board-ready roadmap (phases, milestones, metrics), not a full project plan with a Gantt and</a:t>
            </a:r>
          </a:p>
          <a:p>
            <a:r>
              <a:t>resourcing.</a:t>
            </a:r>
          </a:p>
          <a:p>
            <a:r>
              <a:t>Question to pose: "The board says yes to moving Ledgerline — what do they now need from you before</a:t>
            </a:r>
          </a:p>
          <a:p>
            <a:r>
              <a:t>anyone lifts a finger?" (how it happens and when — the plan).</a:t>
            </a:r>
          </a:p>
          <a:p>
            <a:r>
              <a:t>UoC/AT1 tie: opens PC 3.1 / 3.2, PE 6, KE 1 → AT1 §9 Action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structural spine of Section 2 — the five parts that BECOME the AT1 §9 Action Plan section.</a:t>
            </a:r>
          </a:p>
          <a:p>
            <a:r>
              <a:t>Walk each briefly; the following slides go deeper on the hard three.</a:t>
            </a:r>
          </a:p>
          <a:p>
            <a:r>
              <a:t>• 1. Prioritised changes — what gets done, in priority order (carries straight from Section 1).</a:t>
            </a:r>
          </a:p>
          <a:p>
            <a:r>
              <a:t>• 2. Implementation schedule — phases / sequence / timeframe.</a:t>
            </a:r>
          </a:p>
          <a:p>
            <a:r>
              <a:t>• 3. Standards, targets &amp; success metrics — how you'll know it worked.</a:t>
            </a:r>
          </a:p>
          <a:p>
            <a:r>
              <a:t>• 4. Implementation methods — how each change is actually delivered.</a:t>
            </a:r>
          </a:p>
          <a:p>
            <a:r>
              <a:t>• 5. Alignment with the change-management procedure — routing through governance.</a:t>
            </a:r>
          </a:p>
          <a:p>
            <a:r>
              <a:t>Tell them this list IS the section skeleton — five headings they'll fill in the activity.</a:t>
            </a:r>
          </a:p>
          <a:p>
            <a:r>
              <a:t>Misconception to pre-empt: "a schedule alone is an action plan." No — a plan with dates but no</a:t>
            </a:r>
          </a:p>
          <a:p>
            <a:r>
              <a:t>standards, methods or governance is a wish-list; all five parts are needed.</a:t>
            </a:r>
          </a:p>
          <a:p>
            <a:r>
              <a:t>Question to pose: "Which of these five do students most often forget?" (standards/targets/metrics,</a:t>
            </a:r>
          </a:p>
          <a:p>
            <a:r>
              <a:t>and change-management alignment — the two that make it accountable and real).</a:t>
            </a:r>
          </a:p>
          <a:p>
            <a:r>
              <a:t>UoC/AT1 tie: KE 1 (key sections of an action plan) + PC 3.1 / 3.2, PE 6 → AT1 §9.1–§9.5.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 how to turn the prioritised list into a phased schedule — the "when". Lean on a concrete</a:t>
            </a:r>
          </a:p>
          <a:p>
            <a:r>
              <a:t>dependency so it lands.</a:t>
            </a:r>
          </a:p>
          <a:p>
            <a:r>
              <a:t>• Order the work by priority AND dependency — make it tangible: you can't migrate data before the</a:t>
            </a:r>
          </a:p>
          <a:p>
            <a:r>
              <a:t>target environment exists. Dependencies constrain the order, not just priority.</a:t>
            </a:r>
          </a:p>
          <a:p>
            <a:r>
              <a:t>• Group the work into phases with a realistic timeframe — not everything in week one.</a:t>
            </a:r>
          </a:p>
          <a:p>
            <a:r>
              <a:t>• The level (accent-bold): BOARD-level — phases and milestones, show the critical path; NOT a</a:t>
            </a:r>
          </a:p>
          <a:p>
            <a:r>
              <a:t>day-by-day Gantt. Right altitude is the skill here.</a:t>
            </a:r>
          </a:p>
          <a:p>
            <a:r>
              <a:t>Misconception to pre-empt: "more detail is more professional." At board level the opposite is true</a:t>
            </a:r>
          </a:p>
          <a:p>
            <a:r>
              <a:t>— a day-by-day task list buries the decision; phases and milestones communicate.</a:t>
            </a:r>
          </a:p>
          <a:p>
            <a:r>
              <a:t>Question to pose: "What in a Ledgerline migration simply CAN'T happen until something else is done</a:t>
            </a:r>
          </a:p>
          <a:p>
            <a:r>
              <a:t>first?" (build the target before cutover; test before go-live) — that's a dependency.</a:t>
            </a:r>
          </a:p>
          <a:p>
            <a:r>
              <a:t>UoC/AT1 tie: PC 3.1 (prioritised schedule consistent with policy/procedures) → AT1 §9.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 the part that makes the plan ACCOUNTABLE — the standards it's held to and the measurable</a:t>
            </a:r>
          </a:p>
          <a:p>
            <a:r>
              <a:t>targets that define "done well". Callback to Topic 1's standards here.</a:t>
            </a:r>
          </a:p>
          <a:p>
            <a:r>
              <a:t>• Hold the work to industry standards — Well-Architected, ISO 27017, Essential Eight, ITIL (the</a:t>
            </a:r>
          </a:p>
          <a:p>
            <a:r>
              <a:t>same rulebooks they met in Topic 1). The plan doesn't invent quality; it references a standard.</a:t>
            </a:r>
          </a:p>
          <a:p>
            <a:r>
              <a:t>• Set MEASURABLE targets: availability, recovery, cutover with no data loss, budget adherence —</a:t>
            </a:r>
          </a:p>
          <a:p>
            <a:r>
              <a:t>numbers, not adjectives.</a:t>
            </a:r>
          </a:p>
          <a:p>
            <a:r>
              <a:t>• The point (accent-bold): targets define "done well" — without them, no one can say whether the</a:t>
            </a:r>
          </a:p>
          <a:p>
            <a:r>
              <a:t>implementation succeeded.</a:t>
            </a:r>
          </a:p>
          <a:p>
            <a:r>
              <a:t>Misconception to pre-empt: "success metrics = 'the system works'." No — that's not measurable;</a:t>
            </a:r>
          </a:p>
          <a:p>
            <a:r>
              <a:t>a target is "99.9% availability" or "cutover with zero data loss", something you can check against.</a:t>
            </a:r>
          </a:p>
          <a:p>
            <a:r>
              <a:t>Question to pose: "How would YAT KNOW the Ledgerline migration succeeded — name one number you'd</a:t>
            </a:r>
          </a:p>
          <a:p>
            <a:r>
              <a:t>commit to?" (availability %, recovery time, zero-data-loss cutover, on-budget).</a:t>
            </a:r>
          </a:p>
          <a:p>
            <a:r>
              <a:t>UoC/AT1 tie: PC 3.2 (standards, targets, implementation methods) → AT1 §9.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 the part that separates a consultant's plan from a wish-list — routing high-risk steps</a:t>
            </a:r>
          </a:p>
          <a:p>
            <a:r>
              <a:t>through governance. This is often the missing piece in student plans.</a:t>
            </a:r>
          </a:p>
          <a:p>
            <a:r>
              <a:t>• Real change runs through governance; you don't just "do" a cutover — you route it.</a:t>
            </a:r>
          </a:p>
          <a:p>
            <a:r>
              <a:t>• Map the high-risk steps (e.g. cutover) to the change-management procedure: change request → risk</a:t>
            </a:r>
          </a:p>
          <a:p>
            <a:r>
              <a:t>assessment → approval → change window. Say those stages aloud.</a:t>
            </a:r>
          </a:p>
          <a:p>
            <a:r>
              <a:t>• The line (accent-bold): this alignment is what makes the plan credible to a board that runs on</a:t>
            </a:r>
          </a:p>
          <a:p>
            <a:r>
              <a:t>process — it shows you understand how organisations actually change things.</a:t>
            </a:r>
          </a:p>
          <a:p>
            <a:r>
              <a:t>Misconception to pre-empt: "change management is bureaucracy I can skip in a plan." No — for</a:t>
            </a:r>
          </a:p>
          <a:p>
            <a:r>
              <a:t>high-risk steps it's exactly what a board expects to see; skipping it reads as naive.</a:t>
            </a:r>
          </a:p>
          <a:p>
            <a:r>
              <a:t>Question to pose: "Cutover to the new Ledgerline is high-risk — what governance does it pass</a:t>
            </a:r>
          </a:p>
          <a:p>
            <a:r>
              <a:t>through before it happens?" (change request → risk assessment → approval → scheduled window).</a:t>
            </a:r>
          </a:p>
          <a:p>
            <a:r>
              <a:t>UoC/AT1 tie: PC 3.1 (consistency with organisational policy and procedures) → AT1 §9.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Facilitation — the biggest build task of the Topic. They add §9 to their practice BC with all</a:t>
            </a:r>
          </a:p>
          <a:p>
            <a:r>
              <a:t>five parts. Circulate and watch the altitude (board-level, not task-level).</a:t>
            </a:r>
          </a:p>
          <a:p>
            <a:r>
              <a:t>Tell students: "In your working copy of the Business Case, add the Action Plan for the YAT</a:t>
            </a:r>
          </a:p>
          <a:p>
            <a:r>
              <a:t>Accounting System. Board-level — phases, milestones and metrics, not a day-by-day task list."</a:t>
            </a:r>
          </a:p>
          <a:p>
            <a:r>
              <a:t>Steps (put on the board) — include all five parts:</a:t>
            </a:r>
          </a:p>
          <a:p>
            <a:r>
              <a:t>1. Prioritised changes.</a:t>
            </a:r>
          </a:p>
          <a:p>
            <a:r>
              <a:t>2. Implementation schedule (phases, sequence, timeframe).</a:t>
            </a:r>
          </a:p>
          <a:p>
            <a:r>
              <a:t>3. Standards, targets &amp; success metrics.</a:t>
            </a:r>
          </a:p>
          <a:p>
            <a:r>
              <a:t>4. Implementation methods (how each change is delivered).</a:t>
            </a:r>
          </a:p>
          <a:p>
            <a:r>
              <a:t>5. Alignment with the change-management procedure.</a:t>
            </a:r>
          </a:p>
          <a:p>
            <a:r>
              <a:t>Must produce: a ~1-page Action Plan section covering all five parts — a phased schedule with</a:t>
            </a:r>
          </a:p>
          <a:p>
            <a:r>
              <a:t>measurable targets and high-risk steps routed through governance.</a:t>
            </a:r>
          </a:p>
          <a:p>
            <a:r>
              <a:t>Timing: ~30 min then compare. Where they get stuck: they drop into a day-by-day task list (pull</a:t>
            </a:r>
          </a:p>
          <a:p>
            <a:r>
              <a:t>them back up to phases/milestones), or they forget targets and change-management — the two parts</a:t>
            </a:r>
          </a:p>
          <a:p>
            <a:r>
              <a:t>most often missed. Have the five-part list on the board the whole time.</a:t>
            </a:r>
          </a:p>
          <a:p>
            <a:r>
              <a:t>Share-back prompt: compare two schedules — which one handles dependencies and the critical path?</a:t>
            </a:r>
          </a:p>
          <a:p>
            <a:r>
              <a:t>No-leakage note: PRACTICE on Ledgerline; AT1 assesses the same §9 plan on the LMS — comparable,</a:t>
            </a:r>
          </a:p>
          <a:p>
            <a:r>
              <a:t>not identical.</a:t>
            </a:r>
          </a:p>
          <a:p>
            <a:r>
              <a:t>UoC/AT1 tie: PC 3.1 / 3.2, PE 6, KE 1 → AT1 Part A §9.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3 opener — why the case must end with a specific ask. Short and sharp; it sets up the</a:t>
            </a:r>
          </a:p>
          <a:p>
            <a:r>
              <a:t>"what to ask for" slide.</a:t>
            </a:r>
          </a:p>
          <a:p>
            <a:r>
              <a:t>• The failure mode: a business case that doesn't ASK for anything gets "noted", not approved — it</a:t>
            </a:r>
          </a:p>
          <a:p>
            <a:r>
              <a:t>dies politely in the minutes.</a:t>
            </a:r>
          </a:p>
          <a:p>
            <a:r>
              <a:t>• The fix (accent-bold): the final section makes the decision easy — state exactly what you want</a:t>
            </a:r>
          </a:p>
          <a:p>
            <a:r>
              <a:t>approved, today. Make saying "yes" a single word.</a:t>
            </a:r>
          </a:p>
          <a:p>
            <a:r>
              <a:t>Misconception to pre-empt: "the recommendation already IS the ask." Not quite — the recommendation</a:t>
            </a:r>
          </a:p>
          <a:p>
            <a:r>
              <a:t>is your advice; the ask is the specific decision(s) you want the board to make now (option + plan +</a:t>
            </a:r>
          </a:p>
          <a:p>
            <a:r>
              <a:t>budget). Spell it out separately.</a:t>
            </a:r>
          </a:p>
          <a:p>
            <a:r>
              <a:t>Question to pose: "You've recommended and planned — what's the one sentence that gets the board to</a:t>
            </a:r>
          </a:p>
          <a:p>
            <a:r>
              <a:t>actually decide today?" (a specific, answerable ask).</a:t>
            </a:r>
          </a:p>
          <a:p>
            <a:r>
              <a:t>UoC/AT1 tie: opens PC 3.3 (provide action plan for feedback/approval — the written ask) → AT1 §10.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 the CONTENT of the ask — be specific enough that the board can answer with one word. This is</a:t>
            </a:r>
          </a:p>
          <a:p>
            <a:r>
              <a:t>the slide that makes §10 concrete.</a:t>
            </a:r>
          </a:p>
          <a:p>
            <a:r>
              <a:t>• Approve the recommended option.</a:t>
            </a:r>
          </a:p>
          <a:p>
            <a:r>
              <a:t>• Approve the action plan as the roadmap.</a:t>
            </a:r>
          </a:p>
          <a:p>
            <a:r>
              <a:t>• Authorise the budget envelope — the actual figure from their CBA (not "some funding").</a:t>
            </a:r>
          </a:p>
          <a:p>
            <a:r>
              <a:t>• List the next steps; defer the high-risk gates to their change-management approval (you're not</a:t>
            </a:r>
          </a:p>
          <a:p>
            <a:r>
              <a:t>asking the board to approve the cutover itself today, just the plan and budget).</a:t>
            </a:r>
          </a:p>
          <a:p>
            <a:r>
              <a:t>• The test (accent-bold): the ask should be answerable with a single "approved".</a:t>
            </a:r>
          </a:p>
          <a:p>
            <a:r>
              <a:t>Misconception to pre-empt: "asking for the budget means asking approval for every step." No —</a:t>
            </a:r>
          </a:p>
          <a:p>
            <a:r>
              <a:t>authorise the envelope and the plan; the high-risk gates get their OWN approval later via change</a:t>
            </a:r>
          </a:p>
          <a:p>
            <a:r>
              <a:t>management. Don't over-ask.</a:t>
            </a:r>
          </a:p>
          <a:p>
            <a:r>
              <a:t>Question to pose: "Name the three things you're asking YAT's board to approve." (the option, the</a:t>
            </a:r>
          </a:p>
          <a:p>
            <a:r>
              <a:t>plan, the budget figure).</a:t>
            </a:r>
          </a:p>
          <a:p>
            <a:r>
              <a:t>UoC/AT1 tie: PC 3.3 → AT1 §10 Next Steps and Decision Requested.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Facilitation — the final build task; it COMPLETES the written practice business case. Short and</a:t>
            </a:r>
          </a:p>
          <a:p>
            <a:r>
              <a:t>focused. Circulate for specificity — vague asks are the failure here.</a:t>
            </a:r>
          </a:p>
          <a:p>
            <a:r>
              <a:t>Tell students: "In your working copy of the Business Case, add the Next Steps and Decision</a:t>
            </a:r>
          </a:p>
          <a:p>
            <a:r>
              <a:t>Requested section for the YAT Accounting System — this completes your written business case. A</a:t>
            </a:r>
          </a:p>
          <a:p>
            <a:r>
              <a:t>specific, answerable ask: name the option, the plan, and the budget figure."</a:t>
            </a:r>
          </a:p>
          <a:p>
            <a:r>
              <a:t>Steps (put on the board):</a:t>
            </a:r>
          </a:p>
          <a:p>
            <a:r>
              <a:t>1. State the specific decisions you're asking the board to make (option, plan, budget).</a:t>
            </a:r>
          </a:p>
          <a:p>
            <a:r>
              <a:t>2. List the immediate next steps.</a:t>
            </a:r>
          </a:p>
          <a:p>
            <a:r>
              <a:t>3. Note how the high-risk steps route through the change-management procedure.</a:t>
            </a:r>
          </a:p>
          <a:p>
            <a:r>
              <a:t>Must produce: a ~½-page Next Steps &amp; Decision Requested section — a specific, answerable ask</a:t>
            </a:r>
          </a:p>
          <a:p>
            <a:r>
              <a:t>(option + plan + budget figure) with next steps and governance routing. With this, the written</a:t>
            </a:r>
          </a:p>
          <a:p>
            <a:r>
              <a:t>practice BC is COMPLETE (§2–§10).</a:t>
            </a:r>
          </a:p>
          <a:p>
            <a:r>
              <a:t>Timing: ~15 min then discuss. Where they get stuck: vague asks ("approve some budget") — push them</a:t>
            </a:r>
          </a:p>
          <a:p>
            <a:r>
              <a:t>to name the actual CBA figure; or they ask the board to approve the cutover itself — remind them</a:t>
            </a:r>
          </a:p>
          <a:p>
            <a:r>
              <a:t>high-risk gates route through change management, not this ask.</a:t>
            </a:r>
          </a:p>
          <a:p>
            <a:r>
              <a:t>Share-back prompt: "Read me your ask in one sentence — could the board answer it with a single</a:t>
            </a:r>
          </a:p>
          <a:p>
            <a:r>
              <a:t>'approved'?"</a:t>
            </a:r>
          </a:p>
          <a:p>
            <a:r>
              <a:t>No-leakage note: PRACTICE on Ledgerline; AT1 assesses the same §10 on the LMS — comparable, not</a:t>
            </a:r>
          </a:p>
          <a:p>
            <a:r>
              <a:t>identical. Mark the milestone: their practice case is now written end to end.</a:t>
            </a:r>
          </a:p>
          <a:p>
            <a:r>
              <a:t>UoC/AT1 tie: PC 3.3 → AT1 Part A §10 (Topic 5 then DELIVERS the pitch — PC 3.3's live approval).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000" b="1" i="0">
                <a:solidFill>
                  <a:srgbClr val="FBB900"/>
                </a:solidFill>
                <a:latin typeface="Roboto"/>
              </a:rPr>
              <a:t>TOPIC 04</a:t>
            </a:r>
          </a:p>
          <a:p>
            <a:pPr>
              <a:spcBef>
                <a:spcPts val="800"/>
              </a:spcBef>
            </a:pPr>
            <a:r>
              <a:rPr sz="4600" b="1" i="0">
                <a:solidFill>
                  <a:srgbClr val="FFFFFF"/>
                </a:solidFill>
                <a:latin typeface="Roboto"/>
              </a:rPr>
              <a:t>The decision &amp; the plan</a:t>
            </a:r>
          </a:p>
          <a:p>
            <a:pPr>
              <a:spcBef>
                <a:spcPts val="1200"/>
              </a:spcBef>
            </a:pPr>
            <a:r>
              <a:rPr sz="2200" b="0" i="1">
                <a:solidFill>
                  <a:srgbClr val="D1D1D1"/>
                </a:solidFill>
                <a:latin typeface="Roboto Light"/>
              </a:rPr>
              <a:t>From evidence to a recommendation a board can approve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Roboto"/>
              </a:rPr>
              <a:t>Kangan </a:t>
            </a:r>
            <a:r>
              <a:rPr sz="1600" b="1" i="0">
                <a:solidFill>
                  <a:srgbClr val="EDAB0C"/>
                </a:solidFill>
                <a:latin typeface="Roboto"/>
              </a:rPr>
              <a:t>Institute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From evidence to decision and plan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now you make the call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You've built the evidence (Topic 3). Now you do what a consultant is paid for: make the call.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Three moves: prioritise → recommend → plan it, then ask for the decision.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These are the last sections of the business case — after this, the written case is complete.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board approves a clear recommendation, a credible plan, and a specific ask. Give them all three.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92268F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Recommendation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from analysis to advice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From analysis to advice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Evaluation tells you what the options are worth; a recommendation says what to do.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This is the turn from analyst to advisor — you stop weighing and start advising.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The board wants a clear call, backed by the evidence you've already built.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Prioritise first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Before recommending, rank the proposed changes (from your gap analysis): what matters most, what's urgent, what can wait.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simple lens: impact (against the objectives) versus effort / urgency.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Prioritisation makes the plan sequenceable — and shows you're not boiling the ocean.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Make the call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State the recommended option plainly — no hedging.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Justify it straight from the evidence: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2100" b="0" i="0">
                <a:solidFill>
                  <a:srgbClr val="2A2929"/>
                </a:solidFill>
                <a:latin typeface="Roboto"/>
              </a:rPr>
              <a:t>the CBA result (cost over the horizon)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2100" b="0" i="0">
                <a:solidFill>
                  <a:srgbClr val="2A2929"/>
                </a:solidFill>
                <a:latin typeface="Roboto"/>
              </a:rPr>
              <a:t>the risk / impact comparison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2100" b="0" i="0">
                <a:solidFill>
                  <a:srgbClr val="2A2929"/>
                </a:solidFill>
                <a:latin typeface="Roboto"/>
              </a:rPr>
              <a:t>alignment with the strategic objectives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Name the trade-off you're accepting — a recommendation with no downside isn't trusted.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What a strong recommendation looks like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Decisive — one clear recommended option.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Evidence-linked — every reason traces to your CBA / risk / strategy work.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Honest — names the trade-off and why it's acceptable.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Actionable — leads naturally into the plan.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Name the infrastructure, not just the direction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a thing the board can approve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2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200" b="0" i="0">
                <a:solidFill>
                  <a:srgbClr val="2A2929"/>
                </a:solidFill>
                <a:latin typeface="Roboto"/>
              </a:rPr>
              <a:t>"Move to the cloud" is a direction. A board cannot approve a direction — it approves a thing.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2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200" b="0" i="0">
                <a:solidFill>
                  <a:srgbClr val="2A2929"/>
                </a:solidFill>
                <a:latin typeface="Roboto"/>
              </a:rPr>
              <a:t>Say what the business actually needs, in terms it can price and staff: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9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900" b="0" i="0">
                <a:solidFill>
                  <a:srgbClr val="2A2929"/>
                </a:solidFill>
                <a:latin typeface="Roboto"/>
              </a:rPr>
              <a:t>the tiers the workload needs · roughly how much of each · what is managed for you and what you run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9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900" b="0" i="0">
                <a:solidFill>
                  <a:srgbClr val="2A2929"/>
                </a:solidFill>
                <a:latin typeface="Roboto"/>
              </a:rPr>
              <a:t>where the data lives · what it is backed up to · what it is monitored by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2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200" b="0" i="0">
                <a:solidFill>
                  <a:srgbClr val="2A2929"/>
                </a:solidFill>
                <a:latin typeface="Roboto"/>
              </a:rPr>
              <a:t>Tie each one back to the workload you defined — capacity, peaks, recovery, residency. If a component answers nothing on that list, it does not belong in the recommendation.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2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200" b="0" i="0">
                <a:solidFill>
                  <a:srgbClr val="2A2929"/>
                </a:solidFill>
                <a:latin typeface="Roboto"/>
              </a:rPr>
              <a:t>You are not designing it here. You are determining what shape it has to be.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Write the Recommendation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In your working copy of the Business Case, add the Recommendation section for the Accounting System (Ledgerline).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Remember to: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Prioritise your proposed changes (from your gap analysis).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State the recommended option plainly.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Justify it from your CBA + risk + strategic alignment — cite your own earlier sections.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Name the trade-off you're accepting.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~½ page.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⚠  Recommend, don't re-argue — point at the evidence you already built.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~20 min, then we discuss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92268F"/>
                </a:solidFill>
                <a:latin typeface="Roboto"/>
              </a:rPr>
              <a:t>Section 1 · Recommendation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Prioritise the changes, then recommend — impact vs effort/urgency.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One clear option; justify it straight from the evidence; name the trade-off.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The recommendation is the hinge between the evidence and the plan.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27B5CE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Action plan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how and when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What the action plan is for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recommendation says what and why; the action plan says how and when.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It turns a “yes” into execution the organisation can actually run.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And it proves the recommendation is feasible.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The parts of an action plan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five parts (becomes the Action Plan section)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Prioritised changes — what gets done, in priority order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Implementation schedule — phases / sequence / timeframe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Standards, targets &amp; success metrics — how you'll know it worked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Implementation methods — how each change is delivered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Alignment with the change-management procedure — routing through governance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Sequencing &amp; the schedule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Order the work by priority and dependency (you can't migrate data before the target exists).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Group into phases with a realistic timeframe.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Board-level — phases and milestones, not a day-by-day Gantt. Show the critical path.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Standards, targets &amp; success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Hold the work to the industry standards (Well-Architected, ISO 27017, Essential Eight, ITIL).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Set measurable targets: availability, recovery, cutover with no data loss, budget adherence.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Targets make the plan accountable — they define “done well”.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Align to the change-management procedure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Real change runs through governance.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Map the high-risk steps (e.g. cutover) to the change-management procedure: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2100" b="0" i="0">
                <a:solidFill>
                  <a:srgbClr val="2A2929"/>
                </a:solidFill>
                <a:latin typeface="Roboto"/>
              </a:rPr>
              <a:t>change request → risk assessment → approval → change window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This is what separates a consultant's plan from a wish-list.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Build the Action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In your working copy of the Business Case, add the Action Plan for the Accounting System.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Include all five parts: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prioritised changes · implementation schedule (phases)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standards, targets &amp; success metrics · implementation methods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alignment with the change-management procedure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~1 page.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⚠  Board-level — phases, milestones and metrics, not a day-by-day task list.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~30 min, then we compare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27B5CE"/>
                </a:solidFill>
                <a:latin typeface="Roboto"/>
              </a:rPr>
              <a:t>Section 2 · Action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The plan turns the recommendation into executable phases.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Five parts: prioritised changes · schedule · standards/targets/metrics · methods · change-mgmt alignment.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Board-level detail; route high-risk steps through governance; make it measurable.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205F61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The decision requested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make the “yes” easy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Close with a clear ask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business case that doesn't ask for anything gets “noted”, not approved.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The final section makes the decision easy: state exactly what you want approved, today.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What to ask for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be specific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Approve the recommended option.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Approve the action plan as the roadmap.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Authorise the budget envelope (the figure from your CBA).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List the next steps; defer the high-risk gates to their change-management approval.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The ask should be answerable with a single “approved”.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Getting the sign-off, and recording it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who, what, when, and any condition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2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200" b="0" i="0">
                <a:solidFill>
                  <a:srgbClr val="2A2929"/>
                </a:solidFill>
                <a:latin typeface="Roboto"/>
              </a:rPr>
              <a:t>An approval that nobody wrote down did not happen. The engagement turns on this.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2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200" b="0" i="0">
                <a:solidFill>
                  <a:srgbClr val="2A2929"/>
                </a:solidFill>
                <a:latin typeface="Roboto"/>
              </a:rPr>
              <a:t>Ask the people who can actually authorise it — the sponsor or whoever they have delegated it to.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2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200" b="0" i="0">
                <a:solidFill>
                  <a:srgbClr val="2A2929"/>
                </a:solidFill>
                <a:latin typeface="Roboto"/>
              </a:rPr>
              <a:t>Record four things: who approved, what exactly they approved, when, and any condition they attached.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2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200" b="0" i="0">
                <a:solidFill>
                  <a:srgbClr val="2A2929"/>
                </a:solidFill>
                <a:latin typeface="Roboto"/>
              </a:rPr>
              <a:t>A conditional approval is still an approval, but the condition has to travel with it.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2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200" b="0" i="0">
                <a:solidFill>
                  <a:srgbClr val="2A2929"/>
                </a:solidFill>
                <a:latin typeface="Roboto"/>
              </a:rPr>
              <a:t>Without this you have a recommendation nobody has agreed to, and no mandate to start.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Write Next Steps &amp; the Decision Requested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In your working copy of the Business Case, add the Next Steps and Decision Requested section for the Accounting System — completing the written business case.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Remember to: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State the specific decisions you're asking the board to make (option, plan, budget).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List the immediate next steps.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Note how the high-risk steps route through the change-management procedure.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~½ page.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⚠  A specific, answerable ask — name the option, the plan, and the budget figure.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~15 min, then we discuss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205F61"/>
                </a:solidFill>
                <a:latin typeface="Roboto"/>
              </a:rPr>
              <a:t>Section 3 · The decision requested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End with a specific, answerable ask: approve option + plan + budget.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Defer high-risk gates to their change-management approval.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Your written business case is now complete — diagnosis, evidence, decision and plan.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20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5156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Roboto"/>
              </a:rPr>
              <a:t>The case is written — now make it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You've completed the written business case: diagnosis → evidence → decision &amp; plan.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Recommendation, action plan and a clear ask — everything a board needs to say yes.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A written case only persuades if it's also delivered well.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Next: present it — pitch the case to the board and handle the room.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