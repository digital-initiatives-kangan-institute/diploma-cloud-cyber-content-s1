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whole Topic as the pivot from Topic 1: they can speak cloud now — today they DIAGNOSE.</a:t>
            </a:r>
          </a:p>
          <a:p>
            <a:r>
              <a:t>Set expectations, don't yet teach a section.</a:t>
            </a:r>
          </a:p>
          <a:p>
            <a:r>
              <a:t>• First bullet: literacy was the warm-up; the real consulting job is working out where the</a:t>
            </a:r>
          </a:p>
          <a:p>
            <a:r>
              <a:t>organisation is, where it needs to be, and the gap between. No solutions yet.</a:t>
            </a:r>
          </a:p>
          <a:p>
            <a:r>
              <a:t>• Second bullet: that's the whole job of a case for change — locate the client on the map before</a:t>
            </a:r>
          </a:p>
          <a:p>
            <a:r>
              <a:t>you plot a route.</a:t>
            </a:r>
          </a:p>
          <a:p>
            <a:r>
              <a:t>• Third bullet (bolded): the three moves — align to strategy → describe the current state → expose</a:t>
            </a:r>
          </a:p>
          <a:p>
            <a:r>
              <a:t>the gaps. Say them in that order; each depends on the one before.</a:t>
            </a:r>
          </a:p>
          <a:p>
            <a:r>
              <a:t>• Fourth bullet: these three become the OPENING SECTIONS of the business case (AT1 §2–§4). What</a:t>
            </a:r>
          </a:p>
          <a:p>
            <a:r>
              <a:t>they build today is directly the front half of the AT1 deliverable.</a:t>
            </a:r>
          </a:p>
          <a:p>
            <a:r>
              <a:t>Misconception to pre-empt: "we're picking a cloud solution today." No — diagnosis comes before</a:t>
            </a:r>
          </a:p>
          <a:p>
            <a:r>
              <a:t>prescription; solutions are Topic 3. Manage the student who jumps straight to "move it to AWS".</a:t>
            </a:r>
          </a:p>
          <a:p>
            <a:r>
              <a:t>Question to pose: "Before you can recommend a fix, what three things must you establish about the</a:t>
            </a:r>
          </a:p>
          <a:p>
            <a:r>
              <a:t>client?" — draws out strategy / current state / gap.</a:t>
            </a:r>
          </a:p>
          <a:p>
            <a:r>
              <a:t>UoC/AT1 tie: this Topic develops PC 1.1–1.3 and PE 1–3; the output is AT1 Part A §2–§4.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anchor framing for the Topic — a case for change is an EVIDENCE chain, not a hunch. Teach it</a:t>
            </a:r>
          </a:p>
          <a:p>
            <a:r>
              <a:t>deliberately; the three-question order is the skeleton of everything today.</a:t>
            </a:r>
          </a:p>
          <a:p>
            <a:r>
              <a:t>• Walk the three questions in order: where does the org want to go (strategy) → where is it now</a:t>
            </a:r>
          </a:p>
          <a:p>
            <a:r>
              <a:t>(current state) → what's missing to get there (gaps). Each answer feeds the next.</a:t>
            </a:r>
          </a:p>
          <a:p>
            <a:r>
              <a:t>• Stress the last two bullets: they are NOT choosing a solution yet — they're proving the problem</a:t>
            </a:r>
          </a:p>
          <a:p>
            <a:r>
              <a:t>is real and worth solving. "Diagnose before you prescribe" (the magenta line) is the Topic's motto.</a:t>
            </a:r>
          </a:p>
          <a:p>
            <a:r>
              <a:t>Misconception to pre-empt: students treat "the case for change" as arguing FOR cloud. It isn't — it</a:t>
            </a:r>
          </a:p>
          <a:p>
            <a:r>
              <a:t>argues the problem exists; the solution could even be "renew on-prem". Keep it solution-neutral.</a:t>
            </a:r>
          </a:p>
          <a:p>
            <a:r>
              <a:t>Question to pose: "If a doctor prescribed before diagnosing, what would go wrong — and how is a rushed</a:t>
            </a:r>
          </a:p>
          <a:p>
            <a:r>
              <a:t>cloud recommendation the same mistake?"</a:t>
            </a:r>
          </a:p>
          <a:p>
            <a:r>
              <a:t>UoC/AT1 tie: PE 1–3 in sequence; this three-part spine maps one-to-one onto AT1 §2 / §3 / §4.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Section 1. Teach WHY the business case leads with strategy — it's what unlocks funding.</a:t>
            </a:r>
          </a:p>
          <a:p>
            <a:r>
              <a:t>• First two bullets: a board funds change that moves the organisation toward ITS OWN stated goals;</a:t>
            </a:r>
          </a:p>
          <a:p>
            <a:r>
              <a:t>so you lead by showing the initiative serves the strategy, not technology for its own sake.</a:t>
            </a:r>
          </a:p>
          <a:p>
            <a:r>
              <a:t>• Third bullet: define strategic alignment plainly — "here's what they said they want; here's how</a:t>
            </a:r>
          </a:p>
          <a:p>
            <a:r>
              <a:t>this delivers it." It's an argument, not a description.</a:t>
            </a:r>
          </a:p>
          <a:p>
            <a:r>
              <a:t>• Fourth bullet (bolded): it's the "why this, why now" that earns everything downstream. If you can't</a:t>
            </a:r>
          </a:p>
          <a:p>
            <a:r>
              <a:t>tie the initiative to a stated goal, the case is already weak.</a:t>
            </a:r>
          </a:p>
          <a:p>
            <a:r>
              <a:t>Misconception to pre-empt: "strategic alignment = describe the company." No — it's a targeted argument</a:t>
            </a:r>
          </a:p>
          <a:p>
            <a:r>
              <a:t>connecting THIS initiative to a specific organisational objective, with a citation.</a:t>
            </a:r>
          </a:p>
          <a:p>
            <a:r>
              <a:t>Question to pose: "YAT's board has limited money — why would 'the servers are old' persuade them less</a:t>
            </a:r>
          </a:p>
          <a:p>
            <a:r>
              <a:t>than 'this serves your national-growth goal'?" (funders back strategy, not maintenance).</a:t>
            </a:r>
          </a:p>
          <a:p>
            <a:r>
              <a:t>UoC/AT1 tie: PC 1.1 / PE 1 → AT1 §2 Strategic Alignment Analysis (criterion A1).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how-to slide for Section 1 — teach students to READ a strategic plan structurally instead of</a:t>
            </a:r>
          </a:p>
          <a:p>
            <a:r>
              <a:t>skimming it. The three layers are the examinable technique.</a:t>
            </a:r>
          </a:p>
          <a:p>
            <a:r>
              <a:t>• Walk the layers top-down: business objectives (where the whole org is going, e.g. grow students</a:t>
            </a:r>
          </a:p>
          <a:p>
            <a:r>
              <a:t>15%/yr) → ICT goals (how ICT supports that, e.g. reduce in-house dependency, 99.9% for critical</a:t>
            </a:r>
          </a:p>
          <a:p>
            <a:r>
              <a:t>systems) → initiatives (the planned actions, e.g. move suitable systems to cloud).</a:t>
            </a:r>
          </a:p>
          <a:p>
            <a:r>
              <a:t>• The payoff (magenta line): trace YOUR initiative UP these layers to a real business objective, and</a:t>
            </a:r>
          </a:p>
          <a:p>
            <a:r>
              <a:t>pull only what's MATERIAL — don't recite the whole plan.</a:t>
            </a:r>
          </a:p>
          <a:p>
            <a:r>
              <a:t>Misconception to pre-empt: students copy every objective in the plan. No — most won't be relevant;</a:t>
            </a:r>
          </a:p>
          <a:p>
            <a:r>
              <a:t>selecting the material few and tracing them up is the analytical skill being marked.</a:t>
            </a:r>
          </a:p>
          <a:p>
            <a:r>
              <a:t>Question to pose: "Migrating Ledgerline — which ICT goal does it serve, and which business objective</a:t>
            </a:r>
          </a:p>
          <a:p>
            <a:r>
              <a:t>sits above that goal?" (traces the chain live).</a:t>
            </a:r>
          </a:p>
          <a:p>
            <a:r>
              <a:t>UoC/AT1 tie: PC 1.1 / PE 1 → AT1 §2; the "trace up, material only" habit is exactly what A1 rewards.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half of Section 1 — a strategic argument needs the EXTERNAL industry context, not just the</a:t>
            </a:r>
          </a:p>
          <a:p>
            <a:r>
              <a:t>client's internal plan.</a:t>
            </a:r>
          </a:p>
          <a:p>
            <a:r>
              <a:t>• First bullet: a plan doesn't exist in a vacuum; compare it against where the industry is heading.</a:t>
            </a:r>
          </a:p>
          <a:p>
            <a:r>
              <a:t>• Second bullet: name the trends that matter here — cloud adoption, managed services, OPEX over CAPEX,</a:t>
            </a:r>
          </a:p>
          <a:p>
            <a:r>
              <a:t>resilience. These are the yardsticks.</a:t>
            </a:r>
          </a:p>
          <a:p>
            <a:r>
              <a:t>• Third/fourth bullets: name BOTH directions — alignment (plan matches industry direction →</a:t>
            </a:r>
          </a:p>
          <a:p>
            <a:r>
              <a:t>strengthens the case) and divergence (plan lags or differs → a risk, or an opportunity to flag).</a:t>
            </a:r>
          </a:p>
          <a:p>
            <a:r>
              <a:t>Misconception to pre-empt: "industry context = cheerlead for cloud." No — a balanced analysis names</a:t>
            </a:r>
          </a:p>
          <a:p>
            <a:r>
              <a:t>where the client is behind AND where a trend might not fit them; honesty is the mark of analysis.</a:t>
            </a:r>
          </a:p>
          <a:p>
            <a:r>
              <a:t>Question to pose: "The sector is moving to managed cloud services — where does that ALIGN with YAT's</a:t>
            </a:r>
          </a:p>
          <a:p>
            <a:r>
              <a:t>plan, and is there anywhere it might DIVERGE for a small RTO?"</a:t>
            </a:r>
          </a:p>
          <a:p>
            <a:r>
              <a:t>UoC/AT1 tie: KE 4 (current/emerging trends and directions) → AT1 §2; the outside view is what lifts</a:t>
            </a:r>
          </a:p>
          <a:p>
            <a:r>
              <a:t>A1 from description to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quality checklist for Section 1 — read it as the marker's-eye view of a strong §2, right before</a:t>
            </a:r>
          </a:p>
          <a:p>
            <a:r>
              <a:t>they attempt it. Keep it short; it's a rubric, not new content.</a:t>
            </a:r>
          </a:p>
          <a:p>
            <a:r>
              <a:t>• Every claim CITED to the plan (e.g. "ICT Strategic Plan — ICT Goals") — no unsourced assertions.</a:t>
            </a:r>
          </a:p>
          <a:p>
            <a:r>
              <a:t>• MATERIAL items only — not the whole plan recited.</a:t>
            </a:r>
          </a:p>
          <a:p>
            <a:r>
              <a:t>• TRACES the initiative up to a real organisational goal (the three-layer move).</a:t>
            </a:r>
          </a:p>
          <a:p>
            <a:r>
              <a:t>• ALIGNMENT AND DIVERGENCE both named (magenta line) — balanced, not cheerleading.</a:t>
            </a:r>
          </a:p>
          <a:p>
            <a:r>
              <a:t>Misconception to pre-empt: "more is better." No — a padded §2 that recites the plan scores worse than</a:t>
            </a:r>
          </a:p>
          <a:p>
            <a:r>
              <a:t>a tight one that cites four material objectives and traces them.</a:t>
            </a:r>
          </a:p>
          <a:p>
            <a:r>
              <a:t>Question to pose: "Looking at your §2, what would most quickly make it not yet satisfactory?" (uncited claims /</a:t>
            </a:r>
          </a:p>
          <a:p>
            <a:r>
              <a:t>reciting everything / no divergence named).</a:t>
            </a:r>
          </a:p>
          <a:p>
            <a:r>
              <a:t>UoC/AT1 tie: this is the A1 acceptance standard for AT1 §2 — hand them the bar before the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Section 1 practice; students draft §2 of the PRACTICE business case (Ledgerline).</a:t>
            </a:r>
          </a:p>
          <a:p>
            <a:r>
              <a:t>This mirrors AT1 §2 against a different system.</a:t>
            </a:r>
          </a:p>
          <a:p>
            <a:r>
              <a:t>Tell students: "In your working copy of the Business Case, write the Strategic Alignment section for</a:t>
            </a:r>
          </a:p>
          <a:p>
            <a:r>
              <a:t>moving YAT's Accounting System (Ledgerline) to the cloud. Argue it — don't just describe."</a:t>
            </a:r>
          </a:p>
          <a:p>
            <a:r>
              <a:t>Steps (put on the board):</a:t>
            </a:r>
          </a:p>
          <a:p>
            <a:r>
              <a:t>1. Read YAT's ICT Strategic Plan on the scenario intranet.</a:t>
            </a:r>
          </a:p>
          <a:p>
            <a:r>
              <a:t>2. Which ICT goals/objectives does this migration serve? Trace up to a business objective — CITE them.</a:t>
            </a:r>
          </a:p>
          <a:p>
            <a:r>
              <a:t>3. Add one or two points of industry context — where's the sector heading?</a:t>
            </a:r>
          </a:p>
          <a:p>
            <a:r>
              <a:t>4. Note both alignment and divergence honestly.</a:t>
            </a:r>
          </a:p>
          <a:p>
            <a:r>
              <a:t>Must produce: ~half a page — a cited strategic-alignment argument, traced up the three layers, with</a:t>
            </a:r>
          </a:p>
          <a:p>
            <a:r>
              <a:t>alignment AND divergence named.</a:t>
            </a:r>
          </a:p>
          <a:p>
            <a:r>
              <a:t>Timing: ~20 min then discuss. Where they get stuck: they DESCRIBE YAT instead of ARGUING alignment —</a:t>
            </a:r>
          </a:p>
          <a:p>
            <a:r>
              <a:t>circulate and push them to answer "which goal does this serve?"; also watch for uncited claims.</a:t>
            </a:r>
          </a:p>
          <a:p>
            <a:r>
              <a:t>Share-back prompt: take two answers and ask the room which one traces to a real business objective.</a:t>
            </a:r>
          </a:p>
          <a:p>
            <a:r>
              <a:t>No-leakage note: Ledgerline is the PRACTICE client — AT1 assesses the SAME skill on the LMS</a:t>
            </a:r>
          </a:p>
          <a:p>
            <a:r>
              <a:t>(comparable, not identical); keep them on the scenario plan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Section 2 with its single governing idea — current state is SYNTHESIS, not a copy-paste of the</a:t>
            </a:r>
          </a:p>
          <a:p>
            <a:r>
              <a:t>IT docs. This is the one thing students most often get wrong.</a:t>
            </a:r>
          </a:p>
          <a:p>
            <a:r>
              <a:t>• First bullet: summarise the current environment IN YOUR OWN WORDS, focused on what's material to</a:t>
            </a:r>
          </a:p>
          <a:p>
            <a:r>
              <a:t>THIS decision.</a:t>
            </a:r>
          </a:p>
          <a:p>
            <a:r>
              <a:t>• Second bullet: the board needs the picture that explains why change is needed — not a reproduction</a:t>
            </a:r>
          </a:p>
          <a:p>
            <a:r>
              <a:t>of the source documents.</a:t>
            </a:r>
          </a:p>
          <a:p>
            <a:r>
              <a:t>• Third bullet (bolded): distil it down; don't transcribe it. Say the word "distil" out loud — it's</a:t>
            </a:r>
          </a:p>
          <a:p>
            <a:r>
              <a:t>the verb for the whole section.</a:t>
            </a:r>
          </a:p>
          <a:p>
            <a:r>
              <a:t>Misconception to pre-empt: "thorough = paste everything in." No — a wall of copied specs is a FAIL of</a:t>
            </a:r>
          </a:p>
          <a:p>
            <a:r>
              <a:t>synthesis; the skill is choosing and re-stating the material few in plain language.</a:t>
            </a:r>
          </a:p>
          <a:p>
            <a:r>
              <a:t>Question to pose: "If the board can already read the IT docs, what's YOUR value in the current-state</a:t>
            </a:r>
          </a:p>
          <a:p>
            <a:r>
              <a:t>section?" (you distil and interpret — you make it decision-relevant).</a:t>
            </a:r>
          </a:p>
          <a:p>
            <a:r>
              <a:t>UoC/AT1 tie: PC 1.2 / PE 2 → AT1 §3 Current State (criterion A2); "own words, material only" is A2.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how-to for Section 2 — teach the KEEP/DROP filter that separates material facts from noise.</a:t>
            </a:r>
          </a:p>
          <a:p>
            <a:r>
              <a:t>• KEEP (if it bears on the decision): platform &amp; stack, age/condition/capacity, availability today,</a:t>
            </a:r>
          </a:p>
          <a:p>
            <a:r>
              <a:t>dependencies &amp; integrations, constraints, pain points. Read the list as "things that could change</a:t>
            </a:r>
          </a:p>
          <a:p>
            <a:r>
              <a:t>the renew-vs-migrate call".</a:t>
            </a:r>
          </a:p>
          <a:p>
            <a:r>
              <a:t>• DROP: detail that doesn't move the decision — printer counts, unrelated systems.</a:t>
            </a:r>
          </a:p>
          <a:p>
            <a:r>
              <a:t>• The sky-accent line: a good current state QUIETLY SURFACES the limitations that motivate the change</a:t>
            </a:r>
          </a:p>
          <a:p>
            <a:r>
              <a:t>— it sets up the gap analysis without shouting.</a:t>
            </a:r>
          </a:p>
          <a:p>
            <a:r>
              <a:t>Misconception to pre-empt: "keep vs drop is about importance." No — it's about RELEVANCE TO THIS</a:t>
            </a:r>
          </a:p>
          <a:p>
            <a:r>
              <a:t>DECISION; a fact can be true and important yet irrelevant to renew-vs-migrate, so it goes.</a:t>
            </a:r>
          </a:p>
          <a:p>
            <a:r>
              <a:t>Question to pose: "The Ledgerline server is 6 years old and there are 12 office printers — which fact</a:t>
            </a:r>
          </a:p>
          <a:p>
            <a:r>
              <a:t>do you keep, and why?" (age bears on renew-vs-migrate; printers don't).</a:t>
            </a:r>
          </a:p>
          <a:p>
            <a:r>
              <a:t>UoC/AT1 tie: PC 1.2 / PE 2 → AT1 §3; the filter is how A2 stays material rather than a data dump.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three-step method that turns source docs into a synthesised current state — teach it as a</a:t>
            </a:r>
          </a:p>
          <a:p>
            <a:r>
              <a:t>repeatable procedure they'll run in the activity next.</a:t>
            </a:r>
          </a:p>
          <a:p>
            <a:r>
              <a:t>• Step 1: read the source docs — environment overview, server/app specs, consultation notes.</a:t>
            </a:r>
          </a:p>
          <a:p>
            <a:r>
              <a:t>• Step 2: for EACH fact ask "does this affect the renew-vs-migrate decision?" If no, cut it (this is</a:t>
            </a:r>
          </a:p>
          <a:p>
            <a:r>
              <a:t>the relevance filter applied).</a:t>
            </a:r>
          </a:p>
          <a:p>
            <a:r>
              <a:t>• Step 3: re-state what's left in PLAIN LANGUAGE, grouped — platform / workload / dependencies /</a:t>
            </a:r>
          </a:p>
          <a:p>
            <a:r>
              <a:t>condition-risk. Grouping is what makes it read as synthesis, not a list.</a:t>
            </a:r>
          </a:p>
          <a:p>
            <a:r>
              <a:t>• Aim ~half a page, no copy-paste (bolded).</a:t>
            </a:r>
          </a:p>
          <a:p>
            <a:r>
              <a:t>Misconception to pre-empt: "re-state = reword each sentence." No — you regroup and compress across</a:t>
            </a:r>
          </a:p>
          <a:p>
            <a:r>
              <a:t>documents; the output is shorter and organised by theme, not a paraphrase of every line.</a:t>
            </a:r>
          </a:p>
          <a:p>
            <a:r>
              <a:t>Question to pose: "You've got five source docs — what's the first question you ask of every fact in</a:t>
            </a:r>
          </a:p>
          <a:p>
            <a:r>
              <a:t>them?" ("does it affect the decision?").</a:t>
            </a:r>
          </a:p>
          <a:p>
            <a:r>
              <a:t>UoC/AT1 tie: PC 1.2 / PE 2 → AT1 §3; this procedure is exactly how a strong A2 gets 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Section 2 practice; students draft §3 of the practice business case (Ledgerline),</a:t>
            </a:r>
          </a:p>
          <a:p>
            <a:r>
              <a:t>mirroring AT1 §3 on a different system.</a:t>
            </a:r>
          </a:p>
          <a:p>
            <a:r>
              <a:t>Tell students: "In your working copy of the Business Case, add the Current State section for the</a:t>
            </a:r>
          </a:p>
          <a:p>
            <a:r>
              <a:t>Accounting System (Ledgerline). Synthesise — in your own words, material facts only."</a:t>
            </a:r>
          </a:p>
          <a:p>
            <a:r>
              <a:t>Steps (put on the board):</a:t>
            </a:r>
          </a:p>
          <a:p>
            <a:r>
              <a:t>1. Use the Accounting application spec, server specs, operational costing, the ICT Environment</a:t>
            </a:r>
          </a:p>
          <a:p>
            <a:r>
              <a:t>Overview, and the consultation notes on the scenario intranet.</a:t>
            </a:r>
          </a:p>
          <a:p>
            <a:r>
              <a:t>2. Cover: platform &amp; stack · workload (incl. month-end / EOFY peaks) · integrations (AD, O365, LMS</a:t>
            </a:r>
          </a:p>
          <a:p>
            <a:r>
              <a:t>fee-status, payroll, banking) · condition &amp; constraints.</a:t>
            </a:r>
          </a:p>
          <a:p>
            <a:r>
              <a:t>3. Run the relevance filter on every fact; group what survives.</a:t>
            </a:r>
          </a:p>
          <a:p>
            <a:r>
              <a:t>Must produce: ~half a page, own words, grouped by theme, no verbatim copying.</a:t>
            </a:r>
          </a:p>
          <a:p>
            <a:r>
              <a:t>Timing: ~20 min then discuss. Where they get stuck: they PASTE spec tables verbatim — circulate and</a:t>
            </a:r>
          </a:p>
          <a:p>
            <a:r>
              <a:t>make them re-state in plain language; also watch for irrelevant detail creeping in.</a:t>
            </a:r>
          </a:p>
          <a:p>
            <a:r>
              <a:t>Share-back prompt: "Which limitation in your current state most obviously sets up a gap?" (bridges to</a:t>
            </a:r>
          </a:p>
          <a:p>
            <a:r>
              <a:t>Section 3).</a:t>
            </a:r>
          </a:p>
          <a:p>
            <a:r>
              <a:t>No-leakage note: Ledgerline is PRACTICE; AT1 assesses the same synthesis skill on the LMS —</a:t>
            </a:r>
          </a:p>
          <a:p>
            <a:r>
              <a:t>comparable, not identical. Keep them on the scenario source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Section 3 — teach gap analysis as the BRIDGE that makes the problem concrete and hands the next</a:t>
            </a:r>
          </a:p>
          <a:p>
            <a:r>
              <a:t>stage its worklist.</a:t>
            </a:r>
          </a:p>
          <a:p>
            <a:r>
              <a:t>• First bullet: it bridges where we want to be (strategy + requirements) and where we are (your</a:t>
            </a:r>
          </a:p>
          <a:p>
            <a:r>
              <a:t>current state) — it literally joins §2 to §3.</a:t>
            </a:r>
          </a:p>
          <a:p>
            <a:r>
              <a:t>• Second/third bullets: it makes the problem CONCRETE and MEASURABLE, and it hands the next stage a</a:t>
            </a:r>
          </a:p>
          <a:p>
            <a:r>
              <a:t>list of changes to evaluate (the seed of Topic 3's options).</a:t>
            </a:r>
          </a:p>
          <a:p>
            <a:r>
              <a:t>• The green line: "No gap → no case." If you can't show a gap, there's no justified change — say it.</a:t>
            </a:r>
          </a:p>
          <a:p>
            <a:r>
              <a:t>Misconception to pre-empt: "the gap analysis is where I propose the solution." No — the "proposed</a:t>
            </a:r>
          </a:p>
          <a:p>
            <a:r>
              <a:t>change" is a CANDIDATE to evaluate later, not a decision; gap analysis proves the problem, Topic 3</a:t>
            </a:r>
          </a:p>
          <a:p>
            <a:r>
              <a:t>weighs the fix.</a:t>
            </a:r>
          </a:p>
          <a:p>
            <a:r>
              <a:t>Question to pose: "Where do the 'desired' and 'current' columns each come from?" (desired ← strategy</a:t>
            </a:r>
          </a:p>
          <a:p>
            <a:r>
              <a:t>+ requirements; current ← your §3 synthesis — it's traceable both ways).</a:t>
            </a:r>
          </a:p>
          <a:p>
            <a:r>
              <a:t>UoC/AT1 tie: PC 1.3 / PE 3 → AT1 §4 Gap Analysis (criterion A3); it's the hinge into the options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Section 3 practice; students build §4 of the practice business case (Ledgerline)</a:t>
            </a:r>
          </a:p>
          <a:p>
            <a:r>
              <a:t>as a structured gap table, mirroring AT1 §4.</a:t>
            </a:r>
          </a:p>
          <a:p>
            <a:r>
              <a:t>Tell students: "In your working copy of the Business Case, add the Gap Analysis for the Accounting</a:t>
            </a:r>
          </a:p>
          <a:p>
            <a:r>
              <a:t>System (Ledgerline) — a table of at least 3 rows, every column filled and traceable."</a:t>
            </a:r>
          </a:p>
          <a:p>
            <a:r>
              <a:t>Steps (put on the board):</a:t>
            </a:r>
          </a:p>
          <a:p>
            <a:r>
              <a:t>1. Draw objectives from your Strategic Alignment work + the migration requirements, e.g.: reduce</a:t>
            </a:r>
          </a:p>
          <a:p>
            <a:r>
              <a:t>in-house infrastructure dependency (ageing server); business-hours availability &gt;=99.5% (RPO &lt;=1h /</a:t>
            </a:r>
          </a:p>
          <a:p>
            <a:r>
              <a:t>RTO &lt;=1 business day); keep financial data onshore + 7-year retention; size for month-end / EOFY</a:t>
            </a:r>
          </a:p>
          <a:p>
            <a:r>
              <a:t>peaks without year-round over-provisioning.</a:t>
            </a:r>
          </a:p>
          <a:p>
            <a:r>
              <a:t>2. Fill every column: objective → current → desired → gap → opportunity → proposed change.</a:t>
            </a:r>
          </a:p>
          <a:p>
            <a:r>
              <a:t>3. Check each row traces BACK to a real objective (from §2) and your current-state facts (from §3).</a:t>
            </a:r>
          </a:p>
          <a:p>
            <a:r>
              <a:t>Must produce: a &gt;=3-row gap table, all six columns filled, each row traceable both ways.</a:t>
            </a:r>
          </a:p>
          <a:p>
            <a:r>
              <a:t>Timing: ~25 min then discuss. Where they get stuck: they jump to "move to AWS" in every "proposed</a:t>
            </a:r>
          </a:p>
          <a:p>
            <a:r>
              <a:t>change" cell — remind them proposed change is a CANDIDATE seed, not a chosen solution; and they leave</a:t>
            </a:r>
          </a:p>
          <a:p>
            <a:r>
              <a:t>"opportunity" blank — it's the bridge from gap to proposed change.</a:t>
            </a:r>
          </a:p>
          <a:p>
            <a:r>
              <a:t>Share-back prompt: take one row and trace it end-to-end — objective from the plan, current from §3.</a:t>
            </a:r>
          </a:p>
          <a:p>
            <a:r>
              <a:t>No-leakage note: Ledgerline is PRACTICE; AT1 assesses the gap-analysis skill on the LMS — comparable,</a:t>
            </a:r>
          </a:p>
          <a:p>
            <a:r>
              <a:t>not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02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The case for change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Prove the problem before you propose the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consultant's first real job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diagnose before you prescribe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 can speak cloud now — now you do the diagnosis.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Find out where the organisation is, where it needs to be, and the gap between.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Three moves: align to strategy → describe the current state → expose the gaps.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These three become the opening sections of the business case you'll build.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 case for change is evidence, not opinion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answers three questions, in order: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Where does the organisation want to go?   — strategy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Where is it now?   — current state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What's missing to get there?   — gaps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You're not choosing a solution yet — you're proving the problem is real and worth solving.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Solutions come next. Diagnose before you prescribe.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Strategic alignment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tie the initiative to the organisation's goals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Start with strategy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or the board won't fund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board funds change that moves the organisation toward its own stated goals.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Lead by showing the initiative serves the strategy — not technology for its own sake.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Strategic alignment = “here's what they said they want; here's how this delivers it.”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It's the “why this, why now” that earns everything that follows.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Read a strategic plan in three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Business objectives — where the whole organisation is going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e.g. grow students 15%/yr, expand nationally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ICT goals / objectives — how ICT supports that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e.g. reduce in-house dependency; 99.9% for critical systems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Initiatives — the planned actions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e.g. move suitable on-site systems to the cloud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Trace your initiative up these layers — pull only what's material.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Add the outside view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industry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plan doesn't exist in a vacuum — compare it to where the industry is heading.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Trends that matter: cloud adoption · managed services · OPEX over CAPEX · resilience.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Name both directions: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Alignment — the plan matches industry direction (strengthens the case)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Divergence — the plan lags or differs (a risk, or an opportunity to flag)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good looks like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Every claim cited to the plan (e.g. “ICT Strategic Plan — ICT Goals”).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Material items only — not the whole plan recited.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Traces the initiative up to a real organisational goal.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Alignment and divergence both named — balanced, not cheerleading.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Write a Strategic Alignment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In your working copy of the Business Case, write the Strategic Alignment section for moving the Accounting System (Ledgerline).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Remember to: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Read YAT's ICT Strategic Plan.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Which ICT goals/objectives does this migration serve? Trace up to a business objective — cite them.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Add one or two points of industry context — where's the sector heading?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Note alignment and divergence.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~½ page.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⚠  Argue alignment through the ICT goals, and name the weaker links honestly. That is the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min, then we discuss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Strategic alignment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Open with strategy: tie the initiative to the organisation's own stated goals.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Three layers — business objectives / ICT goals / initiatives; pull only what's material.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Add the outside view; name alignment and divergence.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Cite everything. Strategy is the “why this, why now”.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Current-state synthesis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synthesis, not transcription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Current state is synthesis, not transcription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Summarise the current environment in your own words, focused on what's material to this decision.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board needs the picture that explains why change is needed — not a copy of the IT docs.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Distil it down; don't transcribe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relevance filter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keep vs drop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KEEP (if it bears on the decision):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platform &amp; stack · age / condition / capacity · availability today · dependencies &amp; integrations · constraints · pain points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DROP: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detail that doesn't move the decision (printer counts, unrelated systems)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good current state quietly surfaces the limitations that motivate the change.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How to distil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Read the source docs — environment overview, server/app specs, consultation notes.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For each fact ask: “does this affect the renew-vs-migrate decision?” If no, cut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Re-state what's left in plain language, grouped: platform · workload · dependencies · condition/risk.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Aim ~½ page. No copy-paste.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Add the Current State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In your working copy of the Business Case, add the Current State section for the Accounting System (Ledgerline).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Remember to: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Use the Accounting application spec, server specs, operational costing, the ICT Environment Overview, and the consultation notes.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Cover: platform &amp; stack · workload (incl. month-end / EOFY peaks) · integrations (AD, O365, LMS fee-status, payroll, banking) · condition &amp; constraints.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~½ page.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⚠  Material only — synthesise in your own words, no verbatim copying.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min, then we discuss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Current 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Own words, material facts only — synthesis beats transcription.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Filter every fact against “does it affect the decision?”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Surface the limitations that set up the gap analysis.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Gap analysis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bridges “want” and “have”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Gap analysis bridges “want” and “have”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bridges where we want to be (strategy + requirements) and where we are (current state).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makes the problem concrete and measurable.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hands the next stage a list of changes to evaluate.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No gap → no case.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gap table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one row per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1828800"/>
          <a:ext cx="10881360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13560"/>
                <a:gridCol w="1813560"/>
                <a:gridCol w="1813560"/>
                <a:gridCol w="1813560"/>
                <a:gridCol w="1813560"/>
                <a:gridCol w="181356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Objective</a:t>
                      </a:r>
                    </a:p>
                  </a:txBody>
                  <a:tcPr marL="76200" marR="76200">
                    <a:solidFill>
                      <a:srgbClr val="205F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Current</a:t>
                      </a:r>
                    </a:p>
                  </a:txBody>
                  <a:tcPr marL="76200" marR="76200">
                    <a:solidFill>
                      <a:srgbClr val="205F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Desired</a:t>
                      </a:r>
                    </a:p>
                  </a:txBody>
                  <a:tcPr marL="76200" marR="76200">
                    <a:solidFill>
                      <a:srgbClr val="205F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Gap</a:t>
                      </a:r>
                    </a:p>
                  </a:txBody>
                  <a:tcPr marL="76200" marR="76200">
                    <a:solidFill>
                      <a:srgbClr val="205F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Opportunity</a:t>
                      </a:r>
                    </a:p>
                  </a:txBody>
                  <a:tcPr marL="76200" marR="76200">
                    <a:solidFill>
                      <a:srgbClr val="205F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Proposed change</a:t>
                      </a:r>
                    </a:p>
                  </a:txBody>
                  <a:tcPr marL="76200" marR="76200">
                    <a:solidFill>
                      <a:srgbClr val="205F6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1">
                <a:solidFill>
                  <a:srgbClr val="484848"/>
                </a:solidFill>
                <a:latin typeface="Roboto Light"/>
              </a:rPr>
              <a:t>Objective/Desired ← Strategic Alignment + requirements · Current ← your Current State · Proposed change = the seed of the options you'll weigh next.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Anatomy of a good row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one objective, traced end to 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1828800"/>
          <a:ext cx="1088136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Field</a:t>
                      </a:r>
                    </a:p>
                  </a:txBody>
                  <a:tcPr marL="76200" marR="76200">
                    <a:solidFill>
                      <a:srgbClr val="205F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Example</a:t>
                      </a:r>
                    </a:p>
                  </a:txBody>
                  <a:tcPr marL="76200" marR="76200">
                    <a:solidFill>
                      <a:srgbClr val="205F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A2929"/>
                          </a:solidFill>
                          <a:latin typeface="Roboto"/>
                        </a:rPr>
                        <a:t>Objective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“reduce dependency on in-house server infrastructure”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A2929"/>
                          </a:solidFill>
                          <a:latin typeface="Roboto"/>
                        </a:rPr>
                        <a:t>Current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single ageing on-prem server, owned and maintained in-house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A2929"/>
                          </a:solidFill>
                          <a:latin typeface="Roboto"/>
                        </a:rPr>
                        <a:t>Desired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no in-house server to own / patch / replace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A2929"/>
                          </a:solidFill>
                          <a:latin typeface="Roboto"/>
                        </a:rPr>
                        <a:t>Gap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full reliance on end-of-life hardware the organisation must run itself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A2929"/>
                          </a:solidFill>
                          <a:latin typeface="Roboto"/>
                        </a:rPr>
                        <a:t>Opportunity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move to a managed / cloud platform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A2929"/>
                          </a:solidFill>
                          <a:latin typeface="Roboto"/>
                        </a:rPr>
                        <a:t>Proposed change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evaluate migrating the workload to the cloud (→ next topic)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1">
                <a:solidFill>
                  <a:srgbClr val="484848"/>
                </a:solidFill>
                <a:latin typeface="Roboto Light"/>
              </a:rPr>
              <a:t>Traceable both ways — objective came from the plan, current from your Current State.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Build the Gap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In your working copy of the Business Case, add the Gap Analysis for the Accounting System (Ledgerline) — a table of at least 3 rows.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Remember to draw objectives from your Strategic Alignment work + the migration requirements, e.g.: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reduce in-house infrastructure dependency (ageing server)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business-hours availability ≥ 99.5% (RPO ≤ 1h / RTO ≤ 1 business day)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keep financial data onshore + 7-year retention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size for month-end / EOFY peaks without year-round over-provisioning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Fill every column: objective → current → desired → gap → opportunity → proposed change.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⚠  Each row must trace back to a real objective and your current-state facts.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~25 min, then we discuss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Section 3 · Gap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Gap analysis = desired (strategy + requirements) vs current (your synthesis).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One row per objective; fill all six columns; keep it traceable.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“proposed change” column feeds straight into the options analysis next.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From diagnosis to evaluation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You've built the case for change: strategy → current state → gaps.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That's the first half of a business case — it proves the problem is real and worth solving.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Your “proposed changes” aren't decisions yet — they're candidates.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Next: weigh the options, cost them, assess the risk — turning the case for change into a recommendation.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 practised on the Accounting System; the same moves carry to whatever engagement lands on your desk.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