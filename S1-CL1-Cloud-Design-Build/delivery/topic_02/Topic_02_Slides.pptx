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case for change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Prove the problem before you propose 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consultant's first real job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diagnose before you prescribe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can speak cloud now — now you do the diagnosis.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Find out where the organisation is, where it needs to be, and the gap between.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D68E10"/>
                </a:solidFill>
                <a:latin typeface="Roboto"/>
              </a:rPr>
              <a:t>Three moves: align to strategy → describe the current state → expose the gaps.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three become the opening sections of the business case you'll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 case for change is evidence, not opinion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answers three questions, in order: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Where does the organisation want to go?   — strategy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Where is it now?   — current state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What's missing to get there?   — gaps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You're not choosing a solution yet — you're proving the problem is real and worth solving.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Solutions come next. Diagnose before you prescribe.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Strategic alignment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tie the initiative to the organisation's goals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Start with strategy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or the board won't fund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funds change that moves the organisation toward its own stated goals.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Lead by showing the initiative serves the strategy — not technology for its own sake.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Strategic alignment = “here's what they said they want; here's how this delivers it.”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D68E10"/>
                </a:solidFill>
                <a:latin typeface="Roboto"/>
              </a:rPr>
              <a:t>It's the “why this, why now” that earns everything that follows.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Read a strategic plan in three layers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A2929"/>
                </a:solidFill>
                <a:latin typeface="Roboto"/>
              </a:rPr>
              <a:t>Business objectives — where the whole organisation is going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e.g. grow students 15%/yr, expand nationally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A2929"/>
                </a:solidFill>
                <a:latin typeface="Roboto"/>
              </a:rPr>
              <a:t>ICT goals / objectives — how ICT supports that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e.g. reduce in-house dependency; 99.9% for critical systems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A2929"/>
                </a:solidFill>
                <a:latin typeface="Roboto"/>
              </a:rPr>
              <a:t>Initiatives — the planned actions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e.g. move suitable on-site systems to the cloud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Trace your initiative up these layers — pull only what's material.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Add the outside view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industry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plan doesn't exist in a vacuum — compare it to where the industry is heading.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Trends that matter: cloud adoption · managed services · OPEX over CAPEX · resilience.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both directions: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Alignment — the plan matches industry direction (strengthens the case)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Divergence — the plan lags or differs (a risk, or an opportunity to flag)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good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claim cited to the plan (e.g. “ICT Strategic Plan — ICT Goals”).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Material items only — not the whole plan recited.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Traces the initiative up to a real organisational goal.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Alignment and divergence both named — balanced, not cheerleading.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a Strategic Alignment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write the Strategic Alignment section for moving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Read YAT's ICT Strategic Plan.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Which ICT goals/objectives does this migration serve? Trace up to a business objective — cite them.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Add one or two points of industry context — where's the sector heading?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Note alignment and divergence.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0" i="0">
                <a:solidFill>
                  <a:srgbClr val="92268F"/>
                </a:solidFill>
                <a:latin typeface="Roboto"/>
              </a:rPr>
              <a:t>⚠  Argue alignment through the ICT goals, and name the weaker links honestly. That is the analysis.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Strategic alignment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Open with strategy: tie the initiative to the organisation's own stated goals.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Three layers — business objectives / ICT goals / initiatives; pull only what's material.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Add the outside view; name alignment and divergence.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Cite everything. Strategy is the “why this, why now”.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Current-state synthesis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synthesis, not transcription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Current state is synthesis, not transcription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Summarise the current environment in your own words, focused on what's material to this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 needs the picture that explains why change is needed — not a copy of the IT docs.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D68E10"/>
                </a:solidFill>
                <a:latin typeface="Roboto"/>
              </a:rPr>
              <a:t>Distil it down; don't transcribe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relevance filter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keep vs drop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A2929"/>
                </a:solidFill>
                <a:latin typeface="Roboto"/>
              </a:rPr>
              <a:t>KEEP (if it bears on the decision):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platform &amp; stack · age / condition / capacity · availability today · dependencies &amp; integrations · constraints · pain points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A2929"/>
                </a:solidFill>
                <a:latin typeface="Roboto"/>
              </a:rPr>
              <a:t>DROP: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detail that doesn't move the decision (printer counts, unrelated systems)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A good current state quietly surfaces the limitations that motivate the change.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to distil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the source docs — environment overview, server/app specs, consultation notes.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each fact ask: “does this affect the renew-vs-migrate decision?” If no, cut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Re-state what's left in plain language, grouped: platform · workload · dependencies · condition/risk.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D68E10"/>
                </a:solidFill>
                <a:latin typeface="Roboto"/>
              </a:rPr>
              <a:t>Aim ~½ page. No copy-paste.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Add the Current State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Current State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Use the Accounting application spec, server specs, operational costing, the ICT Environment Overview, and the consultation notes.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Cover: platform &amp; stack · workload (incl. month-end / EOFY peaks) · integrations (AD, O365, LMS fee-status, payroll, banking) · condition &amp; constraints.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⚠  Material only — synthesise in your own words, no verbatim copying.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Current state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Own words, material facts only — synthesis beats transcription.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Filter every fact against “does it affect the decision?”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Surface the limitations that set up the gap analysis.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Gap analysis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bridges “want” and “have”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Gap analysis bridges “want” and “have”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bridges where we want to be (strategy + requirements) and where we are (current state).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makes the problem concrete and measurable.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hands the next stage a list of changes to evaluate.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No gap → no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gap table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one row per 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914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828800"/>
                <a:gridCol w="1737360"/>
                <a:gridCol w="1737360"/>
                <a:gridCol w="17373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Objective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Current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Desired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Gap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Opportunity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Proposed change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/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/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/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/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/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/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Objective/Desired ← Strategic Alignment + requirements · Current ← your Current State · Proposed change = the seed of the options you'll weigh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Anatomy of a good row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one objective, traced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5039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Field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Example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Objective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“reduce dependency on in-house server infrastructure”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Current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single ageing on-prem server, owned and maintained in-house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Desired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no in-house server to own / patch / replace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Gap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full reliance on end-of-life hardware the organisation must run itself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Opportunity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move to a managed / cloud platform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Proposed change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evaluate migrating the workload to the cloud (→ next topic)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Traceable both ways — objective came from the plan, current from your Current State.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Gap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Gap Analysis for the Accounting System (Ledgerline) — a table of at least 3 rows.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 draw objectives from your Strategic Alignment work + the migration requirements, e.g.: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reduce in-house infrastructure dependency (ageing server)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business-hours availability ≥ 99.5% (RPO ≤ 1h / RTO ≤ 1 business day)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keep financial data onshore + 7-year retention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size for month-end / EOFY peaks without year-round over-provisioning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Fill every column: objective → current → desired → gap → opportunity → proposed change.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05F61"/>
                </a:solidFill>
                <a:latin typeface="Roboto"/>
              </a:rPr>
              <a:t>⚠  Each row must trace back to a real objective and your current-state facts.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Gap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Gap analysis = desired (strategy + requirements) vs current (your synthesis).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One row per objective; fill all six columns; keep it traceable.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“proposed change” column feeds straight into the options analysis next.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diagnosis to evaluation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built the case for change: strategy → current state → gaps.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That's the first half of a business case — it proves the problem is real and worth solving.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Your “proposed changes” aren't decisions yet — they're candidates.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weigh the options, cost them, assess the risk — turning the case for change into a recommendation.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practised on the Accounting System; the same moves carry to whatever engagement lands on your desk.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