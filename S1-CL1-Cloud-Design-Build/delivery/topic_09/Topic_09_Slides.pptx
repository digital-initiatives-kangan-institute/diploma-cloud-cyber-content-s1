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79" r:id="rId7"/>
    <p:sldId id="280" r:id="rId8"/>
    <p:sldId id="281"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005" autoAdjust="0"/>
  </p:normalViewPr>
  <p:slideViewPr>
    <p:cSldViewPr snapToGrid="0" snapToObjects="1">
      <p:cViewPr varScale="1">
        <p:scale>
          <a:sx n="54" d="100"/>
          <a:sy n="54" d="100"/>
        </p:scale>
        <p:origin x="102" y="47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F9753F-FA81-4D6C-9145-6F5C51C3197B}" type="datetimeFigureOut">
              <a:rPr lang="en-AU" smtClean="0"/>
              <a:t>3/06/2026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8E1EC3-8B71-4E17-AA20-1D5C47EF5175}" type="slidenum">
              <a:rPr lang="en-AU" smtClean="0"/>
              <a:t>‹#›</a:t>
            </a:fld>
            <a:endParaRPr lang="en-AU"/>
          </a:p>
        </p:txBody>
      </p:sp>
    </p:spTree>
    <p:extLst>
      <p:ext uri="{BB962C8B-B14F-4D97-AF65-F5344CB8AC3E}">
        <p14:creationId xmlns:p14="http://schemas.microsoft.com/office/powerpoint/2010/main" val="1301358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6191F"/>
                </a:solidFill>
                <a:effectLst/>
                <a:latin typeface="Calibri" panose="020F0502020204030204" pitchFamily="34" charset="0"/>
              </a:rPr>
              <a:t>Amazon CloudWatch is an AWS service metrics and logs repository. You can use Amazon CloudWatch Logs to monitor, store, and access your log files from Amazon Elastic Compute Cloud (Amazon EC2) instances, AWS CloudTrail, Amazon Route 53, and other AWS services. </a:t>
            </a:r>
          </a:p>
          <a:p>
            <a:endParaRPr lang="en-US" b="0" i="0" dirty="0">
              <a:solidFill>
                <a:srgbClr val="16191F"/>
              </a:solidFill>
              <a:effectLst/>
              <a:latin typeface="Calibri" panose="020F0502020204030204" pitchFamily="34" charset="0"/>
            </a:endParaRPr>
          </a:p>
          <a:p>
            <a:pPr marL="0" marR="0" lvl="0" indent="0" defTabSz="914400" rtl="0" eaLnBrk="1" fontAlgn="auto" latinLnBrk="0" hangingPunct="1">
              <a:buClrTx/>
              <a:buSzTx/>
              <a:buFontTx/>
              <a:buNone/>
              <a:tabLst/>
              <a:defRPr/>
            </a:pPr>
            <a:r>
              <a:rPr lang="en-US" b="0" i="0" dirty="0">
                <a:solidFill>
                  <a:srgbClr val="16191F"/>
                </a:solidFill>
                <a:effectLst/>
                <a:latin typeface="Calibri" panose="020F0502020204030204" pitchFamily="34" charset="0"/>
              </a:rPr>
              <a:t>An AWS service such as Amazon EC2 puts metrics into the repository, and you retrieve statistics based on those metrics. If you put your own custom metrics into the repository, you can also retrieve statistics on these metrics. Statistics are metric data aggregations over specified periods of time. Metrics are stored separately in Regions, but you can use CloudWatch cross-Region functionality to aggregate statistics from different Regions. You can use a CloudWatch console dashboard to display graphs of the metric statistics.</a:t>
            </a:r>
          </a:p>
          <a:p>
            <a:endParaRPr lang="en-US" b="0" i="0" dirty="0">
              <a:solidFill>
                <a:srgbClr val="16191F"/>
              </a:solidFill>
              <a:effectLst/>
              <a:latin typeface="Calibri" panose="020F0502020204030204" pitchFamily="34" charset="0"/>
            </a:endParaRPr>
          </a:p>
          <a:p>
            <a:r>
              <a:rPr lang="en-US" b="0" i="0" dirty="0">
                <a:solidFill>
                  <a:srgbClr val="16191F"/>
                </a:solidFill>
                <a:effectLst/>
                <a:latin typeface="Calibri" panose="020F0502020204030204" pitchFamily="34" charset="0"/>
              </a:rPr>
              <a:t>You can use an alarm to automatically initiate actions on your behalf. An alarm watches a single metric over a specified time period and performs one or more specified actions based on the value of the metric relative to a threshold over time. You can also add alarms to dashboards.</a:t>
            </a:r>
          </a:p>
          <a:p>
            <a:endParaRPr lang="en-US" b="0" i="0" dirty="0">
              <a:solidFill>
                <a:srgbClr val="16191F"/>
              </a:solidFill>
              <a:effectLst/>
              <a:latin typeface="Calibri" panose="020F0502020204030204" pitchFamily="34" charset="0"/>
            </a:endParaRPr>
          </a:p>
          <a:p>
            <a:pPr marL="0" marR="0" lvl="0" indent="0" defTabSz="914400" rtl="0" eaLnBrk="1" fontAlgn="auto" latinLnBrk="0" hangingPunct="1">
              <a:buClrTx/>
              <a:buSzTx/>
              <a:buFontTx/>
              <a:buNone/>
              <a:tabLst/>
              <a:defRPr/>
            </a:pPr>
            <a:r>
              <a:rPr lang="en-US" b="0" i="0" dirty="0">
                <a:solidFill>
                  <a:srgbClr val="333333"/>
                </a:solidFill>
                <a:effectLst/>
                <a:latin typeface="Calibri" panose="020F0502020204030204" pitchFamily="34" charset="0"/>
              </a:rPr>
              <a:t>CloudWatch also supports data querying from multiple sources, giving you the ability to gain visibility across your hybrid and </a:t>
            </a:r>
            <a:r>
              <a:rPr lang="en-US" b="0" i="0" dirty="0" err="1">
                <a:solidFill>
                  <a:srgbClr val="333333"/>
                </a:solidFill>
                <a:effectLst/>
                <a:latin typeface="Calibri" panose="020F0502020204030204" pitchFamily="34" charset="0"/>
              </a:rPr>
              <a:t>multicloud</a:t>
            </a:r>
            <a:r>
              <a:rPr lang="en-US" b="0" i="0" dirty="0">
                <a:solidFill>
                  <a:srgbClr val="333333"/>
                </a:solidFill>
                <a:effectLst/>
                <a:latin typeface="Calibri" panose="020F0502020204030204" pitchFamily="34" charset="0"/>
              </a:rPr>
              <a:t> metrics in a single dashboard view and set alarms accordingly.</a:t>
            </a:r>
            <a:endParaRPr lang="en-US" b="0" dirty="0">
              <a:latin typeface="Calibri" panose="020F0502020204030204" pitchFamily="34" charset="0"/>
            </a:endParaRPr>
          </a:p>
          <a:p>
            <a:endParaRPr lang="en-AU" dirty="0"/>
          </a:p>
        </p:txBody>
      </p:sp>
      <p:sp>
        <p:nvSpPr>
          <p:cNvPr id="4" name="Slide Number Placeholder 3"/>
          <p:cNvSpPr>
            <a:spLocks noGrp="1"/>
          </p:cNvSpPr>
          <p:nvPr>
            <p:ph type="sldNum" sz="quarter" idx="5"/>
          </p:nvPr>
        </p:nvSpPr>
        <p:spPr/>
        <p:txBody>
          <a:bodyPr/>
          <a:lstStyle/>
          <a:p>
            <a:fld id="{708E1EC3-8B71-4E17-AA20-1D5C47EF5175}" type="slidenum">
              <a:rPr lang="en-AU" smtClean="0"/>
              <a:t>5</a:t>
            </a:fld>
            <a:endParaRPr lang="en-AU"/>
          </a:p>
        </p:txBody>
      </p:sp>
    </p:spTree>
    <p:extLst>
      <p:ext uri="{BB962C8B-B14F-4D97-AF65-F5344CB8AC3E}">
        <p14:creationId xmlns:p14="http://schemas.microsoft.com/office/powerpoint/2010/main" val="24278966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alibri" panose="020F0502020204030204" pitchFamily="34" charset="0"/>
                <a:ea typeface="Amazon Ember Light" panose="020B0403020204020204" pitchFamily="34" charset="0"/>
                <a:cs typeface="Amazon Ember Light" panose="020B0403020204020204" pitchFamily="34" charset="0"/>
              </a:rPr>
              <a:t>AWS resources have the capability to send operational logs to CloudWatch Logs. </a:t>
            </a:r>
            <a:r>
              <a:rPr lang="en-US" b="0" i="0" kern="1200" dirty="0">
                <a:solidFill>
                  <a:schemeClr val="tx1"/>
                </a:solidFill>
                <a:effectLst/>
                <a:latin typeface="Calibri" panose="020F0502020204030204" pitchFamily="34" charset="0"/>
                <a:ea typeface="+mn-ea"/>
                <a:cs typeface="+mn-cs"/>
              </a:rPr>
              <a:t>You can use CloudWatch Logs to monitor, store, and access your log files from sources such as EC2 instances, AWS CloudTrail, Route 53, Amazon Virtual Private Cloud (Amazon VPC), and other AWS services. </a:t>
            </a:r>
            <a:r>
              <a:rPr lang="en-US" b="0" i="0" dirty="0">
                <a:solidFill>
                  <a:srgbClr val="16191F"/>
                </a:solidFill>
                <a:effectLst/>
                <a:latin typeface="Calibri" panose="020F0502020204030204" pitchFamily="34" charset="0"/>
              </a:rPr>
              <a:t>CloudWatch Logs gives you the ability to centralize the logs from all of the systems, applications, and AWS services that you use in a single, highly scalable service. You can then view logs, search them for specific error codes or patterns, filter them based on specific fields, or archive them securely for future analysis. With CloudWatch Logs, you can see all of your logs, regardless of their source, as a single and consistent flow of events ordered by time. CloudWatch Logs also supports querying your logs with a powerful query language, auditing and masking sensitive data in logs, and generating metrics from logs by using filters or an embedded log format. </a:t>
            </a:r>
            <a:r>
              <a:rPr lang="en-US" dirty="0">
                <a:latin typeface="Calibri" panose="020F0502020204030204" pitchFamily="34" charset="0"/>
                <a:ea typeface="Amazon Ember Light" panose="020B0403020204020204" pitchFamily="34" charset="0"/>
                <a:cs typeface="Amazon Ember Light" panose="020B0403020204020204" pitchFamily="34" charset="0"/>
              </a:rPr>
              <a:t>You can send custom data from other sources to CloudWatch Logs and the metric repository.</a:t>
            </a:r>
          </a:p>
          <a:p>
            <a:pPr marL="0" marR="0" lvl="0" indent="0" defTabSz="914400" rtl="0" eaLnBrk="1" fontAlgn="auto" latinLnBrk="0" hangingPunct="1">
              <a:buClrTx/>
              <a:buSzTx/>
              <a:buFontTx/>
              <a:buNone/>
              <a:tabLst/>
              <a:defRPr/>
            </a:pPr>
            <a:endParaRPr lang="en-US" dirty="0">
              <a:latin typeface="Calibri" panose="020F0502020204030204" pitchFamily="34" charset="0"/>
              <a:ea typeface="Amazon Ember Light" panose="020B0403020204020204" pitchFamily="34" charset="0"/>
              <a:cs typeface="Amazon Ember Light" panose="020B0403020204020204" pitchFamily="34" charset="0"/>
            </a:endParaRPr>
          </a:p>
          <a:p>
            <a:pPr marL="0" marR="0" lvl="0" indent="0" defTabSz="914400" rtl="0" eaLnBrk="1" fontAlgn="auto" latinLnBrk="0" hangingPunct="1">
              <a:buClrTx/>
              <a:buSzTx/>
              <a:buFontTx/>
              <a:buNone/>
              <a:tabLst/>
              <a:defRPr/>
            </a:pPr>
            <a:r>
              <a:rPr lang="en-US" dirty="0">
                <a:latin typeface="Calibri" panose="020F0502020204030204" pitchFamily="34" charset="0"/>
                <a:ea typeface="Amazon Ember Light" panose="020B0403020204020204" pitchFamily="34" charset="0"/>
                <a:cs typeface="Amazon Ember Light" panose="020B0403020204020204" pitchFamily="34" charset="0"/>
              </a:rPr>
              <a:t>The metrics are stored in the metrics repository in a namespace container. </a:t>
            </a:r>
            <a:r>
              <a:rPr lang="en-US" b="0" i="0" dirty="0">
                <a:solidFill>
                  <a:srgbClr val="16191F"/>
                </a:solidFill>
                <a:effectLst/>
                <a:latin typeface="Calibri" panose="020F0502020204030204" pitchFamily="34" charset="0"/>
              </a:rPr>
              <a:t>Metrics in different namespaces are isolated from each other so that metrics from different applications are not mistakenly aggregated into the same statistics. The AWS namespaces typically use the following naming convention: </a:t>
            </a:r>
            <a:r>
              <a:rPr lang="en-US" dirty="0">
                <a:latin typeface="Calibri" panose="020F0502020204030204" pitchFamily="34" charset="0"/>
              </a:rPr>
              <a:t>AWS/service</a:t>
            </a:r>
            <a:r>
              <a:rPr lang="en-US" b="0" i="0" dirty="0">
                <a:solidFill>
                  <a:srgbClr val="16191F"/>
                </a:solidFill>
                <a:effectLst/>
                <a:latin typeface="Calibri" panose="020F0502020204030204" pitchFamily="34" charset="0"/>
              </a:rPr>
              <a:t>. For example, Amazon EC2 uses the </a:t>
            </a:r>
            <a:r>
              <a:rPr lang="en-US" dirty="0">
                <a:latin typeface="Calibri" panose="020F0502020204030204" pitchFamily="34" charset="0"/>
              </a:rPr>
              <a:t>AWS/EC2</a:t>
            </a:r>
            <a:r>
              <a:rPr lang="en-US" b="0" i="0" dirty="0">
                <a:solidFill>
                  <a:srgbClr val="16191F"/>
                </a:solidFill>
                <a:effectLst/>
                <a:latin typeface="Calibri" panose="020F0502020204030204" pitchFamily="34" charset="0"/>
              </a:rPr>
              <a:t> namespace.</a:t>
            </a:r>
          </a:p>
          <a:p>
            <a:pPr marL="0" marR="0" lvl="0" indent="0" defTabSz="914400" rtl="0" eaLnBrk="1" fontAlgn="auto" latinLnBrk="0" hangingPunct="1">
              <a:buClrTx/>
              <a:buSzTx/>
              <a:buFontTx/>
              <a:buNone/>
              <a:tabLst/>
              <a:defRPr/>
            </a:pPr>
            <a:endParaRPr lang="en-US" b="0" i="0" dirty="0">
              <a:solidFill>
                <a:srgbClr val="16191F"/>
              </a:solidFill>
              <a:effectLst/>
              <a:latin typeface="Calibri" panose="020F0502020204030204" pitchFamily="34" charset="0"/>
            </a:endParaRPr>
          </a:p>
          <a:p>
            <a:pPr marL="0" marR="0" lvl="0" indent="0" defTabSz="914400" rtl="0" eaLnBrk="1" fontAlgn="auto" latinLnBrk="0" hangingPunct="1">
              <a:buClrTx/>
              <a:buSzTx/>
              <a:buFont typeface="Arial" panose="020B0604020202020204" pitchFamily="34" charset="0"/>
              <a:buNone/>
              <a:tabLst/>
              <a:defRPr/>
            </a:pPr>
            <a:r>
              <a:rPr lang="en-US" b="0" i="0" dirty="0">
                <a:solidFill>
                  <a:srgbClr val="16191F"/>
                </a:solidFill>
                <a:effectLst/>
                <a:latin typeface="Calibri" panose="020F0502020204030204" pitchFamily="34" charset="0"/>
              </a:rPr>
              <a:t>A metric is a time-ordered set of data points with a unit of measurement such as bytes, seconds, count, and percentage. You can think of a metric as a variable to monitor, and the data points as representing the values of that variable over time. For example, the percent CPU usage of a particular EC2 instance is one metric that Amazon EC2 provides. You would be able to see the value of CPU usage over time for each data point timestamp. A metric can be either standard resolution or high resolution. Standard resolution means data points have 1-minute granularity. High resolution means that data points have 1-second granularity.</a:t>
            </a:r>
          </a:p>
          <a:p>
            <a:pPr marL="0" marR="0" lvl="0" indent="0" defTabSz="914400" rtl="0" eaLnBrk="1" fontAlgn="auto" latinLnBrk="0" hangingPunct="1">
              <a:buClrTx/>
              <a:buSzTx/>
              <a:buFontTx/>
              <a:buNone/>
              <a:tabLst/>
              <a:defRPr/>
            </a:pPr>
            <a:endParaRPr lang="en-US" b="0" i="0" dirty="0">
              <a:solidFill>
                <a:srgbClr val="16191F"/>
              </a:solidFill>
              <a:effectLst/>
              <a:latin typeface="Calibri" panose="020F0502020204030204" pitchFamily="34" charset="0"/>
            </a:endParaRPr>
          </a:p>
          <a:p>
            <a:r>
              <a:rPr lang="en-US" dirty="0">
                <a:latin typeface="Calibri" panose="020F0502020204030204" pitchFamily="34" charset="0"/>
              </a:rPr>
              <a:t>You can optionally configure a metric dimension. </a:t>
            </a:r>
            <a:r>
              <a:rPr lang="en-US" b="0" i="0" dirty="0">
                <a:solidFill>
                  <a:srgbClr val="16191F"/>
                </a:solidFill>
                <a:effectLst/>
                <a:latin typeface="Calibri" panose="020F0502020204030204" pitchFamily="34" charset="0"/>
              </a:rPr>
              <a:t>A dimension is a name and value pair specifying a metric characteristic. For example, many Amazon EC2 metrics publish </a:t>
            </a:r>
            <a:r>
              <a:rPr lang="en-US" dirty="0" err="1">
                <a:latin typeface="Calibri" panose="020F0502020204030204" pitchFamily="34" charset="0"/>
              </a:rPr>
              <a:t>InstanceId</a:t>
            </a:r>
            <a:r>
              <a:rPr lang="en-US" b="0" i="0" dirty="0">
                <a:solidFill>
                  <a:srgbClr val="16191F"/>
                </a:solidFill>
                <a:effectLst/>
                <a:latin typeface="Calibri" panose="020F0502020204030204" pitchFamily="34" charset="0"/>
              </a:rPr>
              <a:t> as a dimension name, and the actual instance ID as the value for that dimension. This ID dimension can be used to filter the metrics when searching for a specific instance metrics.</a:t>
            </a:r>
            <a:endParaRPr lang="en-US" dirty="0">
              <a:latin typeface="Calibri" panose="020F0502020204030204" pitchFamily="34" charset="0"/>
            </a:endParaRPr>
          </a:p>
          <a:p>
            <a:endParaRPr lang="en-AU" dirty="0"/>
          </a:p>
        </p:txBody>
      </p:sp>
      <p:sp>
        <p:nvSpPr>
          <p:cNvPr id="4" name="Slide Number Placeholder 3"/>
          <p:cNvSpPr>
            <a:spLocks noGrp="1"/>
          </p:cNvSpPr>
          <p:nvPr>
            <p:ph type="sldNum" sz="quarter" idx="5"/>
          </p:nvPr>
        </p:nvSpPr>
        <p:spPr/>
        <p:txBody>
          <a:bodyPr/>
          <a:lstStyle/>
          <a:p>
            <a:fld id="{708E1EC3-8B71-4E17-AA20-1D5C47EF5175}" type="slidenum">
              <a:rPr lang="en-AU" smtClean="0"/>
              <a:t>6</a:t>
            </a:fld>
            <a:endParaRPr lang="en-AU"/>
          </a:p>
        </p:txBody>
      </p:sp>
    </p:spTree>
    <p:extLst>
      <p:ext uri="{BB962C8B-B14F-4D97-AF65-F5344CB8AC3E}">
        <p14:creationId xmlns:p14="http://schemas.microsoft.com/office/powerpoint/2010/main" val="10446921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6191F"/>
                </a:solidFill>
                <a:effectLst/>
                <a:latin typeface="Calibri" panose="020F0502020204030204" pitchFamily="34" charset="0"/>
              </a:rPr>
              <a:t>You can use a CloudWatch alarm to automatically initiate actions on your behalf. An alarm watches a single metric over a specified time period and performs one or more specified actions based on the value of the metric relative to a threshold over time. The action is a notification sent to an </a:t>
            </a:r>
            <a:r>
              <a:rPr lang="en-US" b="0" i="0" kern="1200" dirty="0">
                <a:solidFill>
                  <a:schemeClr val="tx1"/>
                </a:solidFill>
                <a:effectLst/>
                <a:latin typeface="Calibri" panose="020F0502020204030204" pitchFamily="34" charset="0"/>
                <a:ea typeface="+mn-ea"/>
                <a:cs typeface="+mn-cs"/>
              </a:rPr>
              <a:t>Amazon Simple Notification Service (Amazon SNS)</a:t>
            </a:r>
            <a:r>
              <a:rPr lang="en-US" b="0" i="0" dirty="0">
                <a:solidFill>
                  <a:srgbClr val="16191F"/>
                </a:solidFill>
                <a:effectLst/>
                <a:latin typeface="Calibri" panose="020F0502020204030204" pitchFamily="34" charset="0"/>
              </a:rPr>
              <a:t> topic or an Auto Scaling policy. You can also add alarms to dashboards.</a:t>
            </a:r>
          </a:p>
          <a:p>
            <a:endParaRPr lang="en-US" b="0" i="0" dirty="0">
              <a:solidFill>
                <a:srgbClr val="16191F"/>
              </a:solidFill>
              <a:effectLst/>
              <a:latin typeface="Calibri" panose="020F0502020204030204" pitchFamily="34" charset="0"/>
            </a:endParaRPr>
          </a:p>
          <a:p>
            <a:pPr marL="0" marR="0" lvl="0" indent="0" defTabSz="914400" rtl="0" eaLnBrk="1" fontAlgn="auto" latinLnBrk="0" hangingPunct="1">
              <a:buClrTx/>
              <a:buSzTx/>
              <a:buFontTx/>
              <a:buNone/>
              <a:tabLst/>
              <a:defRPr/>
            </a:pPr>
            <a:r>
              <a:rPr lang="en-US" b="0" i="0" dirty="0">
                <a:solidFill>
                  <a:srgbClr val="16191F"/>
                </a:solidFill>
                <a:effectLst/>
                <a:latin typeface="Calibri" panose="020F0502020204030204" pitchFamily="34" charset="0"/>
              </a:rPr>
              <a:t>Alarms invoke actions for sustained state changes only. CloudWatch alarms do not invoke actions because they are in a particular state. The state must have changed and been maintained for a specified number of periods. </a:t>
            </a:r>
            <a:r>
              <a:rPr lang="en-US" kern="1200" dirty="0">
                <a:solidFill>
                  <a:schemeClr val="tx1"/>
                </a:solidFill>
                <a:effectLst/>
                <a:latin typeface="Calibri" panose="020F0502020204030204" pitchFamily="34" charset="0"/>
                <a:ea typeface="+mn-ea"/>
                <a:cs typeface="+mn-cs"/>
              </a:rPr>
              <a:t>For example, an alarm is activated when the </a:t>
            </a:r>
            <a:r>
              <a:rPr lang="en-US" dirty="0">
                <a:latin typeface="Calibri" panose="020F0502020204030204" pitchFamily="34" charset="0"/>
                <a:ea typeface="Amazon Ember Light" panose="020B0403020204020204" pitchFamily="34" charset="0"/>
                <a:cs typeface="Amazon Ember Light" panose="020B0403020204020204" pitchFamily="34" charset="0"/>
              </a:rPr>
              <a:t>CPUUtilization metric</a:t>
            </a:r>
            <a:r>
              <a:rPr lang="en-US" kern="1200" dirty="0">
                <a:solidFill>
                  <a:schemeClr val="tx1"/>
                </a:solidFill>
                <a:effectLst/>
                <a:latin typeface="Calibri" panose="020F0502020204030204" pitchFamily="34" charset="0"/>
                <a:ea typeface="+mn-ea"/>
                <a:cs typeface="+mn-cs"/>
              </a:rPr>
              <a:t> is greater than 70 percent for 5 minutes. The alarm invokes an action, such as adding an instance to the Auto Scaling policy or sending a notification to the development team.</a:t>
            </a:r>
          </a:p>
          <a:p>
            <a:pPr marL="0" marR="0" lvl="0" indent="0" defTabSz="914400" rtl="0" eaLnBrk="1" fontAlgn="auto" latinLnBrk="0" hangingPunct="1">
              <a:buClrTx/>
              <a:buSzTx/>
              <a:buFontTx/>
              <a:buNone/>
              <a:tabLst/>
              <a:defRPr/>
            </a:pPr>
            <a:endParaRPr lang="en-US" kern="1200" dirty="0">
              <a:solidFill>
                <a:schemeClr val="tx1"/>
              </a:solidFill>
              <a:effectLst/>
              <a:latin typeface="Calibri" panose="020F0502020204030204" pitchFamily="34" charset="0"/>
              <a:ea typeface="+mn-ea"/>
              <a:cs typeface="+mn-cs"/>
            </a:endParaRPr>
          </a:p>
          <a:p>
            <a:r>
              <a:rPr lang="en-US" b="0" i="0" dirty="0">
                <a:solidFill>
                  <a:srgbClr val="16191F"/>
                </a:solidFill>
                <a:effectLst/>
                <a:latin typeface="Calibri" panose="020F0502020204030204" pitchFamily="34" charset="0"/>
              </a:rPr>
              <a:t>When you create an alarm to monitor a specific metric, you are asking CloudWatch to compare that metric to the threshold value that you specified. You have extensive control over how CloudWatch makes that comparison. Not only can you specify the period over which the comparison is made, but you can also specify how many evaluation periods are used to arrive at a conclusion. For example, if you specify three evaluation periods, CloudWatch compares a window of three data points. CloudWatch notifies you only if the oldest data point is breaching and the others are breaching or missing.</a:t>
            </a:r>
            <a:endParaRPr lang="en-US" dirty="0">
              <a:latin typeface="Calibri" panose="020F0502020204030204" pitchFamily="34" charset="0"/>
            </a:endParaRPr>
          </a:p>
          <a:p>
            <a:endParaRPr lang="en-US" b="0" i="0" dirty="0">
              <a:solidFill>
                <a:srgbClr val="16191F"/>
              </a:solidFill>
              <a:effectLst/>
              <a:latin typeface="Calibri" panose="020F0502020204030204" pitchFamily="34" charset="0"/>
            </a:endParaRPr>
          </a:p>
          <a:p>
            <a:r>
              <a:rPr lang="en-US" b="0" i="0" dirty="0">
                <a:solidFill>
                  <a:srgbClr val="16191F"/>
                </a:solidFill>
                <a:effectLst/>
                <a:latin typeface="Calibri" panose="020F0502020204030204" pitchFamily="34" charset="0"/>
              </a:rPr>
              <a:t>If you set an alarm on a high-resolution metric, you can specify a high-resolution alarm with a period of 10 seconds or 30 seconds, or you can set a regular alarm with a period of any multiple of 60 seconds. There is a higher charge for high-resolution alarms. You can set regular alarms for standard resolution metrics.</a:t>
            </a:r>
            <a:endParaRPr lang="en-US" dirty="0">
              <a:latin typeface="Calibri" panose="020F0502020204030204" pitchFamily="34" charset="0"/>
            </a:endParaRPr>
          </a:p>
          <a:p>
            <a:endParaRPr lang="en-AU" dirty="0"/>
          </a:p>
        </p:txBody>
      </p:sp>
      <p:sp>
        <p:nvSpPr>
          <p:cNvPr id="4" name="Slide Number Placeholder 3"/>
          <p:cNvSpPr>
            <a:spLocks noGrp="1"/>
          </p:cNvSpPr>
          <p:nvPr>
            <p:ph type="sldNum" sz="quarter" idx="5"/>
          </p:nvPr>
        </p:nvSpPr>
        <p:spPr/>
        <p:txBody>
          <a:bodyPr/>
          <a:lstStyle/>
          <a:p>
            <a:fld id="{708E1EC3-8B71-4E17-AA20-1D5C47EF5175}" type="slidenum">
              <a:rPr lang="en-AU" smtClean="0"/>
              <a:t>7</a:t>
            </a:fld>
            <a:endParaRPr lang="en-AU"/>
          </a:p>
        </p:txBody>
      </p:sp>
    </p:spTree>
    <p:extLst>
      <p:ext uri="{BB962C8B-B14F-4D97-AF65-F5344CB8AC3E}">
        <p14:creationId xmlns:p14="http://schemas.microsoft.com/office/powerpoint/2010/main" val="27836044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dirty="0">
                <a:solidFill>
                  <a:srgbClr val="16191F"/>
                </a:solidFill>
                <a:effectLst/>
                <a:latin typeface="Calibri" panose="020F0502020204030204" pitchFamily="34" charset="0"/>
                <a:ea typeface="+mn-ea"/>
                <a:cs typeface="+mn-cs"/>
              </a:rPr>
              <a:t>While having metrics and alarms are good, you sometimes would like to compare metrics or view alarms that could be located in different Regions. You can use CloudWatch dashboards to create customized dashboards or view automatic dashboards. These dashboards are customizable home pages in the CloudWatch console that you can use to monitor your resources in a single view, even those resources that are spread across different Regions. You can use CloudWatch dashboards to create customized views of the metrics and alarms for your AWS resources.</a:t>
            </a:r>
          </a:p>
          <a:p>
            <a:endParaRPr lang="en-US" b="0" i="0" dirty="0">
              <a:solidFill>
                <a:srgbClr val="D5DBDB"/>
              </a:solidFill>
              <a:effectLst/>
              <a:latin typeface="Calibri" panose="020F0502020204030204" pitchFamily="34" charset="0"/>
            </a:endParaRPr>
          </a:p>
          <a:p>
            <a:r>
              <a:rPr lang="en-US" b="0" i="0" dirty="0">
                <a:solidFill>
                  <a:srgbClr val="16191F"/>
                </a:solidFill>
                <a:effectLst/>
                <a:latin typeface="Calibri" panose="020F0502020204030204" pitchFamily="34" charset="0"/>
              </a:rPr>
              <a:t>A metric that breaks a threshold every second should not be acted on every second. For that reason, metrics should be aggregated over time so that one action can solve the problem. CloudWatch provides statistics based on the metric data points. Statistics are metric data aggregations over specified periods of time. CloudWatch provides statistics based on the metric data points provided by your custom data or provided by other AWS services to CloudWatch. You can specify a specific time period, and CloudWatch will calculate the aggregations by using the namespace, metric name, dimensions, and the data point unit of measure.</a:t>
            </a:r>
          </a:p>
          <a:p>
            <a:endParaRPr lang="en-US" b="0" i="0" dirty="0">
              <a:solidFill>
                <a:srgbClr val="16191F"/>
              </a:solidFill>
              <a:effectLst/>
              <a:latin typeface="Calibri" panose="020F0502020204030204" pitchFamily="34" charset="0"/>
            </a:endParaRPr>
          </a:p>
          <a:p>
            <a:r>
              <a:rPr lang="en-US" b="0" i="0" dirty="0">
                <a:solidFill>
                  <a:srgbClr val="16191F"/>
                </a:solidFill>
                <a:effectLst/>
                <a:latin typeface="Calibri" panose="020F0502020204030204" pitchFamily="34" charset="0"/>
              </a:rPr>
              <a:t>With dashboards, you can create a single view for selected metrics and alarms to help you assess the health of your resources and applications across one or more Regions. You can select the color used for each metric on each graph so that you can track the same metric across multiple graphs. You can create an operational playbook that provides guidance for team members during operational events about how to respond to specific incidents. You can create a common view of critical resource and application measurements that team members can share for faster communication flow during operational events. </a:t>
            </a:r>
          </a:p>
          <a:p>
            <a:endParaRPr lang="en-US" b="0" i="0" dirty="0">
              <a:solidFill>
                <a:srgbClr val="16191F"/>
              </a:solidFill>
              <a:effectLst/>
              <a:latin typeface="Calibri" panose="020F0502020204030204" pitchFamily="34" charset="0"/>
            </a:endParaRPr>
          </a:p>
          <a:p>
            <a:r>
              <a:rPr lang="en-US" b="0" i="0" dirty="0">
                <a:solidFill>
                  <a:srgbClr val="16191F"/>
                </a:solidFill>
                <a:effectLst/>
                <a:latin typeface="Calibri" panose="020F0502020204030204" pitchFamily="34" charset="0"/>
              </a:rPr>
              <a:t>If you do not want to use the AWS Management Console, you can query CloudWatch statistics to import the data into a custom dashboard.</a:t>
            </a:r>
          </a:p>
          <a:p>
            <a:endParaRPr lang="en-AU" dirty="0"/>
          </a:p>
        </p:txBody>
      </p:sp>
      <p:sp>
        <p:nvSpPr>
          <p:cNvPr id="4" name="Slide Number Placeholder 3"/>
          <p:cNvSpPr>
            <a:spLocks noGrp="1"/>
          </p:cNvSpPr>
          <p:nvPr>
            <p:ph type="sldNum" sz="quarter" idx="5"/>
          </p:nvPr>
        </p:nvSpPr>
        <p:spPr/>
        <p:txBody>
          <a:bodyPr/>
          <a:lstStyle/>
          <a:p>
            <a:fld id="{708E1EC3-8B71-4E17-AA20-1D5C47EF5175}" type="slidenum">
              <a:rPr lang="en-AU" smtClean="0"/>
              <a:t>8</a:t>
            </a:fld>
            <a:endParaRPr lang="en-AU"/>
          </a:p>
        </p:txBody>
      </p:sp>
    </p:spTree>
    <p:extLst>
      <p:ext uri="{BB962C8B-B14F-4D97-AF65-F5344CB8AC3E}">
        <p14:creationId xmlns:p14="http://schemas.microsoft.com/office/powerpoint/2010/main" val="5263282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708E1EC3-8B71-4E17-AA20-1D5C47EF5175}" type="slidenum">
              <a:rPr lang="en-AU" smtClean="0"/>
              <a:t>26</a:t>
            </a:fld>
            <a:endParaRPr lang="en-AU"/>
          </a:p>
        </p:txBody>
      </p:sp>
    </p:spTree>
    <p:extLst>
      <p:ext uri="{BB962C8B-B14F-4D97-AF65-F5344CB8AC3E}">
        <p14:creationId xmlns:p14="http://schemas.microsoft.com/office/powerpoint/2010/main" val="38349996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slides/_rels/slide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A2929"/>
        </a:solidFill>
        <a:effectLst/>
      </p:bgPr>
    </p:bg>
    <p:spTree>
      <p:nvGrpSpPr>
        <p:cNvPr id="1" name=""/>
        <p:cNvGrpSpPr/>
        <p:nvPr/>
      </p:nvGrpSpPr>
      <p:grpSpPr>
        <a:xfrm>
          <a:off x="0" y="0"/>
          <a:ext cx="0" cy="0"/>
          <a:chOff x="0" y="0"/>
          <a:chExt cx="0" cy="0"/>
        </a:xfrm>
      </p:grpSpPr>
      <p:sp>
        <p:nvSpPr>
          <p:cNvPr id="2" name="Rectangle 1"/>
          <p:cNvSpPr/>
          <p:nvPr/>
        </p:nvSpPr>
        <p:spPr>
          <a:xfrm>
            <a:off x="0" y="0"/>
            <a:ext cx="411480" cy="68580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515600" cy="2377440"/>
          </a:xfrm>
          <a:prstGeom prst="rect">
            <a:avLst/>
          </a:prstGeom>
          <a:noFill/>
        </p:spPr>
        <p:txBody>
          <a:bodyPr wrap="square" lIns="0" tIns="0" rIns="0" bIns="0" anchor="t">
            <a:spAutoFit/>
          </a:bodyPr>
          <a:lstStyle/>
          <a:p>
            <a:r>
              <a:rPr sz="2000" b="1" i="0">
                <a:solidFill>
                  <a:srgbClr val="FBB900"/>
                </a:solidFill>
                <a:latin typeface="Roboto"/>
              </a:rPr>
              <a:t>TOPIC 09</a:t>
            </a:r>
          </a:p>
          <a:p>
            <a:pPr>
              <a:spcBef>
                <a:spcPts val="800"/>
              </a:spcBef>
            </a:pPr>
            <a:r>
              <a:rPr sz="4600" b="1" i="0">
                <a:solidFill>
                  <a:srgbClr val="FFFFFF"/>
                </a:solidFill>
                <a:latin typeface="Roboto"/>
              </a:rPr>
              <a:t>Operability &amp; justification</a:t>
            </a:r>
          </a:p>
          <a:p>
            <a:pPr>
              <a:spcBef>
                <a:spcPts val="1200"/>
              </a:spcBef>
            </a:pPr>
            <a:r>
              <a:rPr sz="2200" b="0" i="1">
                <a:solidFill>
                  <a:srgbClr val="D1D1D1"/>
                </a:solidFill>
                <a:latin typeface="Roboto Light"/>
              </a:rPr>
              <a:t>Monitor the build, validate it works, and justify every decision against the workload</a:t>
            </a:r>
          </a:p>
        </p:txBody>
      </p:sp>
      <p:sp>
        <p:nvSpPr>
          <p:cNvPr id="4" name="TextBox 3"/>
          <p:cNvSpPr txBox="1"/>
          <p:nvPr/>
        </p:nvSpPr>
        <p:spPr>
          <a:xfrm>
            <a:off x="914400" y="5943600"/>
            <a:ext cx="7315200" cy="457200"/>
          </a:xfrm>
          <a:prstGeom prst="rect">
            <a:avLst/>
          </a:prstGeom>
          <a:noFill/>
        </p:spPr>
        <p:txBody>
          <a:bodyPr wrap="square" lIns="0" tIns="0" rIns="0" bIns="0" anchor="t">
            <a:spAutoFit/>
          </a:bodyPr>
          <a:lstStyle/>
          <a:p>
            <a:r>
              <a:rPr sz="1600" b="1" i="0">
                <a:solidFill>
                  <a:srgbClr val="FFFFFF"/>
                </a:solidFill>
                <a:latin typeface="Roboto"/>
              </a:rPr>
              <a:t>Kangan </a:t>
            </a:r>
            <a:r>
              <a:rPr sz="1600" b="1" i="0">
                <a:solidFill>
                  <a:srgbClr val="EDAB0C"/>
                </a:solidFill>
                <a:latin typeface="Roboto"/>
              </a:rPr>
              <a:t>Institute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881360" cy="960120"/>
          </a:xfrm>
          <a:prstGeom prst="rect">
            <a:avLst/>
          </a:prstGeom>
          <a:noFill/>
        </p:spPr>
        <p:txBody>
          <a:bodyPr wrap="square" lIns="0" tIns="0" rIns="0" bIns="0" anchor="t">
            <a:spAutoFit/>
          </a:bodyPr>
          <a:lstStyle/>
          <a:p>
            <a:r>
              <a:rPr sz="2800" b="1" i="0">
                <a:solidFill>
                  <a:srgbClr val="2A2929"/>
                </a:solidFill>
                <a:latin typeface="Roboto"/>
              </a:rPr>
              <a:t>From built to defensible</a:t>
            </a:r>
          </a:p>
          <a:p>
            <a:pPr>
              <a:spcBef>
                <a:spcPts val="200"/>
              </a:spcBef>
            </a:pPr>
            <a:r>
              <a:rPr sz="1800" b="0" i="1">
                <a:solidFill>
                  <a:srgbClr val="D68E10"/>
                </a:solidFill>
                <a:latin typeface="Roboto Light"/>
              </a:rPr>
              <a:t>the build needs to stand up</a:t>
            </a:r>
          </a:p>
        </p:txBody>
      </p:sp>
      <p:sp>
        <p:nvSpPr>
          <p:cNvPr id="3" name="Rectangle 2"/>
          <p:cNvSpPr/>
          <p:nvPr/>
        </p:nvSpPr>
        <p:spPr>
          <a:xfrm>
            <a:off x="658368" y="1371600"/>
            <a:ext cx="1463040" cy="508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691640"/>
            <a:ext cx="10881360" cy="4480560"/>
          </a:xfrm>
          <a:prstGeom prst="rect">
            <a:avLst/>
          </a:prstGeom>
          <a:noFill/>
        </p:spPr>
        <p:txBody>
          <a:bodyPr wrap="square" lIns="0" tIns="0" rIns="0" bIns="0" anchor="t">
            <a:spAutoFit/>
          </a:bodyPr>
          <a:lstStyle/>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Topics 6–8 built the workload — foundation, network, compute, data.</a:t>
            </a:r>
          </a:p>
          <a:p>
            <a:pPr marL="0" indent="0">
              <a:lnSpc>
                <a:spcPct val="105000"/>
              </a:lnSpc>
              <a:spcBef>
                <a:spcPts val="0"/>
              </a:spcBef>
              <a:spcAft>
                <a:spcPts val="1000"/>
              </a:spcAft>
            </a:pPr>
            <a:r>
              <a:rPr sz="1800" b="1" i="0">
                <a:solidFill>
                  <a:srgbClr val="92268F"/>
                </a:solidFill>
                <a:latin typeface="Roboto"/>
              </a:rPr>
              <a:t>■  Now make it operable and defensible: monitor it, validate it, and justify the open decisions.</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These three things are exactly what the Deployment Report is marked on.</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Topic 10 then turns the evidence and justifications into the report itself.</a:t>
            </a:r>
          </a:p>
        </p:txBody>
      </p:sp>
      <p:sp>
        <p:nvSpPr>
          <p:cNvPr id="5" name="Rectangle 4"/>
          <p:cNvSpPr/>
          <p:nvPr/>
        </p:nvSpPr>
        <p:spPr>
          <a:xfrm>
            <a:off x="0" y="6565392"/>
            <a:ext cx="12191695" cy="381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3931920" cy="68580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103120"/>
            <a:ext cx="3291840" cy="2194560"/>
          </a:xfrm>
          <a:prstGeom prst="rect">
            <a:avLst/>
          </a:prstGeom>
          <a:noFill/>
        </p:spPr>
        <p:txBody>
          <a:bodyPr wrap="square" lIns="0" tIns="0" rIns="0" bIns="0" anchor="t">
            <a:spAutoFit/>
          </a:bodyPr>
          <a:lstStyle/>
          <a:p>
            <a:r>
              <a:rPr sz="13000" b="1" i="0">
                <a:solidFill>
                  <a:srgbClr val="FFFFFF"/>
                </a:solidFill>
                <a:latin typeface="Roboto"/>
              </a:rPr>
              <a:t>01</a:t>
            </a:r>
          </a:p>
        </p:txBody>
      </p:sp>
      <p:sp>
        <p:nvSpPr>
          <p:cNvPr id="4" name="TextBox 3"/>
          <p:cNvSpPr txBox="1"/>
          <p:nvPr/>
        </p:nvSpPr>
        <p:spPr>
          <a:xfrm>
            <a:off x="4480560" y="2468880"/>
            <a:ext cx="7132320" cy="2194560"/>
          </a:xfrm>
          <a:prstGeom prst="rect">
            <a:avLst/>
          </a:prstGeom>
          <a:noFill/>
        </p:spPr>
        <p:txBody>
          <a:bodyPr wrap="square" lIns="0" tIns="0" rIns="0" bIns="0" anchor="t">
            <a:spAutoFit/>
          </a:bodyPr>
          <a:lstStyle/>
          <a:p>
            <a:r>
              <a:rPr sz="1600" b="1" i="0">
                <a:solidFill>
                  <a:srgbClr val="92268F"/>
                </a:solidFill>
                <a:latin typeface="Roboto"/>
              </a:rPr>
              <a:t>SECTION</a:t>
            </a:r>
          </a:p>
          <a:p>
            <a:pPr>
              <a:spcBef>
                <a:spcPts val="600"/>
              </a:spcBef>
            </a:pPr>
            <a:r>
              <a:rPr sz="3800" b="1" i="0">
                <a:solidFill>
                  <a:srgbClr val="2A2929"/>
                </a:solidFill>
                <a:latin typeface="Roboto"/>
              </a:rPr>
              <a:t>Monitoring &amp; logging</a:t>
            </a:r>
          </a:p>
          <a:p>
            <a:pPr>
              <a:spcBef>
                <a:spcPts val="1000"/>
              </a:spcBef>
            </a:pPr>
            <a:r>
              <a:rPr sz="2000" b="0" i="1">
                <a:solidFill>
                  <a:srgbClr val="484848"/>
                </a:solidFill>
                <a:latin typeface="Roboto Light"/>
              </a:rPr>
              <a:t>CloudWatch baseline</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lIns="0" tIns="0" rIns="0" bIns="0" anchor="t">
            <a:spAutoFit/>
          </a:bodyPr>
          <a:lstStyle/>
          <a:p>
            <a:pPr algn="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881360" cy="960120"/>
          </a:xfrm>
          <a:prstGeom prst="rect">
            <a:avLst/>
          </a:prstGeom>
          <a:noFill/>
        </p:spPr>
        <p:txBody>
          <a:bodyPr wrap="square" lIns="0" tIns="0" rIns="0" bIns="0" anchor="t">
            <a:spAutoFit/>
          </a:bodyPr>
          <a:lstStyle/>
          <a:p>
            <a:r>
              <a:rPr sz="2800" b="1" i="0">
                <a:solidFill>
                  <a:srgbClr val="2A2929"/>
                </a:solidFill>
                <a:latin typeface="Roboto"/>
              </a:rPr>
              <a:t>What monitoring is</a:t>
            </a:r>
          </a:p>
          <a:p>
            <a:pPr>
              <a:spcBef>
                <a:spcPts val="200"/>
              </a:spcBef>
            </a:pPr>
            <a:r>
              <a:rPr sz="1800" b="0" i="1">
                <a:solidFill>
                  <a:srgbClr val="D68E10"/>
                </a:solidFill>
                <a:latin typeface="Roboto Light"/>
              </a:rPr>
              <a:t>the fundamentals</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691640"/>
            <a:ext cx="10881360" cy="4480560"/>
          </a:xfrm>
          <a:prstGeom prst="rect">
            <a:avLst/>
          </a:prstGeom>
          <a:noFill/>
        </p:spPr>
        <p:txBody>
          <a:bodyPr wrap="square" lIns="0" tIns="0" rIns="0" bIns="0" anchor="t">
            <a:spAutoFit/>
          </a:bodyPr>
          <a:lstStyle/>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A metric is a measurement taken over time — CPU %, free storage, database connections.</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An alarm is a threshold on a metric that fires an action or a notification when crossed.</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A log is a record of events — what happened, and when.</a:t>
            </a:r>
          </a:p>
          <a:p>
            <a:pPr marL="0" indent="0">
              <a:lnSpc>
                <a:spcPct val="105000"/>
              </a:lnSpc>
              <a:spcBef>
                <a:spcPts val="0"/>
              </a:spcBef>
              <a:spcAft>
                <a:spcPts val="1000"/>
              </a:spcAft>
            </a:pPr>
            <a:r>
              <a:rPr sz="1800" b="1" i="0">
                <a:solidFill>
                  <a:srgbClr val="92268F"/>
                </a:solidFill>
                <a:latin typeface="Roboto"/>
              </a:rPr>
              <a:t>■  You monitor so you find out before your users do.</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881360" cy="960120"/>
          </a:xfrm>
          <a:prstGeom prst="rect">
            <a:avLst/>
          </a:prstGeom>
          <a:noFill/>
        </p:spPr>
        <p:txBody>
          <a:bodyPr wrap="square" lIns="0" tIns="0" rIns="0" bIns="0" anchor="t">
            <a:spAutoFit/>
          </a:bodyPr>
          <a:lstStyle/>
          <a:p>
            <a:r>
              <a:rPr sz="2800" b="1" i="0">
                <a:solidFill>
                  <a:srgbClr val="2A2929"/>
                </a:solidFill>
                <a:latin typeface="Roboto"/>
              </a:rPr>
              <a:t>Amazon CloudWatch</a:t>
            </a:r>
          </a:p>
          <a:p>
            <a:pPr>
              <a:spcBef>
                <a:spcPts val="200"/>
              </a:spcBef>
            </a:pPr>
            <a:r>
              <a:rPr sz="1800" b="0" i="1">
                <a:solidFill>
                  <a:srgbClr val="D68E10"/>
                </a:solidFill>
                <a:latin typeface="Roboto Light"/>
              </a:rPr>
              <a:t>AWS · ACA M10 S9–S12</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737360"/>
            <a:ext cx="5486400" cy="4297680"/>
          </a:xfrm>
          <a:prstGeom prst="rect">
            <a:avLst/>
          </a:prstGeom>
          <a:noFill/>
        </p:spPr>
        <p:txBody>
          <a:bodyPr wrap="square" lIns="0" tIns="0" rIns="0" bIns="0" anchor="t">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Collects metrics and logs from AWS services into one place.</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Alarms send notifications (e.g. to SNS) or trigger actions (e.g. Auto Scaling).</a:t>
            </a:r>
          </a:p>
          <a:p>
            <a:pPr marL="0" indent="0">
              <a:lnSpc>
                <a:spcPct val="105000"/>
              </a:lnSpc>
              <a:spcBef>
                <a:spcPts val="0"/>
              </a:spcBef>
              <a:spcAft>
                <a:spcPts val="1000"/>
              </a:spcAft>
            </a:pPr>
            <a:r>
              <a:rPr sz="1700" b="1" i="0">
                <a:solidFill>
                  <a:srgbClr val="92268F"/>
                </a:solidFill>
                <a:latin typeface="Roboto"/>
              </a:rPr>
              <a:t>■  Dashboards visualise metrics and alarms; CloudWatch Logs centralises log files.</a:t>
            </a:r>
          </a:p>
        </p:txBody>
      </p:sp>
      <p:sp>
        <p:nvSpPr>
          <p:cNvPr id="7" name="Rectangle 6"/>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9" name="TextBox 8"/>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3</a:t>
            </a:r>
          </a:p>
        </p:txBody>
      </p:sp>
      <p:pic>
        <p:nvPicPr>
          <p:cNvPr id="10" name="Graphic 17">
            <a:extLst>
              <a:ext uri="{FF2B5EF4-FFF2-40B4-BE49-F238E27FC236}">
                <a16:creationId xmlns:a16="http://schemas.microsoft.com/office/drawing/2014/main" id="{69A6A64C-4106-B1FB-3417-CA77C9FFD692}"/>
              </a:ext>
              <a:ext uri="{C183D7F6-B498-43B3-948B-1728B52AA6E4}">
                <adec:decorative xmlns:adec="http://schemas.microsoft.com/office/drawing/2017/decorative" val="1"/>
              </a:ext>
            </a:extLst>
          </p:cNvPr>
          <p:cNvPicPr>
            <a:picLocks noChangeAspect="1" noChangeArrowheads="1"/>
          </p:cNvPicPr>
          <p:nvPr/>
        </p:nvPicPr>
        <p:blipFill>
          <a:blip>
            <a:extLst>
              <a:ext uri="{96DAC541-7B7A-43D3-8B79-37D633B846F1}">
                <asvg:svgBlip xmlns:asvg="http://schemas.microsoft.com/office/drawing/2016/SVG/main" r:embed="rId3"/>
              </a:ext>
            </a:extLst>
          </a:blip>
          <a:srcRect/>
          <a:stretch/>
        </p:blipFill>
        <p:spPr bwMode="auto">
          <a:xfrm>
            <a:off x="8229600" y="1737360"/>
            <a:ext cx="2286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10">
            <a:extLst>
              <a:ext uri="{FF2B5EF4-FFF2-40B4-BE49-F238E27FC236}">
                <a16:creationId xmlns:a16="http://schemas.microsoft.com/office/drawing/2014/main" id="{BA343A0A-3D99-117A-437D-66C368B9FE5B}"/>
              </a:ext>
            </a:extLst>
          </p:cNvPr>
          <p:cNvSpPr txBox="1"/>
          <p:nvPr/>
        </p:nvSpPr>
        <p:spPr>
          <a:xfrm>
            <a:off x="8593137" y="4113847"/>
            <a:ext cx="1601721" cy="400110"/>
          </a:xfrm>
          <a:prstGeom prst="rect">
            <a:avLst/>
          </a:prstGeom>
          <a:noFill/>
        </p:spPr>
        <p:txBody>
          <a:bodyPr wrap="none" rtlCol="0">
            <a:spAutoFit/>
          </a:bodyPr>
          <a:lstStyle/>
          <a:p>
            <a:r>
              <a:rPr lang="en-US" sz="2000" dirty="0"/>
              <a:t>CloudWatch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75AA3-6FF8-B463-82C5-3F041F2500F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35A64C7-7E61-7526-C85E-F56D10F2D992}"/>
              </a:ext>
            </a:extLst>
          </p:cNvPr>
          <p:cNvSpPr txBox="1"/>
          <p:nvPr/>
        </p:nvSpPr>
        <p:spPr>
          <a:xfrm>
            <a:off x="640080" y="457200"/>
            <a:ext cx="10881360" cy="430887"/>
          </a:xfrm>
          <a:prstGeom prst="rect">
            <a:avLst/>
          </a:prstGeom>
          <a:noFill/>
        </p:spPr>
        <p:txBody>
          <a:bodyPr wrap="square" lIns="0" tIns="0" rIns="0" bIns="0" anchor="t">
            <a:spAutoFit/>
          </a:bodyPr>
          <a:lstStyle/>
          <a:p>
            <a:r>
              <a:rPr lang="en-US" sz="2800" b="1" i="0" dirty="0">
                <a:solidFill>
                  <a:srgbClr val="2A2929"/>
                </a:solidFill>
                <a:latin typeface="Roboto"/>
              </a:rPr>
              <a:t>CloudWatch metric and Log collection</a:t>
            </a:r>
            <a:endParaRPr sz="2800" b="1" i="0" dirty="0">
              <a:solidFill>
                <a:srgbClr val="2A2929"/>
              </a:solidFill>
              <a:latin typeface="Roboto"/>
            </a:endParaRPr>
          </a:p>
        </p:txBody>
      </p:sp>
      <p:sp>
        <p:nvSpPr>
          <p:cNvPr id="3" name="Rectangle 2">
            <a:extLst>
              <a:ext uri="{FF2B5EF4-FFF2-40B4-BE49-F238E27FC236}">
                <a16:creationId xmlns:a16="http://schemas.microsoft.com/office/drawing/2014/main" id="{7FB84901-745B-2AA9-7BC9-4DAA22D534FF}"/>
              </a:ext>
            </a:extLst>
          </p:cNvPr>
          <p:cNvSpPr/>
          <p:nvPr/>
        </p:nvSpPr>
        <p:spPr>
          <a:xfrm>
            <a:off x="658368" y="994767"/>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a:extLst>
              <a:ext uri="{FF2B5EF4-FFF2-40B4-BE49-F238E27FC236}">
                <a16:creationId xmlns:a16="http://schemas.microsoft.com/office/drawing/2014/main" id="{3066B4D7-56ED-CFCF-676C-CD5B1591D7D7}"/>
              </a:ext>
            </a:extLst>
          </p:cNvPr>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1BBCDA2A-FC97-DF45-86BF-E833C3A88D44}"/>
              </a:ext>
            </a:extLst>
          </p:cNvPr>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9" name="TextBox 8">
            <a:extLst>
              <a:ext uri="{FF2B5EF4-FFF2-40B4-BE49-F238E27FC236}">
                <a16:creationId xmlns:a16="http://schemas.microsoft.com/office/drawing/2014/main" id="{BA7311AE-C5BB-D356-AD47-9DD768D09302}"/>
              </a:ext>
            </a:extLst>
          </p:cNvPr>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3</a:t>
            </a:r>
          </a:p>
        </p:txBody>
      </p:sp>
      <p:grpSp>
        <p:nvGrpSpPr>
          <p:cNvPr id="10" name="Flatten CloudWatchMetric" descr="CloudWatch metric and log collection from AWS resources and custom data sources. See student notes for details.">
            <a:extLst>
              <a:ext uri="{FF2B5EF4-FFF2-40B4-BE49-F238E27FC236}">
                <a16:creationId xmlns:a16="http://schemas.microsoft.com/office/drawing/2014/main" id="{151F802C-F5BD-794F-B3C4-FCACC6463646}"/>
              </a:ext>
            </a:extLst>
          </p:cNvPr>
          <p:cNvGrpSpPr/>
          <p:nvPr/>
        </p:nvGrpSpPr>
        <p:grpSpPr>
          <a:xfrm>
            <a:off x="784546" y="1327819"/>
            <a:ext cx="9700111" cy="4544292"/>
            <a:chOff x="784546" y="1327819"/>
            <a:chExt cx="9700111" cy="4544292"/>
          </a:xfrm>
        </p:grpSpPr>
        <p:sp>
          <p:nvSpPr>
            <p:cNvPr id="11" name="Rectangle 10">
              <a:extLst>
                <a:ext uri="{FF2B5EF4-FFF2-40B4-BE49-F238E27FC236}">
                  <a16:creationId xmlns:a16="http://schemas.microsoft.com/office/drawing/2014/main" id="{1B02DCA2-CCDF-C853-EF4B-6A84A513CF93}"/>
                </a:ext>
              </a:extLst>
            </p:cNvPr>
            <p:cNvSpPr/>
            <p:nvPr/>
          </p:nvSpPr>
          <p:spPr>
            <a:xfrm>
              <a:off x="3264784" y="1327820"/>
              <a:ext cx="7219873" cy="4544291"/>
            </a:xfrm>
            <a:prstGeom prst="rect">
              <a:avLst/>
            </a:prstGeom>
            <a:noFill/>
            <a:ln w="15875">
              <a:solidFill>
                <a:srgbClr val="E7157B"/>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CloudWatch</a:t>
              </a:r>
              <a:endParaRPr kumimoji="0" lang="en-US"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pic>
          <p:nvPicPr>
            <p:cNvPr id="12" name="Graphic 17" descr="Amazon CloudWatch service icon.">
              <a:extLst>
                <a:ext uri="{FF2B5EF4-FFF2-40B4-BE49-F238E27FC236}">
                  <a16:creationId xmlns:a16="http://schemas.microsoft.com/office/drawing/2014/main" id="{2B8CBF68-7F3E-A1FF-D811-2978078BF23F}"/>
                </a:ext>
              </a:extLst>
            </p:cNvPr>
            <p:cNvPicPr>
              <a:picLocks noChangeAspect="1" noChangeArrowheads="1"/>
            </p:cNvPicPr>
            <p:nvPr/>
          </p:nvPicPr>
          <p:blipFill>
            <a:blip>
              <a:extLst>
                <a:ext uri="{96DAC541-7B7A-43D3-8B79-37D633B846F1}">
                  <asvg:svgBlip xmlns:asvg="http://schemas.microsoft.com/office/drawing/2016/SVG/main" r:embed="rId3"/>
                </a:ext>
              </a:extLst>
            </a:blip>
            <a:srcRect/>
            <a:stretch/>
          </p:blipFill>
          <p:spPr bwMode="auto">
            <a:xfrm>
              <a:off x="3264785" y="1327819"/>
              <a:ext cx="474095" cy="474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Graphic 12" descr="AWS Cloud group icon with AWS logo.">
              <a:extLst>
                <a:ext uri="{FF2B5EF4-FFF2-40B4-BE49-F238E27FC236}">
                  <a16:creationId xmlns:a16="http://schemas.microsoft.com/office/drawing/2014/main" id="{AD6ACA13-B1AA-C449-CC02-1F68E8D969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577832" y="2477427"/>
              <a:ext cx="731318" cy="731318"/>
            </a:xfrm>
            <a:prstGeom prst="rect">
              <a:avLst/>
            </a:prstGeom>
          </p:spPr>
        </p:pic>
        <p:sp>
          <p:nvSpPr>
            <p:cNvPr id="14" name="TextBox 16">
              <a:extLst>
                <a:ext uri="{FF2B5EF4-FFF2-40B4-BE49-F238E27FC236}">
                  <a16:creationId xmlns:a16="http://schemas.microsoft.com/office/drawing/2014/main" id="{EFF5CA3A-B08E-7F42-E388-C173262BF06C}"/>
                </a:ext>
              </a:extLst>
            </p:cNvPr>
            <p:cNvSpPr txBox="1">
              <a:spLocks noChangeArrowheads="1"/>
            </p:cNvSpPr>
            <p:nvPr/>
          </p:nvSpPr>
          <p:spPr bwMode="auto">
            <a:xfrm>
              <a:off x="970870" y="3246990"/>
              <a:ext cx="18452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AWS resources</a:t>
              </a:r>
            </a:p>
          </p:txBody>
        </p:sp>
        <p:cxnSp>
          <p:nvCxnSpPr>
            <p:cNvPr id="15" name="Straight Arrow Connector 34">
              <a:extLst>
                <a:ext uri="{FF2B5EF4-FFF2-40B4-BE49-F238E27FC236}">
                  <a16:creationId xmlns:a16="http://schemas.microsoft.com/office/drawing/2014/main" id="{77957317-02CC-0727-F965-35BF3681119E}"/>
                </a:ext>
              </a:extLst>
            </p:cNvPr>
            <p:cNvCxnSpPr>
              <a:cxnSpLocks/>
              <a:endCxn id="13" idx="0"/>
            </p:cNvCxnSpPr>
            <p:nvPr/>
          </p:nvCxnSpPr>
          <p:spPr>
            <a:xfrm rot="10800000" flipV="1">
              <a:off x="1943492" y="2250863"/>
              <a:ext cx="4387455" cy="226563"/>
            </a:xfrm>
            <a:prstGeom prst="bentConnector2">
              <a:avLst/>
            </a:prstGeom>
            <a:ln w="285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16" name="TextBox 16">
              <a:extLst>
                <a:ext uri="{FF2B5EF4-FFF2-40B4-BE49-F238E27FC236}">
                  <a16:creationId xmlns:a16="http://schemas.microsoft.com/office/drawing/2014/main" id="{0BFE6C67-6BC1-52DC-B6B3-B555B07A31BA}"/>
                </a:ext>
              </a:extLst>
            </p:cNvPr>
            <p:cNvSpPr txBox="1">
              <a:spLocks noChangeArrowheads="1"/>
            </p:cNvSpPr>
            <p:nvPr/>
          </p:nvSpPr>
          <p:spPr bwMode="auto">
            <a:xfrm>
              <a:off x="3581269" y="1944685"/>
              <a:ext cx="97958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Metrics</a:t>
              </a:r>
            </a:p>
          </p:txBody>
        </p:sp>
        <p:sp>
          <p:nvSpPr>
            <p:cNvPr id="17" name="Rectangle 16" descr="Generic group.">
              <a:extLst>
                <a:ext uri="{FF2B5EF4-FFF2-40B4-BE49-F238E27FC236}">
                  <a16:creationId xmlns:a16="http://schemas.microsoft.com/office/drawing/2014/main" id="{E22D0A4C-7772-D7AA-188C-ADBABC3CDC5D}"/>
                </a:ext>
              </a:extLst>
            </p:cNvPr>
            <p:cNvSpPr/>
            <p:nvPr/>
          </p:nvSpPr>
          <p:spPr>
            <a:xfrm>
              <a:off x="6359670" y="1808113"/>
              <a:ext cx="3709352" cy="3805379"/>
            </a:xfrm>
            <a:prstGeom prst="rect">
              <a:avLst/>
            </a:prstGeom>
            <a:noFill/>
            <a:ln w="15875">
              <a:solidFill>
                <a:srgbClr val="E7157B"/>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Metric repository </a:t>
              </a:r>
            </a:p>
          </p:txBody>
        </p:sp>
        <p:sp>
          <p:nvSpPr>
            <p:cNvPr id="18" name="Rectangle 17" descr="Generic group dashed.">
              <a:extLst>
                <a:ext uri="{FF2B5EF4-FFF2-40B4-BE49-F238E27FC236}">
                  <a16:creationId xmlns:a16="http://schemas.microsoft.com/office/drawing/2014/main" id="{843024BD-4AEA-643E-99DA-83B72DB9C183}"/>
                </a:ext>
              </a:extLst>
            </p:cNvPr>
            <p:cNvSpPr/>
            <p:nvPr/>
          </p:nvSpPr>
          <p:spPr>
            <a:xfrm>
              <a:off x="6524897" y="2269394"/>
              <a:ext cx="3350174" cy="3065260"/>
            </a:xfrm>
            <a:prstGeom prst="rect">
              <a:avLst/>
            </a:prstGeom>
            <a:noFill/>
            <a:ln w="15875">
              <a:solidFill>
                <a:srgbClr val="7D8998"/>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Namespace</a:t>
              </a:r>
              <a:endParaRPr kumimoji="0" lang="en-US"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sp>
          <p:nvSpPr>
            <p:cNvPr id="19" name="Rectangle 18" descr="Generic group.">
              <a:extLst>
                <a:ext uri="{FF2B5EF4-FFF2-40B4-BE49-F238E27FC236}">
                  <a16:creationId xmlns:a16="http://schemas.microsoft.com/office/drawing/2014/main" id="{D34687BB-A410-2E47-3864-D8EC93836F16}"/>
                </a:ext>
              </a:extLst>
            </p:cNvPr>
            <p:cNvSpPr/>
            <p:nvPr/>
          </p:nvSpPr>
          <p:spPr>
            <a:xfrm>
              <a:off x="6810344" y="2657892"/>
              <a:ext cx="2742437" cy="2447599"/>
            </a:xfrm>
            <a:prstGeom prst="rect">
              <a:avLst/>
            </a:prstGeom>
            <a:noFill/>
            <a:ln w="15875">
              <a:solidFill>
                <a:srgbClr val="E7157B"/>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Metric </a:t>
              </a:r>
            </a:p>
          </p:txBody>
        </p:sp>
        <p:sp>
          <p:nvSpPr>
            <p:cNvPr id="20" name="TextBox 16">
              <a:extLst>
                <a:ext uri="{FF2B5EF4-FFF2-40B4-BE49-F238E27FC236}">
                  <a16:creationId xmlns:a16="http://schemas.microsoft.com/office/drawing/2014/main" id="{26B664BA-49C0-7024-590F-EC0B096162BA}"/>
                </a:ext>
              </a:extLst>
            </p:cNvPr>
            <p:cNvSpPr txBox="1">
              <a:spLocks noChangeArrowheads="1"/>
            </p:cNvSpPr>
            <p:nvPr/>
          </p:nvSpPr>
          <p:spPr bwMode="auto">
            <a:xfrm>
              <a:off x="6886162" y="3416267"/>
              <a:ext cx="2590800"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285750" indent="-285750" eaLnBrk="1" hangingPunct="1">
                <a:buFont typeface="Arial" panose="020B0604020202020204" pitchFamily="34" charset="0"/>
                <a:buChar char="•"/>
              </a:pPr>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Set of data points with timestamp</a:t>
              </a:r>
            </a:p>
            <a:p>
              <a:pPr marL="285750" indent="-285750">
                <a:buFont typeface="Arial" panose="020B0604020202020204" pitchFamily="34" charset="0"/>
                <a:buChar char="•"/>
              </a:pPr>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Standard or high resolution</a:t>
              </a:r>
            </a:p>
            <a:p>
              <a:pPr marL="285750" indent="-285750" eaLnBrk="1" hangingPunct="1">
                <a:buFont typeface="Arial" panose="020B0604020202020204" pitchFamily="34" charset="0"/>
                <a:buChar char="•"/>
              </a:pPr>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Dimensions</a:t>
              </a:r>
            </a:p>
          </p:txBody>
        </p:sp>
        <p:cxnSp>
          <p:nvCxnSpPr>
            <p:cNvPr id="21" name="Straight Arrow Connector 34">
              <a:extLst>
                <a:ext uri="{FF2B5EF4-FFF2-40B4-BE49-F238E27FC236}">
                  <a16:creationId xmlns:a16="http://schemas.microsoft.com/office/drawing/2014/main" id="{BE0DF655-9CB3-CE61-75D5-09F997815BCB}"/>
                </a:ext>
              </a:extLst>
            </p:cNvPr>
            <p:cNvCxnSpPr>
              <a:cxnSpLocks/>
              <a:stCxn id="23" idx="0"/>
              <a:endCxn id="13" idx="3"/>
            </p:cNvCxnSpPr>
            <p:nvPr/>
          </p:nvCxnSpPr>
          <p:spPr>
            <a:xfrm rot="16200000" flipV="1">
              <a:off x="3296120" y="1856116"/>
              <a:ext cx="436280" cy="2410219"/>
            </a:xfrm>
            <a:prstGeom prst="bentConnector2">
              <a:avLst/>
            </a:prstGeom>
            <a:ln w="285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2" name="TextBox 16">
              <a:extLst>
                <a:ext uri="{FF2B5EF4-FFF2-40B4-BE49-F238E27FC236}">
                  <a16:creationId xmlns:a16="http://schemas.microsoft.com/office/drawing/2014/main" id="{91816098-7752-ABCD-FC5D-2D5C52375B8C}"/>
                </a:ext>
              </a:extLst>
            </p:cNvPr>
            <p:cNvSpPr txBox="1">
              <a:spLocks noChangeArrowheads="1"/>
            </p:cNvSpPr>
            <p:nvPr/>
          </p:nvSpPr>
          <p:spPr bwMode="auto">
            <a:xfrm>
              <a:off x="3106299" y="2492748"/>
              <a:ext cx="84315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Logs</a:t>
              </a:r>
            </a:p>
          </p:txBody>
        </p:sp>
        <p:sp>
          <p:nvSpPr>
            <p:cNvPr id="23" name="Rectangle 22">
              <a:extLst>
                <a:ext uri="{FF2B5EF4-FFF2-40B4-BE49-F238E27FC236}">
                  <a16:creationId xmlns:a16="http://schemas.microsoft.com/office/drawing/2014/main" id="{FC7D2BF9-9C60-78D8-0914-1993EC21782D}"/>
                </a:ext>
              </a:extLst>
            </p:cNvPr>
            <p:cNvSpPr/>
            <p:nvPr/>
          </p:nvSpPr>
          <p:spPr>
            <a:xfrm>
              <a:off x="3799212" y="3279366"/>
              <a:ext cx="1840313" cy="884622"/>
            </a:xfrm>
            <a:prstGeom prst="rect">
              <a:avLst/>
            </a:prstGeom>
            <a:noFill/>
            <a:ln w="15875">
              <a:solidFill>
                <a:srgbClr val="E7157B"/>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CloudWatch Logs</a:t>
              </a:r>
              <a:endParaRPr kumimoji="0" lang="en-US"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pic>
          <p:nvPicPr>
            <p:cNvPr id="24" name="Graphic 23" descr="Logs resource icon for the Amazon CloudWatch service.">
              <a:extLst>
                <a:ext uri="{FF2B5EF4-FFF2-40B4-BE49-F238E27FC236}">
                  <a16:creationId xmlns:a16="http://schemas.microsoft.com/office/drawing/2014/main" id="{F0F01CB1-07D1-26E5-32E3-15A6AD48BC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42461" y="3344928"/>
              <a:ext cx="457200" cy="457200"/>
            </a:xfrm>
            <a:prstGeom prst="rect">
              <a:avLst/>
            </a:prstGeom>
          </p:spPr>
        </p:pic>
        <p:pic>
          <p:nvPicPr>
            <p:cNvPr id="25" name="Graphic 16" descr="Data stream resource icon for the General Icons category.">
              <a:extLst>
                <a:ext uri="{FF2B5EF4-FFF2-40B4-BE49-F238E27FC236}">
                  <a16:creationId xmlns:a16="http://schemas.microsoft.com/office/drawing/2014/main" id="{E3151336-07DF-9ADD-D307-0A37155CECE4}"/>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1577832" y="4210840"/>
              <a:ext cx="731318" cy="73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TextBox 16">
              <a:extLst>
                <a:ext uri="{FF2B5EF4-FFF2-40B4-BE49-F238E27FC236}">
                  <a16:creationId xmlns:a16="http://schemas.microsoft.com/office/drawing/2014/main" id="{4BAA6819-456D-FA27-B5FC-CEC3761EBB77}"/>
                </a:ext>
              </a:extLst>
            </p:cNvPr>
            <p:cNvSpPr txBox="1">
              <a:spLocks noChangeArrowheads="1"/>
            </p:cNvSpPr>
            <p:nvPr/>
          </p:nvSpPr>
          <p:spPr bwMode="auto">
            <a:xfrm>
              <a:off x="784546" y="5032518"/>
              <a:ext cx="23217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Custom data source</a:t>
              </a:r>
            </a:p>
          </p:txBody>
        </p:sp>
        <p:cxnSp>
          <p:nvCxnSpPr>
            <p:cNvPr id="27" name="Straight Arrow Connector 34">
              <a:extLst>
                <a:ext uri="{FF2B5EF4-FFF2-40B4-BE49-F238E27FC236}">
                  <a16:creationId xmlns:a16="http://schemas.microsoft.com/office/drawing/2014/main" id="{E14B77F6-EC5B-D77F-6576-F9E25C1DAAD1}"/>
                </a:ext>
              </a:extLst>
            </p:cNvPr>
            <p:cNvCxnSpPr>
              <a:cxnSpLocks/>
              <a:stCxn id="23" idx="2"/>
              <a:endCxn id="25" idx="3"/>
            </p:cNvCxnSpPr>
            <p:nvPr/>
          </p:nvCxnSpPr>
          <p:spPr>
            <a:xfrm rot="5400000">
              <a:off x="3308005" y="3165134"/>
              <a:ext cx="412511" cy="2410219"/>
            </a:xfrm>
            <a:prstGeom prst="bentConnector2">
              <a:avLst/>
            </a:prstGeom>
            <a:ln w="285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28" name="TextBox 16">
              <a:extLst>
                <a:ext uri="{FF2B5EF4-FFF2-40B4-BE49-F238E27FC236}">
                  <a16:creationId xmlns:a16="http://schemas.microsoft.com/office/drawing/2014/main" id="{BF3E3BC1-FD06-A491-8A1E-CB196FF6E32B}"/>
                </a:ext>
              </a:extLst>
            </p:cNvPr>
            <p:cNvSpPr txBox="1">
              <a:spLocks noChangeArrowheads="1"/>
            </p:cNvSpPr>
            <p:nvPr/>
          </p:nvSpPr>
          <p:spPr bwMode="auto">
            <a:xfrm>
              <a:off x="3106299" y="4229550"/>
              <a:ext cx="84315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Logs</a:t>
              </a:r>
            </a:p>
          </p:txBody>
        </p:sp>
        <p:cxnSp>
          <p:nvCxnSpPr>
            <p:cNvPr id="29" name="Straight Arrow Connector 34">
              <a:extLst>
                <a:ext uri="{FF2B5EF4-FFF2-40B4-BE49-F238E27FC236}">
                  <a16:creationId xmlns:a16="http://schemas.microsoft.com/office/drawing/2014/main" id="{D21E19C5-AD0D-1537-1E6C-58FC7D54EB28}"/>
                </a:ext>
              </a:extLst>
            </p:cNvPr>
            <p:cNvCxnSpPr>
              <a:cxnSpLocks/>
              <a:endCxn id="26" idx="2"/>
            </p:cNvCxnSpPr>
            <p:nvPr/>
          </p:nvCxnSpPr>
          <p:spPr>
            <a:xfrm rot="10800000">
              <a:off x="1945423" y="5401850"/>
              <a:ext cx="4414246" cy="128330"/>
            </a:xfrm>
            <a:prstGeom prst="bentConnector2">
              <a:avLst/>
            </a:prstGeom>
            <a:ln w="285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30" name="TextBox 16">
              <a:extLst>
                <a:ext uri="{FF2B5EF4-FFF2-40B4-BE49-F238E27FC236}">
                  <a16:creationId xmlns:a16="http://schemas.microsoft.com/office/drawing/2014/main" id="{E1E80BEE-826D-2662-5BF6-6865764EE0AA}"/>
                </a:ext>
              </a:extLst>
            </p:cNvPr>
            <p:cNvSpPr txBox="1">
              <a:spLocks noChangeArrowheads="1"/>
            </p:cNvSpPr>
            <p:nvPr/>
          </p:nvSpPr>
          <p:spPr bwMode="auto">
            <a:xfrm>
              <a:off x="3647427" y="5154942"/>
              <a:ext cx="97958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Metrics</a:t>
              </a:r>
            </a:p>
          </p:txBody>
        </p:sp>
      </p:grpSp>
    </p:spTree>
    <p:extLst>
      <p:ext uri="{BB962C8B-B14F-4D97-AF65-F5344CB8AC3E}">
        <p14:creationId xmlns:p14="http://schemas.microsoft.com/office/powerpoint/2010/main" val="33283751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CFD6E-CE56-FFA8-8E72-37D5FCBE80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F862E7-AFDF-8F39-F2AA-37B6671E47CA}"/>
              </a:ext>
            </a:extLst>
          </p:cNvPr>
          <p:cNvSpPr txBox="1"/>
          <p:nvPr/>
        </p:nvSpPr>
        <p:spPr>
          <a:xfrm>
            <a:off x="640080" y="457200"/>
            <a:ext cx="10881360" cy="430887"/>
          </a:xfrm>
          <a:prstGeom prst="rect">
            <a:avLst/>
          </a:prstGeom>
          <a:noFill/>
        </p:spPr>
        <p:txBody>
          <a:bodyPr wrap="square" lIns="0" tIns="0" rIns="0" bIns="0" anchor="t">
            <a:spAutoFit/>
          </a:bodyPr>
          <a:lstStyle/>
          <a:p>
            <a:r>
              <a:rPr lang="en-US" sz="2800" b="1" i="0" dirty="0">
                <a:solidFill>
                  <a:srgbClr val="2A2929"/>
                </a:solidFill>
                <a:latin typeface="Roboto"/>
              </a:rPr>
              <a:t>CloudWatch alarms</a:t>
            </a:r>
            <a:endParaRPr sz="2800" b="1" i="0" dirty="0">
              <a:solidFill>
                <a:srgbClr val="2A2929"/>
              </a:solidFill>
              <a:latin typeface="Roboto"/>
            </a:endParaRPr>
          </a:p>
        </p:txBody>
      </p:sp>
      <p:sp>
        <p:nvSpPr>
          <p:cNvPr id="3" name="Rectangle 2">
            <a:extLst>
              <a:ext uri="{FF2B5EF4-FFF2-40B4-BE49-F238E27FC236}">
                <a16:creationId xmlns:a16="http://schemas.microsoft.com/office/drawing/2014/main" id="{DFB47DE0-CF02-7E26-B8D1-1377B6830D44}"/>
              </a:ext>
            </a:extLst>
          </p:cNvPr>
          <p:cNvSpPr/>
          <p:nvPr/>
        </p:nvSpPr>
        <p:spPr>
          <a:xfrm>
            <a:off x="658368" y="994767"/>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a:extLst>
              <a:ext uri="{FF2B5EF4-FFF2-40B4-BE49-F238E27FC236}">
                <a16:creationId xmlns:a16="http://schemas.microsoft.com/office/drawing/2014/main" id="{F46D2FF3-F5FC-625E-CB4D-3EEBB38416D1}"/>
              </a:ext>
            </a:extLst>
          </p:cNvPr>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F8E2DBAF-E6A6-2AF0-D52B-5E582B0B3D12}"/>
              </a:ext>
            </a:extLst>
          </p:cNvPr>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9" name="TextBox 8">
            <a:extLst>
              <a:ext uri="{FF2B5EF4-FFF2-40B4-BE49-F238E27FC236}">
                <a16:creationId xmlns:a16="http://schemas.microsoft.com/office/drawing/2014/main" id="{D07CD50A-85BD-FCF5-1C5A-262BD800EECC}"/>
              </a:ext>
            </a:extLst>
          </p:cNvPr>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3</a:t>
            </a:r>
          </a:p>
        </p:txBody>
      </p:sp>
      <p:grpSp>
        <p:nvGrpSpPr>
          <p:cNvPr id="4" name="Flatten CloudWatch alarms" descr="CloudWatch alarms sending notification to Amazon SNS and Amazon EC2 Auto Scaling policy. See student notes for details.">
            <a:extLst>
              <a:ext uri="{FF2B5EF4-FFF2-40B4-BE49-F238E27FC236}">
                <a16:creationId xmlns:a16="http://schemas.microsoft.com/office/drawing/2014/main" id="{2E03F893-2220-BC3A-B2DA-59331C8F6D60}"/>
              </a:ext>
            </a:extLst>
          </p:cNvPr>
          <p:cNvGrpSpPr/>
          <p:nvPr/>
        </p:nvGrpSpPr>
        <p:grpSpPr>
          <a:xfrm>
            <a:off x="914264" y="1550522"/>
            <a:ext cx="10694478" cy="3756955"/>
            <a:chOff x="1360839" y="1348503"/>
            <a:chExt cx="10694478" cy="3756955"/>
          </a:xfrm>
        </p:grpSpPr>
        <p:sp>
          <p:nvSpPr>
            <p:cNvPr id="5" name="Rectangle 4">
              <a:extLst>
                <a:ext uri="{FF2B5EF4-FFF2-40B4-BE49-F238E27FC236}">
                  <a16:creationId xmlns:a16="http://schemas.microsoft.com/office/drawing/2014/main" id="{A9EC41EA-6766-BE72-1537-867D94FD57DA}"/>
                </a:ext>
              </a:extLst>
            </p:cNvPr>
            <p:cNvSpPr/>
            <p:nvPr/>
          </p:nvSpPr>
          <p:spPr>
            <a:xfrm>
              <a:off x="1360840" y="1348503"/>
              <a:ext cx="4209406" cy="3756955"/>
            </a:xfrm>
            <a:prstGeom prst="rect">
              <a:avLst/>
            </a:prstGeom>
            <a:noFill/>
            <a:ln w="15875">
              <a:solidFill>
                <a:srgbClr val="E7157B"/>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CloudWatch</a:t>
              </a:r>
              <a:endParaRPr kumimoji="0" lang="en-US"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pic>
          <p:nvPicPr>
            <p:cNvPr id="6" name="Graphic 17" descr="Amazon CloudWatch service icon.">
              <a:extLst>
                <a:ext uri="{FF2B5EF4-FFF2-40B4-BE49-F238E27FC236}">
                  <a16:creationId xmlns:a16="http://schemas.microsoft.com/office/drawing/2014/main" id="{7DAFD87F-73A3-E2A1-F202-D5496BB0F51F}"/>
                </a:ext>
              </a:extLst>
            </p:cNvPr>
            <p:cNvPicPr>
              <a:picLocks noChangeAspect="1" noChangeArrowheads="1"/>
            </p:cNvPicPr>
            <p:nvPr/>
          </p:nvPicPr>
          <p:blipFill>
            <a:blip>
              <a:extLst>
                <a:ext uri="{96DAC541-7B7A-43D3-8B79-37D633B846F1}">
                  <asvg:svgBlip xmlns:asvg="http://schemas.microsoft.com/office/drawing/2016/SVG/main" r:embed="rId3"/>
                </a:ext>
              </a:extLst>
            </a:blip>
            <a:srcRect/>
            <a:stretch/>
          </p:blipFill>
          <p:spPr bwMode="auto">
            <a:xfrm>
              <a:off x="1360839" y="1348503"/>
              <a:ext cx="461349" cy="461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9" descr="Generic group.">
              <a:extLst>
                <a:ext uri="{FF2B5EF4-FFF2-40B4-BE49-F238E27FC236}">
                  <a16:creationId xmlns:a16="http://schemas.microsoft.com/office/drawing/2014/main" id="{CB3CEF58-DBAE-C034-C4C2-A453AFFBA9FA}"/>
                </a:ext>
              </a:extLst>
            </p:cNvPr>
            <p:cNvSpPr/>
            <p:nvPr/>
          </p:nvSpPr>
          <p:spPr>
            <a:xfrm>
              <a:off x="1822189" y="2158112"/>
              <a:ext cx="3248957" cy="996695"/>
            </a:xfrm>
            <a:prstGeom prst="rect">
              <a:avLst/>
            </a:prstGeom>
            <a:noFill/>
            <a:ln w="15875">
              <a:solidFill>
                <a:srgbClr val="E7157B"/>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Alarms</a:t>
              </a:r>
            </a:p>
            <a:p>
              <a:pPr marL="285750" marR="0" lvl="0" indent="-285750"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Regular alarm</a:t>
              </a:r>
            </a:p>
            <a:p>
              <a:pPr marL="285750" marR="0" lvl="0" indent="-285750"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Hig</a:t>
              </a:r>
              <a:r>
                <a:rPr lang="en-US"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h-resolution alarm</a:t>
              </a:r>
              <a:endParaRPr kumimoji="0" lang="en-US"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pic>
          <p:nvPicPr>
            <p:cNvPr id="11" name="Graphic 10" descr="Alarm resource icon for the Amazon CloudWatch service.">
              <a:extLst>
                <a:ext uri="{FF2B5EF4-FFF2-40B4-BE49-F238E27FC236}">
                  <a16:creationId xmlns:a16="http://schemas.microsoft.com/office/drawing/2014/main" id="{11A65F3D-C093-075C-20E7-5A6B57624D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22188" y="2158112"/>
              <a:ext cx="344345" cy="344345"/>
            </a:xfrm>
            <a:prstGeom prst="rect">
              <a:avLst/>
            </a:prstGeom>
          </p:spPr>
        </p:pic>
        <p:cxnSp>
          <p:nvCxnSpPr>
            <p:cNvPr id="12" name="Straight Arrow Connector 34">
              <a:extLst>
                <a:ext uri="{FF2B5EF4-FFF2-40B4-BE49-F238E27FC236}">
                  <a16:creationId xmlns:a16="http://schemas.microsoft.com/office/drawing/2014/main" id="{D2092646-6197-9855-E6FF-06E7D9CA7204}"/>
                </a:ext>
              </a:extLst>
            </p:cNvPr>
            <p:cNvCxnSpPr>
              <a:cxnSpLocks/>
              <a:stCxn id="10" idx="2"/>
              <a:endCxn id="13" idx="0"/>
            </p:cNvCxnSpPr>
            <p:nvPr/>
          </p:nvCxnSpPr>
          <p:spPr>
            <a:xfrm flipH="1">
              <a:off x="3446667" y="3154807"/>
              <a:ext cx="1" cy="760965"/>
            </a:xfrm>
            <a:prstGeom prst="straightConnector1">
              <a:avLst/>
            </a:prstGeom>
            <a:ln w="28575">
              <a:solidFill>
                <a:schemeClr val="tx1"/>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13" name="Rectangle 12" descr="Generic group.">
              <a:extLst>
                <a:ext uri="{FF2B5EF4-FFF2-40B4-BE49-F238E27FC236}">
                  <a16:creationId xmlns:a16="http://schemas.microsoft.com/office/drawing/2014/main" id="{FB659AB9-74B0-986D-CD40-367D78B2DDC8}"/>
                </a:ext>
              </a:extLst>
            </p:cNvPr>
            <p:cNvSpPr/>
            <p:nvPr/>
          </p:nvSpPr>
          <p:spPr>
            <a:xfrm>
              <a:off x="2526510" y="3915772"/>
              <a:ext cx="1840313" cy="704019"/>
            </a:xfrm>
            <a:prstGeom prst="rect">
              <a:avLst/>
            </a:prstGeom>
            <a:noFill/>
            <a:ln w="15875">
              <a:solidFill>
                <a:srgbClr val="E7157B"/>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Metric repository </a:t>
              </a:r>
            </a:p>
          </p:txBody>
        </p:sp>
        <p:cxnSp>
          <p:nvCxnSpPr>
            <p:cNvPr id="14" name="Straight Arrow Connector 34">
              <a:extLst>
                <a:ext uri="{FF2B5EF4-FFF2-40B4-BE49-F238E27FC236}">
                  <a16:creationId xmlns:a16="http://schemas.microsoft.com/office/drawing/2014/main" id="{E1AF2C47-F23E-2CBC-A294-8DB0A0B00348}"/>
                </a:ext>
              </a:extLst>
            </p:cNvPr>
            <p:cNvCxnSpPr>
              <a:cxnSpLocks/>
              <a:stCxn id="15" idx="1"/>
              <a:endCxn id="10" idx="3"/>
            </p:cNvCxnSpPr>
            <p:nvPr/>
          </p:nvCxnSpPr>
          <p:spPr>
            <a:xfrm rot="10800000" flipV="1">
              <a:off x="5071146" y="1800686"/>
              <a:ext cx="2570354" cy="855774"/>
            </a:xfrm>
            <a:prstGeom prst="bentConnector3">
              <a:avLst>
                <a:gd name="adj1" fmla="val 47345"/>
              </a:avLst>
            </a:prstGeom>
            <a:ln w="28575">
              <a:solidFill>
                <a:schemeClr val="tx1"/>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pic>
          <p:nvPicPr>
            <p:cNvPr id="15" name="Graphic 14" descr="Topic resource icon for the Amazon SNS service.">
              <a:extLst>
                <a:ext uri="{FF2B5EF4-FFF2-40B4-BE49-F238E27FC236}">
                  <a16:creationId xmlns:a16="http://schemas.microsoft.com/office/drawing/2014/main" id="{7AC5DC93-68FE-3A5C-AA41-C9396F2F5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41500" y="1348503"/>
              <a:ext cx="904366" cy="904366"/>
            </a:xfrm>
            <a:prstGeom prst="rect">
              <a:avLst/>
            </a:prstGeom>
          </p:spPr>
        </p:pic>
        <p:sp>
          <p:nvSpPr>
            <p:cNvPr id="16" name="TextBox 9">
              <a:extLst>
                <a:ext uri="{FF2B5EF4-FFF2-40B4-BE49-F238E27FC236}">
                  <a16:creationId xmlns:a16="http://schemas.microsoft.com/office/drawing/2014/main" id="{E0F1883E-87BA-D571-46C4-4C10A7919355}"/>
                </a:ext>
              </a:extLst>
            </p:cNvPr>
            <p:cNvSpPr txBox="1">
              <a:spLocks noChangeArrowheads="1"/>
            </p:cNvSpPr>
            <p:nvPr/>
          </p:nvSpPr>
          <p:spPr bwMode="auto">
            <a:xfrm>
              <a:off x="6526237" y="2240960"/>
              <a:ext cx="301840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Amazon Simple Notification Service (Amazon SNS)</a:t>
              </a:r>
            </a:p>
            <a:p>
              <a:pPr algn="ctr" eaLnBrk="1" hangingPunct="1"/>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topic</a:t>
              </a:r>
            </a:p>
          </p:txBody>
        </p:sp>
        <p:cxnSp>
          <p:nvCxnSpPr>
            <p:cNvPr id="17" name="Straight Arrow Connector 34">
              <a:extLst>
                <a:ext uri="{FF2B5EF4-FFF2-40B4-BE49-F238E27FC236}">
                  <a16:creationId xmlns:a16="http://schemas.microsoft.com/office/drawing/2014/main" id="{2144EE01-D82D-565E-410A-49FFED29AA5B}"/>
                </a:ext>
              </a:extLst>
            </p:cNvPr>
            <p:cNvCxnSpPr>
              <a:cxnSpLocks/>
            </p:cNvCxnSpPr>
            <p:nvPr/>
          </p:nvCxnSpPr>
          <p:spPr>
            <a:xfrm flipH="1" flipV="1">
              <a:off x="8554215" y="1809851"/>
              <a:ext cx="990430" cy="6674"/>
            </a:xfrm>
            <a:prstGeom prst="straightConnector1">
              <a:avLst/>
            </a:prstGeom>
            <a:ln w="28575">
              <a:solidFill>
                <a:schemeClr val="tx1"/>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Box 9">
              <a:extLst>
                <a:ext uri="{FF2B5EF4-FFF2-40B4-BE49-F238E27FC236}">
                  <a16:creationId xmlns:a16="http://schemas.microsoft.com/office/drawing/2014/main" id="{A24D4C72-FE18-0D06-65AD-E1195ADE3678}"/>
                </a:ext>
              </a:extLst>
            </p:cNvPr>
            <p:cNvSpPr txBox="1">
              <a:spLocks noChangeArrowheads="1"/>
            </p:cNvSpPr>
            <p:nvPr/>
          </p:nvSpPr>
          <p:spPr bwMode="auto">
            <a:xfrm>
              <a:off x="9036909" y="1640574"/>
              <a:ext cx="30184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Topic subscribers</a:t>
              </a:r>
            </a:p>
          </p:txBody>
        </p:sp>
        <p:cxnSp>
          <p:nvCxnSpPr>
            <p:cNvPr id="19" name="Straight Arrow Connector 34">
              <a:extLst>
                <a:ext uri="{FF2B5EF4-FFF2-40B4-BE49-F238E27FC236}">
                  <a16:creationId xmlns:a16="http://schemas.microsoft.com/office/drawing/2014/main" id="{6164AE65-7AE4-7237-2DFB-CD6301D3A822}"/>
                </a:ext>
              </a:extLst>
            </p:cNvPr>
            <p:cNvCxnSpPr>
              <a:cxnSpLocks/>
              <a:stCxn id="20" idx="1"/>
            </p:cNvCxnSpPr>
            <p:nvPr/>
          </p:nvCxnSpPr>
          <p:spPr>
            <a:xfrm rot="10800000">
              <a:off x="5071147" y="2900614"/>
              <a:ext cx="2681637" cy="982150"/>
            </a:xfrm>
            <a:prstGeom prst="bentConnector3">
              <a:avLst>
                <a:gd name="adj1" fmla="val 50000"/>
              </a:avLst>
            </a:prstGeom>
            <a:ln w="28575">
              <a:solidFill>
                <a:schemeClr val="tx1"/>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pic>
          <p:nvPicPr>
            <p:cNvPr id="20" name="Graphic 27" descr="Amazon EC2 Auto Scaling service icon.">
              <a:extLst>
                <a:ext uri="{FF2B5EF4-FFF2-40B4-BE49-F238E27FC236}">
                  <a16:creationId xmlns:a16="http://schemas.microsoft.com/office/drawing/2014/main" id="{546E572A-9E87-2C98-1AE8-DC990036F5F9}"/>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7752783" y="3501764"/>
              <a:ext cx="76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 name="TextBox 26">
              <a:extLst>
                <a:ext uri="{FF2B5EF4-FFF2-40B4-BE49-F238E27FC236}">
                  <a16:creationId xmlns:a16="http://schemas.microsoft.com/office/drawing/2014/main" id="{F4F65F39-A863-06F1-7969-3B22E302BB26}"/>
                </a:ext>
              </a:extLst>
            </p:cNvPr>
            <p:cNvSpPr txBox="1">
              <a:spLocks noChangeArrowheads="1"/>
            </p:cNvSpPr>
            <p:nvPr/>
          </p:nvSpPr>
          <p:spPr bwMode="auto">
            <a:xfrm>
              <a:off x="7032852" y="4299364"/>
              <a:ext cx="220186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Amazon EC2</a:t>
              </a:r>
              <a:b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br>
              <a:r>
                <a:rPr lang="en-US" altLang="en-US" dirty="0">
                  <a:latin typeface="Amazon Ember Display" panose="020F0603020204020204" pitchFamily="34" charset="0"/>
                  <a:ea typeface="Amazon Ember Display" panose="020F0603020204020204" pitchFamily="34" charset="0"/>
                  <a:cs typeface="Amazon Ember Display" panose="020F0603020204020204" pitchFamily="34" charset="0"/>
                </a:rPr>
                <a:t>Auto Scaling policy </a:t>
              </a:r>
            </a:p>
          </p:txBody>
        </p:sp>
      </p:grpSp>
    </p:spTree>
    <p:extLst>
      <p:ext uri="{BB962C8B-B14F-4D97-AF65-F5344CB8AC3E}">
        <p14:creationId xmlns:p14="http://schemas.microsoft.com/office/powerpoint/2010/main" val="2890595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F3FEC-B999-2A4C-C5CE-F664BBCAF93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0BE888-E4EC-30AA-44B6-2001817A4F13}"/>
              </a:ext>
            </a:extLst>
          </p:cNvPr>
          <p:cNvSpPr txBox="1"/>
          <p:nvPr/>
        </p:nvSpPr>
        <p:spPr>
          <a:xfrm>
            <a:off x="640080" y="457200"/>
            <a:ext cx="10881360" cy="430887"/>
          </a:xfrm>
          <a:prstGeom prst="rect">
            <a:avLst/>
          </a:prstGeom>
          <a:noFill/>
        </p:spPr>
        <p:txBody>
          <a:bodyPr wrap="square" lIns="0" tIns="0" rIns="0" bIns="0" anchor="t">
            <a:spAutoFit/>
          </a:bodyPr>
          <a:lstStyle/>
          <a:p>
            <a:r>
              <a:rPr lang="en-US" sz="2800" b="1" i="0" dirty="0">
                <a:solidFill>
                  <a:srgbClr val="2A2929"/>
                </a:solidFill>
                <a:latin typeface="Roboto"/>
              </a:rPr>
              <a:t>CloudWatch dashboards</a:t>
            </a:r>
            <a:endParaRPr sz="2800" b="1" i="0" dirty="0">
              <a:solidFill>
                <a:srgbClr val="2A2929"/>
              </a:solidFill>
              <a:latin typeface="Roboto"/>
            </a:endParaRPr>
          </a:p>
        </p:txBody>
      </p:sp>
      <p:sp>
        <p:nvSpPr>
          <p:cNvPr id="3" name="Rectangle 2">
            <a:extLst>
              <a:ext uri="{FF2B5EF4-FFF2-40B4-BE49-F238E27FC236}">
                <a16:creationId xmlns:a16="http://schemas.microsoft.com/office/drawing/2014/main" id="{395350D2-6DF8-4273-CA79-EF7DC2E5BA27}"/>
              </a:ext>
            </a:extLst>
          </p:cNvPr>
          <p:cNvSpPr/>
          <p:nvPr/>
        </p:nvSpPr>
        <p:spPr>
          <a:xfrm>
            <a:off x="658368" y="994767"/>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a:extLst>
              <a:ext uri="{FF2B5EF4-FFF2-40B4-BE49-F238E27FC236}">
                <a16:creationId xmlns:a16="http://schemas.microsoft.com/office/drawing/2014/main" id="{48F46104-CDAE-7C63-8E1B-2A89DD325616}"/>
              </a:ext>
            </a:extLst>
          </p:cNvPr>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874E0FA5-2BEB-B191-88F4-577ED8A29C69}"/>
              </a:ext>
            </a:extLst>
          </p:cNvPr>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9" name="TextBox 8">
            <a:extLst>
              <a:ext uri="{FF2B5EF4-FFF2-40B4-BE49-F238E27FC236}">
                <a16:creationId xmlns:a16="http://schemas.microsoft.com/office/drawing/2014/main" id="{D1084633-0DD5-78F3-0C0A-B4A9D3005338}"/>
              </a:ext>
            </a:extLst>
          </p:cNvPr>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3</a:t>
            </a:r>
          </a:p>
        </p:txBody>
      </p:sp>
      <p:grpSp>
        <p:nvGrpSpPr>
          <p:cNvPr id="4" name="Flatten CloudWatch dashboards" descr="CloudWatch dashboards in the AWS Management Console or custom dashboards. See student notes for details.">
            <a:extLst>
              <a:ext uri="{FF2B5EF4-FFF2-40B4-BE49-F238E27FC236}">
                <a16:creationId xmlns:a16="http://schemas.microsoft.com/office/drawing/2014/main" id="{CCC24862-BC5E-135F-7765-AA86311C41A5}"/>
              </a:ext>
            </a:extLst>
          </p:cNvPr>
          <p:cNvGrpSpPr/>
          <p:nvPr/>
        </p:nvGrpSpPr>
        <p:grpSpPr>
          <a:xfrm>
            <a:off x="3399688" y="1075233"/>
            <a:ext cx="5284850" cy="5138421"/>
            <a:chOff x="3123906" y="821267"/>
            <a:chExt cx="5284850" cy="5138421"/>
          </a:xfrm>
        </p:grpSpPr>
        <p:sp>
          <p:nvSpPr>
            <p:cNvPr id="5" name="Rectangle 4">
              <a:extLst>
                <a:ext uri="{FF2B5EF4-FFF2-40B4-BE49-F238E27FC236}">
                  <a16:creationId xmlns:a16="http://schemas.microsoft.com/office/drawing/2014/main" id="{841A3CCD-D8C7-ECA9-0EA2-81FD50A9F1F6}"/>
                </a:ext>
              </a:extLst>
            </p:cNvPr>
            <p:cNvSpPr/>
            <p:nvPr/>
          </p:nvSpPr>
          <p:spPr>
            <a:xfrm>
              <a:off x="3231681" y="821267"/>
              <a:ext cx="5177075" cy="2722470"/>
            </a:xfrm>
            <a:prstGeom prst="rect">
              <a:avLst/>
            </a:prstGeom>
            <a:noFill/>
            <a:ln w="15875">
              <a:solidFill>
                <a:srgbClr val="E7157B"/>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rgbClr val="000000"/>
                  </a:solidFill>
                  <a:latin typeface="Amazon Ember Display" panose="020F0603020204020204" pitchFamily="34" charset="0"/>
                  <a:ea typeface="Amazon Ember Display" panose="020F0603020204020204" pitchFamily="34" charset="0"/>
                  <a:cs typeface="Amazon Ember Display" panose="020F0603020204020204" pitchFamily="34" charset="0"/>
                </a:rPr>
                <a:t>CloudWatch</a:t>
              </a:r>
              <a:endParaRPr kumimoji="0" lang="en-US" sz="1600"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endParaRPr>
            </a:p>
          </p:txBody>
        </p:sp>
        <p:pic>
          <p:nvPicPr>
            <p:cNvPr id="6" name="Graphic 17" descr="Amazon CloudWatch service icon.">
              <a:extLst>
                <a:ext uri="{FF2B5EF4-FFF2-40B4-BE49-F238E27FC236}">
                  <a16:creationId xmlns:a16="http://schemas.microsoft.com/office/drawing/2014/main" id="{B2D132E3-DDF2-5E0C-6BDE-0D93308606DB}"/>
                </a:ext>
              </a:extLst>
            </p:cNvPr>
            <p:cNvPicPr>
              <a:picLocks noChangeAspect="1" noChangeArrowheads="1"/>
            </p:cNvPicPr>
            <p:nvPr/>
          </p:nvPicPr>
          <p:blipFill>
            <a:blip>
              <a:extLst>
                <a:ext uri="{96DAC541-7B7A-43D3-8B79-37D633B846F1}">
                  <asvg:svgBlip xmlns:asvg="http://schemas.microsoft.com/office/drawing/2016/SVG/main" r:embed="rId3"/>
                </a:ext>
              </a:extLst>
            </a:blip>
            <a:srcRect/>
            <a:stretch/>
          </p:blipFill>
          <p:spPr bwMode="auto">
            <a:xfrm>
              <a:off x="3231681" y="821267"/>
              <a:ext cx="470623" cy="470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9" descr="Generic group.">
              <a:extLst>
                <a:ext uri="{FF2B5EF4-FFF2-40B4-BE49-F238E27FC236}">
                  <a16:creationId xmlns:a16="http://schemas.microsoft.com/office/drawing/2014/main" id="{4DBBB994-3AE8-832F-650F-56F11013C3B5}"/>
                </a:ext>
              </a:extLst>
            </p:cNvPr>
            <p:cNvSpPr/>
            <p:nvPr/>
          </p:nvSpPr>
          <p:spPr>
            <a:xfrm>
              <a:off x="3365167" y="1412942"/>
              <a:ext cx="1840313" cy="509837"/>
            </a:xfrm>
            <a:prstGeom prst="rect">
              <a:avLst/>
            </a:prstGeom>
            <a:noFill/>
            <a:ln w="15875">
              <a:solidFill>
                <a:srgbClr val="E7157B"/>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Alarms</a:t>
              </a:r>
            </a:p>
          </p:txBody>
        </p:sp>
        <p:pic>
          <p:nvPicPr>
            <p:cNvPr id="11" name="Graphic 10" descr="Alarm resource icon for the Amazon CloudWatch service.">
              <a:extLst>
                <a:ext uri="{FF2B5EF4-FFF2-40B4-BE49-F238E27FC236}">
                  <a16:creationId xmlns:a16="http://schemas.microsoft.com/office/drawing/2014/main" id="{D45334F0-6AFA-AD07-EBD0-97E96AEC6DA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38248" y="1448922"/>
              <a:ext cx="402889" cy="402889"/>
            </a:xfrm>
            <a:prstGeom prst="rect">
              <a:avLst/>
            </a:prstGeom>
          </p:spPr>
        </p:pic>
        <p:cxnSp>
          <p:nvCxnSpPr>
            <p:cNvPr id="12" name="Straight Arrow Connector 34">
              <a:extLst>
                <a:ext uri="{FF2B5EF4-FFF2-40B4-BE49-F238E27FC236}">
                  <a16:creationId xmlns:a16="http://schemas.microsoft.com/office/drawing/2014/main" id="{FC2EE257-C695-6936-DA4E-4C1668D5B47E}"/>
                </a:ext>
              </a:extLst>
            </p:cNvPr>
            <p:cNvCxnSpPr>
              <a:cxnSpLocks/>
              <a:stCxn id="13" idx="0"/>
              <a:endCxn id="10" idx="2"/>
            </p:cNvCxnSpPr>
            <p:nvPr/>
          </p:nvCxnSpPr>
          <p:spPr>
            <a:xfrm rot="16200000" flipV="1">
              <a:off x="4652078" y="1556026"/>
              <a:ext cx="801387" cy="1534894"/>
            </a:xfrm>
            <a:prstGeom prst="bentConnector3">
              <a:avLst>
                <a:gd name="adj1" fmla="val 50000"/>
              </a:avLst>
            </a:prstGeom>
            <a:ln w="285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sp>
          <p:nvSpPr>
            <p:cNvPr id="13" name="Rectangle 12" descr="Generic group.">
              <a:extLst>
                <a:ext uri="{FF2B5EF4-FFF2-40B4-BE49-F238E27FC236}">
                  <a16:creationId xmlns:a16="http://schemas.microsoft.com/office/drawing/2014/main" id="{FDF2471D-697C-34BF-7A92-7503C67C563F}"/>
                </a:ext>
              </a:extLst>
            </p:cNvPr>
            <p:cNvSpPr/>
            <p:nvPr/>
          </p:nvSpPr>
          <p:spPr>
            <a:xfrm>
              <a:off x="4900061" y="2724166"/>
              <a:ext cx="1840313" cy="509837"/>
            </a:xfrm>
            <a:prstGeom prst="rect">
              <a:avLst/>
            </a:prstGeom>
            <a:noFill/>
            <a:ln w="15875">
              <a:solidFill>
                <a:srgbClr val="E7157B"/>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Statistics</a:t>
              </a:r>
            </a:p>
          </p:txBody>
        </p:sp>
        <p:sp>
          <p:nvSpPr>
            <p:cNvPr id="14" name="Rectangle 13" descr="Generic group.">
              <a:extLst>
                <a:ext uri="{FF2B5EF4-FFF2-40B4-BE49-F238E27FC236}">
                  <a16:creationId xmlns:a16="http://schemas.microsoft.com/office/drawing/2014/main" id="{4F28BC64-32FC-130F-544C-F1BC5B4D2DA8}"/>
                </a:ext>
              </a:extLst>
            </p:cNvPr>
            <p:cNvSpPr/>
            <p:nvPr/>
          </p:nvSpPr>
          <p:spPr>
            <a:xfrm>
              <a:off x="6200150" y="1415076"/>
              <a:ext cx="1840313" cy="509837"/>
            </a:xfrm>
            <a:prstGeom prst="rect">
              <a:avLst/>
            </a:prstGeom>
            <a:noFill/>
            <a:ln w="15875">
              <a:solidFill>
                <a:srgbClr val="E7157B"/>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Amazon Ember Display" panose="020F0603020204020204" pitchFamily="34" charset="0"/>
                  <a:ea typeface="Amazon Ember Display" panose="020F0603020204020204" pitchFamily="34" charset="0"/>
                  <a:cs typeface="Amazon Ember Display" panose="020F0603020204020204" pitchFamily="34" charset="0"/>
                </a:rPr>
                <a:t>Metric repository </a:t>
              </a:r>
            </a:p>
          </p:txBody>
        </p:sp>
        <p:cxnSp>
          <p:nvCxnSpPr>
            <p:cNvPr id="15" name="Straight Arrow Connector 34">
              <a:extLst>
                <a:ext uri="{FF2B5EF4-FFF2-40B4-BE49-F238E27FC236}">
                  <a16:creationId xmlns:a16="http://schemas.microsoft.com/office/drawing/2014/main" id="{0803B40C-A582-9F5F-9FCD-1C51528DB91F}"/>
                </a:ext>
              </a:extLst>
            </p:cNvPr>
            <p:cNvCxnSpPr>
              <a:cxnSpLocks/>
              <a:stCxn id="13" idx="0"/>
              <a:endCxn id="14" idx="2"/>
            </p:cNvCxnSpPr>
            <p:nvPr/>
          </p:nvCxnSpPr>
          <p:spPr>
            <a:xfrm rot="5400000" flipH="1" flipV="1">
              <a:off x="6070636" y="1674496"/>
              <a:ext cx="799253" cy="1300089"/>
            </a:xfrm>
            <a:prstGeom prst="bentConnector3">
              <a:avLst>
                <a:gd name="adj1" fmla="val 50000"/>
              </a:avLst>
            </a:prstGeom>
            <a:ln w="285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cxnSp>
          <p:nvCxnSpPr>
            <p:cNvPr id="16" name="Straight Arrow Connector 34">
              <a:extLst>
                <a:ext uri="{FF2B5EF4-FFF2-40B4-BE49-F238E27FC236}">
                  <a16:creationId xmlns:a16="http://schemas.microsoft.com/office/drawing/2014/main" id="{D8373C5F-9F2C-3E20-82BD-72F1AFADEE73}"/>
                </a:ext>
              </a:extLst>
            </p:cNvPr>
            <p:cNvCxnSpPr>
              <a:cxnSpLocks/>
              <a:stCxn id="17" idx="0"/>
              <a:endCxn id="13" idx="2"/>
            </p:cNvCxnSpPr>
            <p:nvPr/>
          </p:nvCxnSpPr>
          <p:spPr>
            <a:xfrm rot="5400000" flipH="1" flipV="1">
              <a:off x="4589021" y="3174205"/>
              <a:ext cx="1171399" cy="1290996"/>
            </a:xfrm>
            <a:prstGeom prst="bentConnector3">
              <a:avLst>
                <a:gd name="adj1" fmla="val 50000"/>
              </a:avLst>
            </a:prstGeom>
            <a:ln w="285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pic>
          <p:nvPicPr>
            <p:cNvPr id="17" name="Graphic 13" descr="AWS Management Console resource icon for the General Icons category.">
              <a:extLst>
                <a:ext uri="{FF2B5EF4-FFF2-40B4-BE49-F238E27FC236}">
                  <a16:creationId xmlns:a16="http://schemas.microsoft.com/office/drawing/2014/main" id="{8BEAEC12-0969-B930-4585-3521D1BD9AB9}"/>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4078215" y="4405402"/>
              <a:ext cx="902013" cy="902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TextBox 30">
              <a:extLst>
                <a:ext uri="{FF2B5EF4-FFF2-40B4-BE49-F238E27FC236}">
                  <a16:creationId xmlns:a16="http://schemas.microsoft.com/office/drawing/2014/main" id="{A16FB24B-164D-38AD-1E37-2D680C02EBE9}"/>
                </a:ext>
              </a:extLst>
            </p:cNvPr>
            <p:cNvSpPr txBox="1">
              <a:spLocks noChangeArrowheads="1"/>
            </p:cNvSpPr>
            <p:nvPr/>
          </p:nvSpPr>
          <p:spPr bwMode="auto">
            <a:xfrm>
              <a:off x="3123906" y="5374913"/>
              <a:ext cx="281063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600" dirty="0">
                  <a:latin typeface="Amazon Ember Display" panose="020F0603020204020204" pitchFamily="34" charset="0"/>
                  <a:ea typeface="Amazon Ember Display" panose="020F0603020204020204" pitchFamily="34" charset="0"/>
                  <a:cs typeface="Amazon Ember Display" panose="020F0603020204020204" pitchFamily="34" charset="0"/>
                </a:rPr>
                <a:t>AWS Management Console CloudWatch dashboard</a:t>
              </a:r>
            </a:p>
          </p:txBody>
        </p:sp>
        <p:cxnSp>
          <p:nvCxnSpPr>
            <p:cNvPr id="19" name="Straight Arrow Connector 34">
              <a:extLst>
                <a:ext uri="{FF2B5EF4-FFF2-40B4-BE49-F238E27FC236}">
                  <a16:creationId xmlns:a16="http://schemas.microsoft.com/office/drawing/2014/main" id="{6FFF7615-6598-D7B7-6FC0-E7338BE481BB}"/>
                </a:ext>
              </a:extLst>
            </p:cNvPr>
            <p:cNvCxnSpPr>
              <a:cxnSpLocks/>
              <a:stCxn id="20" idx="0"/>
              <a:endCxn id="13" idx="2"/>
            </p:cNvCxnSpPr>
            <p:nvPr/>
          </p:nvCxnSpPr>
          <p:spPr>
            <a:xfrm rot="16200000" flipV="1">
              <a:off x="6009055" y="3045167"/>
              <a:ext cx="1108987" cy="1486659"/>
            </a:xfrm>
            <a:prstGeom prst="bentConnector3">
              <a:avLst>
                <a:gd name="adj1" fmla="val 46946"/>
              </a:avLst>
            </a:prstGeom>
            <a:ln w="28575">
              <a:solidFill>
                <a:schemeClr val="tx1"/>
              </a:solidFill>
              <a:headEnd type="arrow" w="med" len="sm"/>
              <a:tailEnd type="none" w="med" len="sm"/>
            </a:ln>
          </p:spPr>
          <p:style>
            <a:lnRef idx="1">
              <a:schemeClr val="accent1"/>
            </a:lnRef>
            <a:fillRef idx="0">
              <a:schemeClr val="accent1"/>
            </a:fillRef>
            <a:effectRef idx="0">
              <a:schemeClr val="accent1"/>
            </a:effectRef>
            <a:fontRef idx="minor">
              <a:schemeClr val="tx1"/>
            </a:fontRef>
          </p:style>
        </p:cxnSp>
        <p:pic>
          <p:nvPicPr>
            <p:cNvPr id="20" name="Graphic 19">
              <a:extLst>
                <a:ext uri="{FF2B5EF4-FFF2-40B4-BE49-F238E27FC236}">
                  <a16:creationId xmlns:a16="http://schemas.microsoft.com/office/drawing/2014/main" id="{E300A170-CC36-CC5B-4134-9571C9D702A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682638" y="4342990"/>
              <a:ext cx="1248478" cy="1248478"/>
            </a:xfrm>
            <a:prstGeom prst="rect">
              <a:avLst/>
            </a:prstGeom>
          </p:spPr>
        </p:pic>
        <p:sp>
          <p:nvSpPr>
            <p:cNvPr id="21" name="TextBox 30">
              <a:extLst>
                <a:ext uri="{FF2B5EF4-FFF2-40B4-BE49-F238E27FC236}">
                  <a16:creationId xmlns:a16="http://schemas.microsoft.com/office/drawing/2014/main" id="{413B2E2B-08B1-D5B5-9824-191A74FEAF7A}"/>
                </a:ext>
              </a:extLst>
            </p:cNvPr>
            <p:cNvSpPr txBox="1">
              <a:spLocks noChangeArrowheads="1"/>
            </p:cNvSpPr>
            <p:nvPr/>
          </p:nvSpPr>
          <p:spPr bwMode="auto">
            <a:xfrm>
              <a:off x="6175797" y="5498024"/>
              <a:ext cx="219675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600" dirty="0">
                  <a:latin typeface="Amazon Ember Display" panose="020F0603020204020204" pitchFamily="34" charset="0"/>
                  <a:ea typeface="Amazon Ember Display" panose="020F0603020204020204" pitchFamily="34" charset="0"/>
                  <a:cs typeface="Amazon Ember Display" panose="020F0603020204020204" pitchFamily="34" charset="0"/>
                </a:rPr>
                <a:t>Custom dashboard </a:t>
              </a:r>
            </a:p>
          </p:txBody>
        </p:sp>
      </p:grpSp>
    </p:spTree>
    <p:extLst>
      <p:ext uri="{BB962C8B-B14F-4D97-AF65-F5344CB8AC3E}">
        <p14:creationId xmlns:p14="http://schemas.microsoft.com/office/powerpoint/2010/main" val="27246984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881360" cy="960120"/>
          </a:xfrm>
          <a:prstGeom prst="rect">
            <a:avLst/>
          </a:prstGeom>
          <a:noFill/>
        </p:spPr>
        <p:txBody>
          <a:bodyPr wrap="square" lIns="0" tIns="0" rIns="0" bIns="0" anchor="t">
            <a:spAutoFit/>
          </a:bodyPr>
          <a:lstStyle/>
          <a:p>
            <a:r>
              <a:rPr sz="2800" b="1" i="0">
                <a:solidFill>
                  <a:srgbClr val="2A2929"/>
                </a:solidFill>
                <a:latin typeface="Roboto"/>
              </a:rPr>
              <a:t>The monitoring you'll build</a:t>
            </a:r>
          </a:p>
          <a:p>
            <a:pPr>
              <a:spcBef>
                <a:spcPts val="200"/>
              </a:spcBef>
            </a:pPr>
            <a:r>
              <a:rPr sz="1800" b="0" i="1">
                <a:solidFill>
                  <a:srgbClr val="D68E10"/>
                </a:solidFill>
                <a:latin typeface="Roboto Light"/>
              </a:rPr>
              <a:t>the design · §4.10</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658368" y="1828800"/>
          <a:ext cx="14630400" cy="2743200"/>
        </p:xfrm>
        <a:graphic>
          <a:graphicData uri="http://schemas.openxmlformats.org/drawingml/2006/table">
            <a:tbl>
              <a:tblPr>
                <a:tableStyleId>{5C22544A-7EE6-4342-B048-85BDC9FD1C3A}</a:tableStyleId>
              </a:tblPr>
              <a:tblGrid>
                <a:gridCol w="77724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57200">
                <a:tc>
                  <a:txBody>
                    <a:bodyPr/>
                    <a:lstStyle/>
                    <a:p>
                      <a:r>
                        <a:rPr sz="1400" b="1" i="0">
                          <a:solidFill>
                            <a:srgbClr val="FFFFFF"/>
                          </a:solidFill>
                          <a:latin typeface="Roboto"/>
                        </a:rPr>
                        <a:t>Baseline alarm</a:t>
                      </a:r>
                    </a:p>
                  </a:txBody>
                  <a:tcPr marL="76200" marR="76200">
                    <a:solidFill>
                      <a:srgbClr val="92268F"/>
                    </a:solidFill>
                  </a:tcPr>
                </a:tc>
                <a:tc>
                  <a:txBody>
                    <a:bodyPr/>
                    <a:lstStyle/>
                    <a:p>
                      <a:r>
                        <a:rPr sz="1400" b="1" i="0">
                          <a:solidFill>
                            <a:srgbClr val="FFFFFF"/>
                          </a:solidFill>
                          <a:latin typeface="Roboto"/>
                        </a:rPr>
                        <a:t>Threshold</a:t>
                      </a:r>
                    </a:p>
                  </a:txBody>
                  <a:tcPr marL="76200" marR="76200">
                    <a:solidFill>
                      <a:srgbClr val="92268F"/>
                    </a:solidFill>
                  </a:tcPr>
                </a:tc>
                <a:extLst>
                  <a:ext uri="{0D108BD9-81ED-4DB2-BD59-A6C34878D82A}">
                    <a16:rowId xmlns:a16="http://schemas.microsoft.com/office/drawing/2014/main" val="10000"/>
                  </a:ext>
                </a:extLst>
              </a:tr>
              <a:tr h="457200">
                <a:tc>
                  <a:txBody>
                    <a:bodyPr/>
                    <a:lstStyle/>
                    <a:p>
                      <a:r>
                        <a:rPr sz="1300" b="0" i="0">
                          <a:solidFill>
                            <a:srgbClr val="2A2929"/>
                          </a:solidFill>
                          <a:latin typeface="Roboto"/>
                        </a:rPr>
                        <a:t>EC2 CPU high</a:t>
                      </a:r>
                    </a:p>
                  </a:txBody>
                  <a:tcPr marL="76200" marR="76200" marT="50800" marB="50800">
                    <a:solidFill>
                      <a:srgbClr val="FFFFFF"/>
                    </a:solidFill>
                  </a:tcPr>
                </a:tc>
                <a:tc>
                  <a:txBody>
                    <a:bodyPr/>
                    <a:lstStyle/>
                    <a:p>
                      <a:r>
                        <a:rPr sz="1300" b="0" i="0">
                          <a:solidFill>
                            <a:srgbClr val="2A2929"/>
                          </a:solidFill>
                          <a:latin typeface="Roboto"/>
                        </a:rPr>
                        <a:t>≥ 80% over 10 min</a:t>
                      </a:r>
                    </a:p>
                  </a:txBody>
                  <a:tcPr marL="76200" marR="76200" marT="50800" marB="50800">
                    <a:solidFill>
                      <a:srgbClr val="FFFFFF"/>
                    </a:solidFill>
                  </a:tcPr>
                </a:tc>
                <a:extLst>
                  <a:ext uri="{0D108BD9-81ED-4DB2-BD59-A6C34878D82A}">
                    <a16:rowId xmlns:a16="http://schemas.microsoft.com/office/drawing/2014/main" val="10001"/>
                  </a:ext>
                </a:extLst>
              </a:tr>
              <a:tr h="457200">
                <a:tc>
                  <a:txBody>
                    <a:bodyPr/>
                    <a:lstStyle/>
                    <a:p>
                      <a:r>
                        <a:rPr sz="1300" b="0" i="0">
                          <a:solidFill>
                            <a:srgbClr val="2A2929"/>
                          </a:solidFill>
                          <a:latin typeface="Roboto"/>
                        </a:rPr>
                        <a:t>RDS CPU high</a:t>
                      </a:r>
                    </a:p>
                  </a:txBody>
                  <a:tcPr marL="76200" marR="76200" marT="50800" marB="50800">
                    <a:solidFill>
                      <a:srgbClr val="F9F9F9"/>
                    </a:solidFill>
                  </a:tcPr>
                </a:tc>
                <a:tc>
                  <a:txBody>
                    <a:bodyPr/>
                    <a:lstStyle/>
                    <a:p>
                      <a:r>
                        <a:rPr sz="1300" b="0" i="0">
                          <a:solidFill>
                            <a:srgbClr val="2A2929"/>
                          </a:solidFill>
                          <a:latin typeface="Roboto"/>
                        </a:rPr>
                        <a:t>≥ 80% over 10 min</a:t>
                      </a:r>
                    </a:p>
                  </a:txBody>
                  <a:tcPr marL="76200" marR="76200" marT="50800" marB="50800">
                    <a:solidFill>
                      <a:srgbClr val="F9F9F9"/>
                    </a:solidFill>
                  </a:tcPr>
                </a:tc>
                <a:extLst>
                  <a:ext uri="{0D108BD9-81ED-4DB2-BD59-A6C34878D82A}">
                    <a16:rowId xmlns:a16="http://schemas.microsoft.com/office/drawing/2014/main" val="10002"/>
                  </a:ext>
                </a:extLst>
              </a:tr>
              <a:tr h="457200">
                <a:tc>
                  <a:txBody>
                    <a:bodyPr/>
                    <a:lstStyle/>
                    <a:p>
                      <a:r>
                        <a:rPr sz="1300" b="0" i="0">
                          <a:solidFill>
                            <a:srgbClr val="2A2929"/>
                          </a:solidFill>
                          <a:latin typeface="Roboto"/>
                        </a:rPr>
                        <a:t>RDS free storage low</a:t>
                      </a:r>
                    </a:p>
                  </a:txBody>
                  <a:tcPr marL="76200" marR="76200" marT="50800" marB="50800">
                    <a:solidFill>
                      <a:srgbClr val="FFFFFF"/>
                    </a:solidFill>
                  </a:tcPr>
                </a:tc>
                <a:tc>
                  <a:txBody>
                    <a:bodyPr/>
                    <a:lstStyle/>
                    <a:p>
                      <a:r>
                        <a:rPr sz="1300" b="0" i="0">
                          <a:solidFill>
                            <a:srgbClr val="2A2929"/>
                          </a:solidFill>
                          <a:latin typeface="Roboto"/>
                        </a:rPr>
                        <a:t>&lt; 15%</a:t>
                      </a:r>
                    </a:p>
                  </a:txBody>
                  <a:tcPr marL="76200" marR="76200" marT="50800" marB="50800">
                    <a:solidFill>
                      <a:srgbClr val="FFFFFF"/>
                    </a:solidFill>
                  </a:tcPr>
                </a:tc>
                <a:extLst>
                  <a:ext uri="{0D108BD9-81ED-4DB2-BD59-A6C34878D82A}">
                    <a16:rowId xmlns:a16="http://schemas.microsoft.com/office/drawing/2014/main" val="10003"/>
                  </a:ext>
                </a:extLst>
              </a:tr>
              <a:tr h="457200">
                <a:tc>
                  <a:txBody>
                    <a:bodyPr/>
                    <a:lstStyle/>
                    <a:p>
                      <a:r>
                        <a:rPr sz="1300" b="0" i="0">
                          <a:solidFill>
                            <a:srgbClr val="2A2929"/>
                          </a:solidFill>
                          <a:latin typeface="Roboto"/>
                        </a:rPr>
                        <a:t>ALB target 5XX / unhealthy host</a:t>
                      </a:r>
                    </a:p>
                  </a:txBody>
                  <a:tcPr marL="76200" marR="76200" marT="50800" marB="50800">
                    <a:solidFill>
                      <a:srgbClr val="F9F9F9"/>
                    </a:solidFill>
                  </a:tcPr>
                </a:tc>
                <a:tc>
                  <a:txBody>
                    <a:bodyPr/>
                    <a:lstStyle/>
                    <a:p>
                      <a:r>
                        <a:rPr sz="1300" b="0" i="0">
                          <a:solidFill>
                            <a:srgbClr val="2A2929"/>
                          </a:solidFill>
                          <a:latin typeface="Roboto"/>
                        </a:rPr>
                        <a:t>&gt; 5 / min, or any unhealthy host</a:t>
                      </a:r>
                    </a:p>
                  </a:txBody>
                  <a:tcPr marL="76200" marR="76200" marT="50800" marB="50800">
                    <a:solidFill>
                      <a:srgbClr val="F9F9F9"/>
                    </a:solidFill>
                  </a:tcPr>
                </a:tc>
                <a:extLst>
                  <a:ext uri="{0D108BD9-81ED-4DB2-BD59-A6C34878D82A}">
                    <a16:rowId xmlns:a16="http://schemas.microsoft.com/office/drawing/2014/main" val="10004"/>
                  </a:ext>
                </a:extLst>
              </a:tr>
              <a:tr h="457200">
                <a:tc>
                  <a:txBody>
                    <a:bodyPr/>
                    <a:lstStyle/>
                    <a:p>
                      <a:r>
                        <a:rPr sz="1300" b="0" i="0">
                          <a:solidFill>
                            <a:srgbClr val="2A2929"/>
                          </a:solidFill>
                          <a:latin typeface="Roboto"/>
                        </a:rPr>
                        <a:t>RDS connections high</a:t>
                      </a:r>
                    </a:p>
                  </a:txBody>
                  <a:tcPr marL="76200" marR="76200" marT="50800" marB="50800">
                    <a:solidFill>
                      <a:srgbClr val="FFFFFF"/>
                    </a:solidFill>
                  </a:tcPr>
                </a:tc>
                <a:tc>
                  <a:txBody>
                    <a:bodyPr/>
                    <a:lstStyle/>
                    <a:p>
                      <a:r>
                        <a:rPr sz="1300" b="0" i="0">
                          <a:solidFill>
                            <a:srgbClr val="2A2929"/>
                          </a:solidFill>
                          <a:latin typeface="Roboto"/>
                        </a:rPr>
                        <a:t>&gt; 80% of max</a:t>
                      </a:r>
                    </a:p>
                  </a:txBody>
                  <a:tcPr marL="76200" marR="76200" marT="50800" marB="50800">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58368" y="5943600"/>
            <a:ext cx="10881360" cy="457200"/>
          </a:xfrm>
          <a:prstGeom prst="rect">
            <a:avLst/>
          </a:prstGeom>
          <a:noFill/>
        </p:spPr>
        <p:txBody>
          <a:bodyPr wrap="square" lIns="0" tIns="0" rIns="0" bIns="0" anchor="t">
            <a:spAutoFit/>
          </a:bodyPr>
          <a:lstStyle/>
          <a:p>
            <a:r>
              <a:rPr sz="1500" b="0" i="1">
                <a:solidFill>
                  <a:srgbClr val="484848"/>
                </a:solidFill>
                <a:latin typeface="Roboto Light"/>
              </a:rPr>
              <a:t>Logging: VPC flow logs + RDS logs → CloudWatch Logs; ALB access logs → S3; EC2 OS logs via the CloudWatch Agent; audit-relevant logs retained 7 years. HA-tuned alarms come in AT3.</a:t>
            </a:r>
          </a:p>
        </p:txBody>
      </p:sp>
      <p:sp>
        <p:nvSpPr>
          <p:cNvPr id="6" name="Rectangle 5"/>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640080" y="384048"/>
            <a:ext cx="2240280" cy="457200"/>
          </a:xfrm>
          <a:prstGeom prst="round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2A2929"/>
                </a:solidFill>
                <a:latin typeface="Roboto"/>
              </a:rPr>
              <a:t>DEMONSTRATION</a:t>
            </a:r>
          </a:p>
        </p:txBody>
      </p:sp>
      <p:sp>
        <p:nvSpPr>
          <p:cNvPr id="4" name="TextBox 3"/>
          <p:cNvSpPr txBox="1"/>
          <p:nvPr/>
        </p:nvSpPr>
        <p:spPr>
          <a:xfrm>
            <a:off x="3200400" y="310896"/>
            <a:ext cx="8321040" cy="685800"/>
          </a:xfrm>
          <a:prstGeom prst="rect">
            <a:avLst/>
          </a:prstGeom>
          <a:noFill/>
        </p:spPr>
        <p:txBody>
          <a:bodyPr wrap="square" lIns="0" tIns="0" rIns="0" bIns="0" anchor="ctr">
            <a:spAutoFit/>
          </a:bodyPr>
          <a:lstStyle/>
          <a:p>
            <a:r>
              <a:rPr sz="2500" b="1" i="0">
                <a:solidFill>
                  <a:srgbClr val="FFFFFF"/>
                </a:solidFill>
                <a:latin typeface="Roboto"/>
              </a:rPr>
              <a:t>Create a CloudWatch alarm</a:t>
            </a:r>
          </a:p>
        </p:txBody>
      </p:sp>
      <p:sp>
        <p:nvSpPr>
          <p:cNvPr id="5" name="TextBox 4"/>
          <p:cNvSpPr txBox="1"/>
          <p:nvPr/>
        </p:nvSpPr>
        <p:spPr>
          <a:xfrm>
            <a:off x="658368" y="1554480"/>
            <a:ext cx="10881360" cy="4297680"/>
          </a:xfrm>
          <a:prstGeom prst="rect">
            <a:avLst/>
          </a:prstGeom>
          <a:noFill/>
        </p:spPr>
        <p:txBody>
          <a:bodyPr wrap="square" lIns="0" tIns="0" rIns="0" bIns="0" anchor="t">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Pick a metric (e.g. EC2 CPU) and set a threshold and period.</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Choose the action — a notification (SNS), or an Auto Scaling action.</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Confirm the alarm state, and view it on a dashboard.</a:t>
            </a:r>
          </a:p>
        </p:txBody>
      </p:sp>
      <p:sp>
        <p:nvSpPr>
          <p:cNvPr id="6" name="Rounded Rectangle 5"/>
          <p:cNvSpPr/>
          <p:nvPr/>
        </p:nvSpPr>
        <p:spPr>
          <a:xfrm>
            <a:off x="640080" y="5897880"/>
            <a:ext cx="658368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5943600"/>
            <a:ext cx="6217920" cy="365760"/>
          </a:xfrm>
          <a:prstGeom prst="rect">
            <a:avLst/>
          </a:prstGeom>
          <a:noFill/>
        </p:spPr>
        <p:txBody>
          <a:bodyPr wrap="square" lIns="0" tIns="0" rIns="0" bIns="0" anchor="ctr">
            <a:spAutoFit/>
          </a:bodyPr>
          <a:lstStyle/>
          <a:p>
            <a:r>
              <a:rPr sz="1400" b="1" i="0">
                <a:solidFill>
                  <a:srgbClr val="2A2929"/>
                </a:solidFill>
                <a:latin typeface="Roboto"/>
              </a:rPr>
              <a:t>▶  Instructor demonstrates live (no recorded demo) — you do this next</a:t>
            </a:r>
          </a:p>
        </p:txBody>
      </p:sp>
      <p:sp>
        <p:nvSpPr>
          <p:cNvPr id="8" name="Rectangle 7"/>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lIns="0" tIns="0" rIns="0" bIns="0" anchor="ctr">
            <a:spAutoFit/>
          </a:bodyPr>
          <a:lstStyle/>
          <a:p>
            <a:r>
              <a:rPr sz="2600" b="1" i="0">
                <a:solidFill>
                  <a:srgbClr val="FFFFFF"/>
                </a:solidFill>
                <a:latin typeface="Roboto"/>
              </a:rPr>
              <a:t>Stand up the baseline monitoring</a:t>
            </a:r>
          </a:p>
        </p:txBody>
      </p:sp>
      <p:sp>
        <p:nvSpPr>
          <p:cNvPr id="5" name="TextBox 4"/>
          <p:cNvSpPr txBox="1"/>
          <p:nvPr/>
        </p:nvSpPr>
        <p:spPr>
          <a:xfrm>
            <a:off x="658368" y="1554480"/>
            <a:ext cx="10881360" cy="4297680"/>
          </a:xfrm>
          <a:prstGeom prst="rect">
            <a:avLst/>
          </a:prstGeom>
          <a:noFill/>
        </p:spPr>
        <p:txBody>
          <a:bodyPr wrap="square" lIns="0" tIns="0" rIns="0" bIns="0" anchor="t">
            <a:spAutoFit/>
          </a:bodyPr>
          <a:lstStyle/>
          <a:p>
            <a:pPr marL="0" indent="0">
              <a:lnSpc>
                <a:spcPct val="105000"/>
              </a:lnSpc>
              <a:spcBef>
                <a:spcPts val="0"/>
              </a:spcBef>
              <a:spcAft>
                <a:spcPts val="1000"/>
              </a:spcAft>
            </a:pPr>
            <a:r>
              <a:rPr sz="1700" b="1" i="0">
                <a:solidFill>
                  <a:srgbClr val="EDAB0C"/>
                </a:solidFill>
                <a:latin typeface="Roboto"/>
              </a:rPr>
              <a:t>■  </a:t>
            </a:r>
            <a:r>
              <a:rPr sz="1700" b="1" i="0">
                <a:solidFill>
                  <a:srgbClr val="2A2929"/>
                </a:solidFill>
                <a:latin typeface="Roboto"/>
              </a:rPr>
              <a:t>In the lab, per the design's §4.10:</a:t>
            </a:r>
          </a:p>
          <a:p>
            <a:pPr marL="365760" indent="0">
              <a:lnSpc>
                <a:spcPct val="105000"/>
              </a:lnSpc>
              <a:spcBef>
                <a:spcPts val="0"/>
              </a:spcBef>
              <a:spcAft>
                <a:spcPts val="500"/>
              </a:spcAft>
            </a:pPr>
            <a:r>
              <a:rPr sz="1400" b="0" i="0">
                <a:solidFill>
                  <a:srgbClr val="7A7A7A"/>
                </a:solidFill>
                <a:latin typeface="Roboto"/>
              </a:rPr>
              <a:t>–  </a:t>
            </a:r>
            <a:r>
              <a:rPr sz="1400" b="0" i="0">
                <a:solidFill>
                  <a:srgbClr val="2A2929"/>
                </a:solidFill>
                <a:latin typeface="Roboto"/>
              </a:rPr>
              <a:t>create the baseline alarms (EC2/RDS CPU, RDS storage + connections, ALB 5XX/unhealthy)</a:t>
            </a:r>
          </a:p>
          <a:p>
            <a:pPr marL="365760" indent="0">
              <a:lnSpc>
                <a:spcPct val="105000"/>
              </a:lnSpc>
              <a:spcBef>
                <a:spcPts val="0"/>
              </a:spcBef>
              <a:spcAft>
                <a:spcPts val="500"/>
              </a:spcAft>
            </a:pPr>
            <a:r>
              <a:rPr sz="1400" b="0" i="0">
                <a:solidFill>
                  <a:srgbClr val="7A7A7A"/>
                </a:solidFill>
                <a:latin typeface="Roboto"/>
              </a:rPr>
              <a:t>–  </a:t>
            </a:r>
            <a:r>
              <a:rPr sz="1400" b="0" i="0">
                <a:solidFill>
                  <a:srgbClr val="2A2929"/>
                </a:solidFill>
                <a:latin typeface="Roboto"/>
              </a:rPr>
              <a:t>enable the logging destinations (CloudWatch Logs, ALB access logs to S3, the CloudWatch Agent)</a:t>
            </a:r>
          </a:p>
          <a:p>
            <a:pPr marL="0" indent="0">
              <a:lnSpc>
                <a:spcPct val="105000"/>
              </a:lnSpc>
              <a:spcBef>
                <a:spcPts val="0"/>
              </a:spcBef>
              <a:spcAft>
                <a:spcPts val="1000"/>
              </a:spcAft>
            </a:pPr>
            <a:r>
              <a:rPr sz="1700" b="1" i="0">
                <a:solidFill>
                  <a:srgbClr val="92268F"/>
                </a:solidFill>
                <a:latin typeface="Roboto"/>
              </a:rPr>
              <a:t>■  Capture evidence — the alarms and the log configuration.</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5943600"/>
            <a:ext cx="3657600" cy="365760"/>
          </a:xfrm>
          <a:prstGeom prst="rect">
            <a:avLst/>
          </a:prstGeom>
          <a:noFill/>
        </p:spPr>
        <p:txBody>
          <a:bodyPr wrap="square" lIns="0" tIns="0" rIns="0" bIns="0" anchor="ctr">
            <a:spAutoFit/>
          </a:bodyPr>
          <a:lstStyle/>
          <a:p>
            <a:r>
              <a:rPr sz="1500" b="1" i="0">
                <a:solidFill>
                  <a:srgbClr val="2A2929"/>
                </a:solidFill>
                <a:latin typeface="Roboto"/>
              </a:rPr>
              <a:t>⏱  ~15 min</a:t>
            </a:r>
          </a:p>
        </p:txBody>
      </p:sp>
      <p:sp>
        <p:nvSpPr>
          <p:cNvPr id="8" name="Rectangle 7"/>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640080" y="548640"/>
            <a:ext cx="10881360" cy="1097280"/>
          </a:xfrm>
          <a:prstGeom prst="rect">
            <a:avLst/>
          </a:prstGeom>
          <a:noFill/>
        </p:spPr>
        <p:txBody>
          <a:bodyPr wrap="square" lIns="0" tIns="0" rIns="0" bIns="0" anchor="t">
            <a:spAutoFit/>
          </a:bodyPr>
          <a:lstStyle/>
          <a:p>
            <a:r>
              <a:rPr sz="3200" b="1" i="0">
                <a:solidFill>
                  <a:srgbClr val="2A2929"/>
                </a:solidFill>
                <a:latin typeface="Roboto"/>
              </a:rPr>
              <a:t>Key takeaways</a:t>
            </a:r>
          </a:p>
          <a:p>
            <a:pPr>
              <a:spcBef>
                <a:spcPts val="200"/>
              </a:spcBef>
            </a:pPr>
            <a:r>
              <a:rPr sz="1800" b="1" i="0">
                <a:solidFill>
                  <a:srgbClr val="92268F"/>
                </a:solidFill>
                <a:latin typeface="Roboto"/>
              </a:rPr>
              <a:t>Section 1 · Monitoring</a:t>
            </a:r>
          </a:p>
        </p:txBody>
      </p:sp>
      <p:sp>
        <p:nvSpPr>
          <p:cNvPr id="3" name="Rectangle 2"/>
          <p:cNvSpPr/>
          <p:nvPr/>
        </p:nvSpPr>
        <p:spPr>
          <a:xfrm>
            <a:off x="658368" y="16002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0" y="1965960"/>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965960"/>
            <a:ext cx="109728" cy="841248"/>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965960"/>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A metric is measured over time; an alarm fires on a threshold; a log records events.</a:t>
            </a:r>
          </a:p>
        </p:txBody>
      </p:sp>
      <p:sp>
        <p:nvSpPr>
          <p:cNvPr id="7" name="Rectangle 6"/>
          <p:cNvSpPr/>
          <p:nvPr/>
        </p:nvSpPr>
        <p:spPr>
          <a:xfrm>
            <a:off x="640080" y="2916936"/>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2916936"/>
            <a:ext cx="109728" cy="841248"/>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2916936"/>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CloudWatch collects metrics + logs, alarms, and dashboards in one place.</a:t>
            </a:r>
          </a:p>
        </p:txBody>
      </p:sp>
      <p:sp>
        <p:nvSpPr>
          <p:cNvPr id="10" name="Rectangle 9"/>
          <p:cNvSpPr/>
          <p:nvPr/>
        </p:nvSpPr>
        <p:spPr>
          <a:xfrm>
            <a:off x="640080" y="3867912"/>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40080" y="3867912"/>
            <a:ext cx="109728" cy="841248"/>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0120" y="3867912"/>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Build the design's baseline alarms + logging — HA-tuned alarms are AT3.</a:t>
            </a:r>
          </a:p>
        </p:txBody>
      </p:sp>
      <p:sp>
        <p:nvSpPr>
          <p:cNvPr id="13" name="Rectangle 12"/>
          <p:cNvSpPr/>
          <p:nvPr/>
        </p:nvSpPr>
        <p:spPr>
          <a:xfrm>
            <a:off x="640080" y="4818888"/>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0080" y="4818888"/>
            <a:ext cx="109728" cy="841248"/>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60120" y="4818888"/>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Monitoring is evidence: capture the alarms and log config.</a:t>
            </a:r>
          </a:p>
        </p:txBody>
      </p:sp>
      <p:sp>
        <p:nvSpPr>
          <p:cNvPr id="16" name="Rectangle 15"/>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8" name="TextBox 17"/>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3931920" cy="68580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103120"/>
            <a:ext cx="3291840" cy="2194560"/>
          </a:xfrm>
          <a:prstGeom prst="rect">
            <a:avLst/>
          </a:prstGeom>
          <a:noFill/>
        </p:spPr>
        <p:txBody>
          <a:bodyPr wrap="square" lIns="0" tIns="0" rIns="0" bIns="0" anchor="t">
            <a:spAutoFit/>
          </a:bodyPr>
          <a:lstStyle/>
          <a:p>
            <a:r>
              <a:rPr sz="13000" b="1" i="0">
                <a:solidFill>
                  <a:srgbClr val="FFFFFF"/>
                </a:solidFill>
                <a:latin typeface="Roboto"/>
              </a:rPr>
              <a:t>02</a:t>
            </a:r>
          </a:p>
        </p:txBody>
      </p:sp>
      <p:sp>
        <p:nvSpPr>
          <p:cNvPr id="4" name="TextBox 3"/>
          <p:cNvSpPr txBox="1"/>
          <p:nvPr/>
        </p:nvSpPr>
        <p:spPr>
          <a:xfrm>
            <a:off x="4480560" y="2468880"/>
            <a:ext cx="7132320" cy="2194560"/>
          </a:xfrm>
          <a:prstGeom prst="rect">
            <a:avLst/>
          </a:prstGeom>
          <a:noFill/>
        </p:spPr>
        <p:txBody>
          <a:bodyPr wrap="square" lIns="0" tIns="0" rIns="0" bIns="0" anchor="t">
            <a:spAutoFit/>
          </a:bodyPr>
          <a:lstStyle/>
          <a:p>
            <a:r>
              <a:rPr sz="1600" b="1" i="0">
                <a:solidFill>
                  <a:srgbClr val="27B5CE"/>
                </a:solidFill>
                <a:latin typeface="Roboto"/>
              </a:rPr>
              <a:t>SECTION</a:t>
            </a:r>
          </a:p>
          <a:p>
            <a:pPr>
              <a:spcBef>
                <a:spcPts val="600"/>
              </a:spcBef>
            </a:pPr>
            <a:r>
              <a:rPr sz="3800" b="1" i="0">
                <a:solidFill>
                  <a:srgbClr val="2A2929"/>
                </a:solidFill>
                <a:latin typeface="Roboto"/>
              </a:rPr>
              <a:t>Validation</a:t>
            </a:r>
          </a:p>
          <a:p>
            <a:pPr>
              <a:spcBef>
                <a:spcPts val="1000"/>
              </a:spcBef>
            </a:pPr>
            <a:r>
              <a:rPr sz="2000" b="0" i="1">
                <a:solidFill>
                  <a:srgbClr val="484848"/>
                </a:solidFill>
                <a:latin typeface="Roboto Light"/>
              </a:rPr>
              <a:t>does it meet the design?</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lIns="0" tIns="0" rIns="0" bIns="0" anchor="t">
            <a:spAutoFit/>
          </a:bodyPr>
          <a:lstStyle/>
          <a:p>
            <a:pPr algn="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881360" cy="960120"/>
          </a:xfrm>
          <a:prstGeom prst="rect">
            <a:avLst/>
          </a:prstGeom>
          <a:noFill/>
        </p:spPr>
        <p:txBody>
          <a:bodyPr wrap="square" lIns="0" tIns="0" rIns="0" bIns="0" anchor="t">
            <a:spAutoFit/>
          </a:bodyPr>
          <a:lstStyle/>
          <a:p>
            <a:r>
              <a:rPr sz="2800" b="1" i="0">
                <a:solidFill>
                  <a:srgbClr val="2A2929"/>
                </a:solidFill>
                <a:latin typeface="Roboto"/>
              </a:rPr>
              <a:t>What validation is</a:t>
            </a:r>
          </a:p>
          <a:p>
            <a:pPr>
              <a:spcBef>
                <a:spcPts val="200"/>
              </a:spcBef>
            </a:pPr>
            <a:r>
              <a:rPr sz="1800" b="0" i="1">
                <a:solidFill>
                  <a:srgbClr val="D68E10"/>
                </a:solidFill>
                <a:latin typeface="Roboto Light"/>
              </a:rPr>
              <a:t>the fundamentals</a:t>
            </a:r>
          </a:p>
        </p:txBody>
      </p:sp>
      <p:sp>
        <p:nvSpPr>
          <p:cNvPr id="3" name="Rectangle 2"/>
          <p:cNvSpPr/>
          <p:nvPr/>
        </p:nvSpPr>
        <p:spPr>
          <a:xfrm>
            <a:off x="658368" y="13716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691640"/>
            <a:ext cx="10881360" cy="4480560"/>
          </a:xfrm>
          <a:prstGeom prst="rect">
            <a:avLst/>
          </a:prstGeom>
          <a:noFill/>
        </p:spPr>
        <p:txBody>
          <a:bodyPr wrap="square" lIns="0" tIns="0" rIns="0" bIns="0" anchor="t">
            <a:spAutoFit/>
          </a:bodyPr>
          <a:lstStyle/>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Building something is not the same as confirming it does what was asked.</a:t>
            </a:r>
          </a:p>
          <a:p>
            <a:pPr marL="0" indent="0">
              <a:lnSpc>
                <a:spcPct val="105000"/>
              </a:lnSpc>
              <a:spcBef>
                <a:spcPts val="0"/>
              </a:spcBef>
              <a:spcAft>
                <a:spcPts val="1000"/>
              </a:spcAft>
            </a:pPr>
            <a:r>
              <a:rPr sz="1800" b="1" i="0">
                <a:solidFill>
                  <a:srgbClr val="27B5CE"/>
                </a:solidFill>
                <a:latin typeface="Roboto"/>
              </a:rPr>
              <a:t>■  Validation = test → observe → compare to the requirement/design → fix.</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It's how you (and the assessor) know the build actually meets the spec.</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881360" cy="960120"/>
          </a:xfrm>
          <a:prstGeom prst="rect">
            <a:avLst/>
          </a:prstGeom>
          <a:noFill/>
        </p:spPr>
        <p:txBody>
          <a:bodyPr wrap="square" lIns="0" tIns="0" rIns="0" bIns="0" anchor="t">
            <a:spAutoFit/>
          </a:bodyPr>
          <a:lstStyle/>
          <a:p>
            <a:r>
              <a:rPr sz="2800" b="1" i="0">
                <a:solidFill>
                  <a:srgbClr val="2A2929"/>
                </a:solidFill>
                <a:latin typeface="Roboto"/>
              </a:rPr>
              <a:t>Validate against the design + recovery objectives</a:t>
            </a:r>
          </a:p>
          <a:p>
            <a:pPr>
              <a:spcBef>
                <a:spcPts val="200"/>
              </a:spcBef>
            </a:pPr>
            <a:r>
              <a:rPr sz="1800" b="0" i="1">
                <a:solidFill>
                  <a:srgbClr val="D68E10"/>
                </a:solidFill>
                <a:latin typeface="Roboto Light"/>
              </a:rPr>
              <a:t>consolidate the tests</a:t>
            </a:r>
          </a:p>
        </p:txBody>
      </p:sp>
      <p:sp>
        <p:nvSpPr>
          <p:cNvPr id="3" name="Rectangle 2"/>
          <p:cNvSpPr/>
          <p:nvPr/>
        </p:nvSpPr>
        <p:spPr>
          <a:xfrm>
            <a:off x="658368" y="13716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691640"/>
            <a:ext cx="10881360" cy="4480560"/>
          </a:xfrm>
          <a:prstGeom prst="rect">
            <a:avLst/>
          </a:prstGeom>
          <a:noFill/>
        </p:spPr>
        <p:txBody>
          <a:bodyPr wrap="square" lIns="0" tIns="0" rIns="0" bIns="0" anchor="t">
            <a:spAutoFit/>
          </a:bodyPr>
          <a:lstStyle/>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Pull together the tests you've already run: connectivity (Reachability Analyzer), app→database, and scaling.</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Check the build meets the design's recovery objectives: RPO ≤ 1 hour, RTO ≤ 1 business day.</a:t>
            </a:r>
          </a:p>
          <a:p>
            <a:pPr marL="0" indent="0">
              <a:lnSpc>
                <a:spcPct val="105000"/>
              </a:lnSpc>
              <a:spcBef>
                <a:spcPts val="0"/>
              </a:spcBef>
              <a:spcAft>
                <a:spcPts val="1000"/>
              </a:spcAft>
            </a:pPr>
            <a:r>
              <a:rPr sz="1800" b="1" i="0">
                <a:solidFill>
                  <a:srgbClr val="27B5CE"/>
                </a:solidFill>
                <a:latin typeface="Roboto"/>
              </a:rPr>
              <a:t>■  Name the known limit honestly: this baseline is single-AZ — the single AZ and single RDS instance are SPOFs.</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That SPOF is tolerable for a business-hours service now, and is the objective of the AT3 HA design.</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lIns="0" tIns="0" rIns="0" bIns="0" anchor="ctr">
            <a:spAutoFit/>
          </a:bodyPr>
          <a:lstStyle/>
          <a:p>
            <a:r>
              <a:rPr sz="2600" b="1" i="0">
                <a:solidFill>
                  <a:srgbClr val="FFFFFF"/>
                </a:solidFill>
                <a:latin typeface="Roboto"/>
              </a:rPr>
              <a:t>Validate the build</a:t>
            </a:r>
          </a:p>
        </p:txBody>
      </p:sp>
      <p:sp>
        <p:nvSpPr>
          <p:cNvPr id="5" name="TextBox 4"/>
          <p:cNvSpPr txBox="1"/>
          <p:nvPr/>
        </p:nvSpPr>
        <p:spPr>
          <a:xfrm>
            <a:off x="658368" y="1554480"/>
            <a:ext cx="10881360" cy="4297680"/>
          </a:xfrm>
          <a:prstGeom prst="rect">
            <a:avLst/>
          </a:prstGeom>
          <a:noFill/>
        </p:spPr>
        <p:txBody>
          <a:bodyPr wrap="square" lIns="0" tIns="0" rIns="0" bIns="0" anchor="t">
            <a:spAutoFit/>
          </a:bodyPr>
          <a:lstStyle/>
          <a:p>
            <a:pPr marL="0" indent="0">
              <a:lnSpc>
                <a:spcPct val="105000"/>
              </a:lnSpc>
              <a:spcBef>
                <a:spcPts val="0"/>
              </a:spcBef>
              <a:spcAft>
                <a:spcPts val="1000"/>
              </a:spcAft>
            </a:pPr>
            <a:r>
              <a:rPr sz="1700" b="1" i="0">
                <a:solidFill>
                  <a:srgbClr val="EDAB0C"/>
                </a:solidFill>
                <a:latin typeface="Roboto"/>
              </a:rPr>
              <a:t>■  </a:t>
            </a:r>
            <a:r>
              <a:rPr sz="1700" b="1" i="0">
                <a:solidFill>
                  <a:srgbClr val="2A2929"/>
                </a:solidFill>
                <a:latin typeface="Roboto"/>
              </a:rPr>
              <a:t>In the lab, run a validation pass against the design:</a:t>
            </a:r>
          </a:p>
          <a:p>
            <a:pPr marL="365760" indent="0">
              <a:lnSpc>
                <a:spcPct val="105000"/>
              </a:lnSpc>
              <a:spcBef>
                <a:spcPts val="0"/>
              </a:spcBef>
              <a:spcAft>
                <a:spcPts val="500"/>
              </a:spcAft>
            </a:pPr>
            <a:r>
              <a:rPr sz="1400" b="0" i="0">
                <a:solidFill>
                  <a:srgbClr val="7A7A7A"/>
                </a:solidFill>
                <a:latin typeface="Roboto"/>
              </a:rPr>
              <a:t>–  </a:t>
            </a:r>
            <a:r>
              <a:rPr sz="1400" b="0" i="0">
                <a:solidFill>
                  <a:srgbClr val="2A2929"/>
                </a:solidFill>
                <a:latin typeface="Roboto"/>
              </a:rPr>
              <a:t>confirm connectivity (staff→ALB, app→database) and the scaling behaviour</a:t>
            </a:r>
          </a:p>
          <a:p>
            <a:pPr marL="365760" indent="0">
              <a:lnSpc>
                <a:spcPct val="105000"/>
              </a:lnSpc>
              <a:spcBef>
                <a:spcPts val="0"/>
              </a:spcBef>
              <a:spcAft>
                <a:spcPts val="500"/>
              </a:spcAft>
            </a:pPr>
            <a:r>
              <a:rPr sz="1400" b="0" i="0">
                <a:solidFill>
                  <a:srgbClr val="7A7A7A"/>
                </a:solidFill>
                <a:latin typeface="Roboto"/>
              </a:rPr>
              <a:t>–  </a:t>
            </a:r>
            <a:r>
              <a:rPr sz="1400" b="0" i="0">
                <a:solidFill>
                  <a:srgbClr val="2A2929"/>
                </a:solidFill>
                <a:latin typeface="Roboto"/>
              </a:rPr>
              <a:t>check the recovery objectives are met; note the single-AZ SPOF</a:t>
            </a:r>
          </a:p>
          <a:p>
            <a:pPr marL="0" indent="0">
              <a:lnSpc>
                <a:spcPct val="105000"/>
              </a:lnSpc>
              <a:spcBef>
                <a:spcPts val="0"/>
              </a:spcBef>
              <a:spcAft>
                <a:spcPts val="1000"/>
              </a:spcAft>
            </a:pPr>
            <a:r>
              <a:rPr sz="1700" b="1" i="0">
                <a:solidFill>
                  <a:srgbClr val="27B5CE"/>
                </a:solidFill>
                <a:latin typeface="Roboto"/>
              </a:rPr>
              <a:t>■  Record each result and any fix; capture evidence.</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5943600"/>
            <a:ext cx="3657600" cy="365760"/>
          </a:xfrm>
          <a:prstGeom prst="rect">
            <a:avLst/>
          </a:prstGeom>
          <a:noFill/>
        </p:spPr>
        <p:txBody>
          <a:bodyPr wrap="square" lIns="0" tIns="0" rIns="0" bIns="0" anchor="ctr">
            <a:spAutoFit/>
          </a:bodyPr>
          <a:lstStyle/>
          <a:p>
            <a:r>
              <a:rPr sz="1500" b="1" i="0">
                <a:solidFill>
                  <a:srgbClr val="2A2929"/>
                </a:solidFill>
                <a:latin typeface="Roboto"/>
              </a:rPr>
              <a:t>⏱  ~15 min</a:t>
            </a:r>
          </a:p>
        </p:txBody>
      </p:sp>
      <p:sp>
        <p:nvSpPr>
          <p:cNvPr id="8" name="Rectangle 7"/>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10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640080" y="548640"/>
            <a:ext cx="10881360" cy="1097280"/>
          </a:xfrm>
          <a:prstGeom prst="rect">
            <a:avLst/>
          </a:prstGeom>
          <a:noFill/>
        </p:spPr>
        <p:txBody>
          <a:bodyPr wrap="square" lIns="0" tIns="0" rIns="0" bIns="0" anchor="t">
            <a:spAutoFit/>
          </a:bodyPr>
          <a:lstStyle/>
          <a:p>
            <a:r>
              <a:rPr sz="3200" b="1" i="0">
                <a:solidFill>
                  <a:srgbClr val="2A2929"/>
                </a:solidFill>
                <a:latin typeface="Roboto"/>
              </a:rPr>
              <a:t>Key takeaways</a:t>
            </a:r>
          </a:p>
          <a:p>
            <a:pPr>
              <a:spcBef>
                <a:spcPts val="200"/>
              </a:spcBef>
            </a:pPr>
            <a:r>
              <a:rPr sz="1800" b="1" i="0">
                <a:solidFill>
                  <a:srgbClr val="27B5CE"/>
                </a:solidFill>
                <a:latin typeface="Roboto"/>
              </a:rPr>
              <a:t>Section 2 · Validation</a:t>
            </a:r>
          </a:p>
        </p:txBody>
      </p:sp>
      <p:sp>
        <p:nvSpPr>
          <p:cNvPr id="3" name="Rectangle 2"/>
          <p:cNvSpPr/>
          <p:nvPr/>
        </p:nvSpPr>
        <p:spPr>
          <a:xfrm>
            <a:off x="658368" y="16002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0" y="1965960"/>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965960"/>
            <a:ext cx="109728" cy="841248"/>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965960"/>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Validation confirms the build meets the requirement — not just that it exists.</a:t>
            </a:r>
          </a:p>
        </p:txBody>
      </p:sp>
      <p:sp>
        <p:nvSpPr>
          <p:cNvPr id="7" name="Rectangle 6"/>
          <p:cNvSpPr/>
          <p:nvPr/>
        </p:nvSpPr>
        <p:spPr>
          <a:xfrm>
            <a:off x="640080" y="2916936"/>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2916936"/>
            <a:ext cx="109728" cy="841248"/>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2916936"/>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Consolidate the connectivity + scaling tests into a check against the design.</a:t>
            </a:r>
          </a:p>
        </p:txBody>
      </p:sp>
      <p:sp>
        <p:nvSpPr>
          <p:cNvPr id="10" name="Rectangle 9"/>
          <p:cNvSpPr/>
          <p:nvPr/>
        </p:nvSpPr>
        <p:spPr>
          <a:xfrm>
            <a:off x="640080" y="3867912"/>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40080" y="3867912"/>
            <a:ext cx="109728" cy="841248"/>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0120" y="3867912"/>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Check the recovery objectives; name the single-AZ SPOF honestly.</a:t>
            </a:r>
          </a:p>
        </p:txBody>
      </p:sp>
      <p:sp>
        <p:nvSpPr>
          <p:cNvPr id="13" name="Rectangle 12"/>
          <p:cNvSpPr/>
          <p:nvPr/>
        </p:nvSpPr>
        <p:spPr>
          <a:xfrm>
            <a:off x="640080" y="4818888"/>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0080" y="4818888"/>
            <a:ext cx="109728" cy="841248"/>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60120" y="4818888"/>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Record results and fixes — they're report evidence.</a:t>
            </a:r>
          </a:p>
        </p:txBody>
      </p:sp>
      <p:sp>
        <p:nvSpPr>
          <p:cNvPr id="16" name="Rectangle 15"/>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8" name="TextBox 17"/>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11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3931920" cy="68580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2103120"/>
            <a:ext cx="3291840" cy="2194560"/>
          </a:xfrm>
          <a:prstGeom prst="rect">
            <a:avLst/>
          </a:prstGeom>
          <a:noFill/>
        </p:spPr>
        <p:txBody>
          <a:bodyPr wrap="square" lIns="0" tIns="0" rIns="0" bIns="0" anchor="t">
            <a:spAutoFit/>
          </a:bodyPr>
          <a:lstStyle/>
          <a:p>
            <a:r>
              <a:rPr sz="13000" b="1" i="0">
                <a:solidFill>
                  <a:srgbClr val="FFFFFF"/>
                </a:solidFill>
                <a:latin typeface="Roboto"/>
              </a:rPr>
              <a:t>03</a:t>
            </a:r>
          </a:p>
        </p:txBody>
      </p:sp>
      <p:sp>
        <p:nvSpPr>
          <p:cNvPr id="4" name="TextBox 3"/>
          <p:cNvSpPr txBox="1"/>
          <p:nvPr/>
        </p:nvSpPr>
        <p:spPr>
          <a:xfrm>
            <a:off x="4480560" y="2468880"/>
            <a:ext cx="7132320" cy="2194560"/>
          </a:xfrm>
          <a:prstGeom prst="rect">
            <a:avLst/>
          </a:prstGeom>
          <a:noFill/>
        </p:spPr>
        <p:txBody>
          <a:bodyPr wrap="square" lIns="0" tIns="0" rIns="0" bIns="0" anchor="t">
            <a:spAutoFit/>
          </a:bodyPr>
          <a:lstStyle/>
          <a:p>
            <a:r>
              <a:rPr sz="1600" b="1" i="0">
                <a:solidFill>
                  <a:srgbClr val="205F61"/>
                </a:solidFill>
                <a:latin typeface="Roboto"/>
              </a:rPr>
              <a:t>SECTION</a:t>
            </a:r>
          </a:p>
          <a:p>
            <a:pPr>
              <a:spcBef>
                <a:spcPts val="600"/>
              </a:spcBef>
            </a:pPr>
            <a:r>
              <a:rPr sz="3800" b="1" i="0">
                <a:solidFill>
                  <a:srgbClr val="2A2929"/>
                </a:solidFill>
                <a:latin typeface="Roboto"/>
              </a:rPr>
              <a:t>Justifying your decisions</a:t>
            </a:r>
          </a:p>
          <a:p>
            <a:pPr>
              <a:spcBef>
                <a:spcPts val="1000"/>
              </a:spcBef>
            </a:pPr>
            <a:r>
              <a:rPr sz="2000" b="0" i="1">
                <a:solidFill>
                  <a:srgbClr val="484848"/>
                </a:solidFill>
                <a:latin typeface="Roboto Light"/>
              </a:rPr>
              <a:t>C1–C8 against the workload</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lIns="0" tIns="0" rIns="0" bIns="0" anchor="t">
            <a:spAutoFit/>
          </a:bodyPr>
          <a:lstStyle/>
          <a:p>
            <a:pPr algn="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881360" cy="960120"/>
          </a:xfrm>
          <a:prstGeom prst="rect">
            <a:avLst/>
          </a:prstGeom>
          <a:noFill/>
        </p:spPr>
        <p:txBody>
          <a:bodyPr wrap="square" lIns="0" tIns="0" rIns="0" bIns="0" anchor="t">
            <a:spAutoFit/>
          </a:bodyPr>
          <a:lstStyle/>
          <a:p>
            <a:r>
              <a:rPr sz="2800" b="1" i="0">
                <a:solidFill>
                  <a:srgbClr val="2A2929"/>
                </a:solidFill>
                <a:latin typeface="Roboto"/>
              </a:rPr>
              <a:t>What it means to justify</a:t>
            </a:r>
          </a:p>
          <a:p>
            <a:pPr>
              <a:spcBef>
                <a:spcPts val="200"/>
              </a:spcBef>
            </a:pPr>
            <a:r>
              <a:rPr sz="1800" b="0" i="1">
                <a:solidFill>
                  <a:srgbClr val="D68E10"/>
                </a:solidFill>
                <a:latin typeface="Roboto Light"/>
              </a:rPr>
              <a:t>the fundamentals</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691640"/>
            <a:ext cx="10881360" cy="4480560"/>
          </a:xfrm>
          <a:prstGeom prst="rect">
            <a:avLst/>
          </a:prstGeom>
          <a:noFill/>
        </p:spPr>
        <p:txBody>
          <a:bodyPr wrap="square" lIns="0" tIns="0" rIns="0" bIns="0" anchor="t">
            <a:spAutoFit/>
          </a:bodyPr>
          <a:lstStyle/>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“I chose X” is not a justification.</a:t>
            </a:r>
          </a:p>
          <a:p>
            <a:pPr marL="0" indent="0">
              <a:lnSpc>
                <a:spcPct val="105000"/>
              </a:lnSpc>
              <a:spcBef>
                <a:spcPts val="0"/>
              </a:spcBef>
              <a:spcAft>
                <a:spcPts val="1000"/>
              </a:spcAft>
            </a:pPr>
            <a:r>
              <a:rPr sz="1800" b="1" i="0">
                <a:solidFill>
                  <a:srgbClr val="205F61"/>
                </a:solidFill>
                <a:latin typeface="Roboto"/>
              </a:rPr>
              <a:t>■  “I chose X because the workload needs Y, weighed against cost / security / residency — and the alternative was worse, for these reasons” is.</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A justification is specific to this workload, and names the trade-off.</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12</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881360" cy="960120"/>
          </a:xfrm>
          <a:prstGeom prst="rect">
            <a:avLst/>
          </a:prstGeom>
          <a:noFill/>
        </p:spPr>
        <p:txBody>
          <a:bodyPr wrap="square" lIns="0" tIns="0" rIns="0" bIns="0" anchor="t">
            <a:spAutoFit/>
          </a:bodyPr>
          <a:lstStyle/>
          <a:p>
            <a:r>
              <a:rPr sz="2800" b="1" i="0">
                <a:solidFill>
                  <a:srgbClr val="2A2929"/>
                </a:solidFill>
                <a:latin typeface="Roboto"/>
              </a:rPr>
              <a:t>The method — justify against the workload</a:t>
            </a:r>
          </a:p>
          <a:p>
            <a:pPr>
              <a:spcBef>
                <a:spcPts val="200"/>
              </a:spcBef>
            </a:pPr>
            <a:r>
              <a:rPr sz="1800" b="0" i="1">
                <a:solidFill>
                  <a:srgbClr val="D68E10"/>
                </a:solidFill>
                <a:latin typeface="Roboto Light"/>
              </a:rPr>
              <a:t>four steps, every decision</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691640"/>
            <a:ext cx="10881360" cy="4480560"/>
          </a:xfrm>
          <a:prstGeom prst="rect">
            <a:avLst/>
          </a:prstGeom>
          <a:noFill/>
        </p:spPr>
        <p:txBody>
          <a:bodyPr wrap="square" lIns="0" tIns="0" rIns="0" bIns="0" anchor="t">
            <a:spAutoFit/>
          </a:bodyPr>
          <a:lstStyle/>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1. State the decision (what you chose).</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2. The workload facts that bear on it (load, pattern, data sensitivity, residency, cost appetite).</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3. Weigh it — performance vs cost vs security vs residency.</a:t>
            </a:r>
          </a:p>
          <a:p>
            <a:pPr marL="0" indent="0">
              <a:lnSpc>
                <a:spcPct val="105000"/>
              </a:lnSpc>
              <a:spcBef>
                <a:spcPts val="0"/>
              </a:spcBef>
              <a:spcAft>
                <a:spcPts val="1000"/>
              </a:spcAft>
            </a:pPr>
            <a:r>
              <a:rPr sz="1800" b="1" i="0">
                <a:solidFill>
                  <a:srgbClr val="205F61"/>
                </a:solidFill>
                <a:latin typeface="Roboto"/>
              </a:rPr>
              <a:t>■  4. Name the alternative and why you rejected it.</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13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881360" cy="960120"/>
          </a:xfrm>
          <a:prstGeom prst="rect">
            <a:avLst/>
          </a:prstGeom>
          <a:noFill/>
        </p:spPr>
        <p:txBody>
          <a:bodyPr wrap="square" lIns="0" tIns="0" rIns="0" bIns="0" anchor="t">
            <a:spAutoFit/>
          </a:bodyPr>
          <a:lstStyle/>
          <a:p>
            <a:r>
              <a:rPr sz="2800" b="1" i="0">
                <a:solidFill>
                  <a:srgbClr val="2A2929"/>
                </a:solidFill>
                <a:latin typeface="Roboto"/>
              </a:rPr>
              <a:t>The decisions you'll justify</a:t>
            </a:r>
          </a:p>
          <a:p>
            <a:pPr>
              <a:spcBef>
                <a:spcPts val="200"/>
              </a:spcBef>
            </a:pPr>
            <a:r>
              <a:rPr sz="1800" b="0" i="1">
                <a:solidFill>
                  <a:srgbClr val="D68E10"/>
                </a:solidFill>
                <a:latin typeface="Roboto Light"/>
              </a:rPr>
              <a:t>the design · §4.16 (C1–C8)</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658368" y="1828800"/>
          <a:ext cx="14630400" cy="2743200"/>
        </p:xfrm>
        <a:graphic>
          <a:graphicData uri="http://schemas.openxmlformats.org/drawingml/2006/table">
            <a:tbl>
              <a:tblPr>
                <a:tableStyleId>{5C22544A-7EE6-4342-B048-85BDC9FD1C3A}</a:tableStyleId>
              </a:tblPr>
              <a:tblGrid>
                <a:gridCol w="118872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gridCol w="7315200">
                  <a:extLst>
                    <a:ext uri="{9D8B030D-6E8A-4147-A177-3AD203B41FA5}">
                      <a16:colId xmlns:a16="http://schemas.microsoft.com/office/drawing/2014/main" val="20002"/>
                    </a:ext>
                  </a:extLst>
                </a:gridCol>
              </a:tblGrid>
              <a:tr h="457200">
                <a:tc>
                  <a:txBody>
                    <a:bodyPr/>
                    <a:lstStyle/>
                    <a:p>
                      <a:r>
                        <a:rPr sz="1400" b="1" i="0">
                          <a:solidFill>
                            <a:srgbClr val="FFFFFF"/>
                          </a:solidFill>
                          <a:latin typeface="Roboto"/>
                        </a:rPr>
                        <a:t>#</a:t>
                      </a:r>
                    </a:p>
                  </a:txBody>
                  <a:tcPr marL="76200" marR="76200">
                    <a:solidFill>
                      <a:srgbClr val="205F61"/>
                    </a:solidFill>
                  </a:tcPr>
                </a:tc>
                <a:tc>
                  <a:txBody>
                    <a:bodyPr/>
                    <a:lstStyle/>
                    <a:p>
                      <a:r>
                        <a:rPr sz="1400" b="1" i="0">
                          <a:solidFill>
                            <a:srgbClr val="FFFFFF"/>
                          </a:solidFill>
                          <a:latin typeface="Roboto"/>
                        </a:rPr>
                        <a:t>Decision</a:t>
                      </a:r>
                    </a:p>
                  </a:txBody>
                  <a:tcPr marL="76200" marR="76200">
                    <a:solidFill>
                      <a:srgbClr val="205F61"/>
                    </a:solidFill>
                  </a:tcPr>
                </a:tc>
                <a:tc>
                  <a:txBody>
                    <a:bodyPr/>
                    <a:lstStyle/>
                    <a:p>
                      <a:r>
                        <a:rPr sz="1400" b="1" i="0">
                          <a:solidFill>
                            <a:srgbClr val="FFFFFF"/>
                          </a:solidFill>
                          <a:latin typeface="Roboto"/>
                        </a:rPr>
                        <a:t>Justify against…</a:t>
                      </a:r>
                    </a:p>
                  </a:txBody>
                  <a:tcPr marL="76200" marR="76200">
                    <a:solidFill>
                      <a:srgbClr val="205F61"/>
                    </a:solidFill>
                  </a:tcPr>
                </a:tc>
                <a:extLst>
                  <a:ext uri="{0D108BD9-81ED-4DB2-BD59-A6C34878D82A}">
                    <a16:rowId xmlns:a16="http://schemas.microsoft.com/office/drawing/2014/main" val="10000"/>
                  </a:ext>
                </a:extLst>
              </a:tr>
              <a:tr h="457200">
                <a:tc>
                  <a:txBody>
                    <a:bodyPr/>
                    <a:lstStyle/>
                    <a:p>
                      <a:r>
                        <a:rPr sz="1300" b="0" i="0">
                          <a:solidFill>
                            <a:srgbClr val="2A2929"/>
                          </a:solidFill>
                          <a:latin typeface="Roboto"/>
                        </a:rPr>
                        <a:t>C1</a:t>
                      </a:r>
                    </a:p>
                  </a:txBody>
                  <a:tcPr marL="76200" marR="76200" marT="50800" marB="50800">
                    <a:solidFill>
                      <a:srgbClr val="FFFFFF"/>
                    </a:solidFill>
                  </a:tcPr>
                </a:tc>
                <a:tc>
                  <a:txBody>
                    <a:bodyPr/>
                    <a:lstStyle/>
                    <a:p>
                      <a:r>
                        <a:rPr sz="1300" b="0" i="0">
                          <a:solidFill>
                            <a:srgbClr val="2A2929"/>
                          </a:solidFill>
                          <a:latin typeface="Roboto"/>
                        </a:rPr>
                        <a:t>EC2 instance type</a:t>
                      </a:r>
                    </a:p>
                  </a:txBody>
                  <a:tcPr marL="76200" marR="76200" marT="50800" marB="50800">
                    <a:solidFill>
                      <a:srgbClr val="FFFFFF"/>
                    </a:solidFill>
                  </a:tcPr>
                </a:tc>
                <a:tc>
                  <a:txBody>
                    <a:bodyPr/>
                    <a:lstStyle/>
                    <a:p>
                      <a:r>
                        <a:rPr sz="1300" b="0" i="0">
                          <a:solidFill>
                            <a:srgbClr val="2A2929"/>
                          </a:solidFill>
                          <a:latin typeface="Roboto"/>
                        </a:rPr>
                        <a:t>typical 15–25 / month-end 45–55 users</a:t>
                      </a:r>
                    </a:p>
                  </a:txBody>
                  <a:tcPr marL="76200" marR="76200" marT="50800" marB="50800">
                    <a:solidFill>
                      <a:srgbClr val="FFFFFF"/>
                    </a:solidFill>
                  </a:tcPr>
                </a:tc>
                <a:extLst>
                  <a:ext uri="{0D108BD9-81ED-4DB2-BD59-A6C34878D82A}">
                    <a16:rowId xmlns:a16="http://schemas.microsoft.com/office/drawing/2014/main" val="10001"/>
                  </a:ext>
                </a:extLst>
              </a:tr>
              <a:tr h="457200">
                <a:tc>
                  <a:txBody>
                    <a:bodyPr/>
                    <a:lstStyle/>
                    <a:p>
                      <a:r>
                        <a:rPr sz="1300" b="0" i="0">
                          <a:solidFill>
                            <a:srgbClr val="2A2929"/>
                          </a:solidFill>
                          <a:latin typeface="Roboto"/>
                        </a:rPr>
                        <a:t>C2</a:t>
                      </a:r>
                    </a:p>
                  </a:txBody>
                  <a:tcPr marL="76200" marR="76200" marT="50800" marB="50800">
                    <a:solidFill>
                      <a:srgbClr val="F9F9F9"/>
                    </a:solidFill>
                  </a:tcPr>
                </a:tc>
                <a:tc>
                  <a:txBody>
                    <a:bodyPr/>
                    <a:lstStyle/>
                    <a:p>
                      <a:r>
                        <a:rPr sz="1300" b="0" i="0">
                          <a:solidFill>
                            <a:srgbClr val="2A2929"/>
                          </a:solidFill>
                          <a:latin typeface="Roboto"/>
                        </a:rPr>
                        <a:t>RDS instance class</a:t>
                      </a:r>
                    </a:p>
                  </a:txBody>
                  <a:tcPr marL="76200" marR="76200" marT="50800" marB="50800">
                    <a:solidFill>
                      <a:srgbClr val="F9F9F9"/>
                    </a:solidFill>
                  </a:tcPr>
                </a:tc>
                <a:tc>
                  <a:txBody>
                    <a:bodyPr/>
                    <a:lstStyle/>
                    <a:p>
                      <a:r>
                        <a:rPr sz="1300" b="0" i="0">
                          <a:solidFill>
                            <a:srgbClr val="2A2929"/>
                          </a:solidFill>
                          <a:latin typeface="Roboto"/>
                        </a:rPr>
                        <a:t>read-heavy at month-end</a:t>
                      </a:r>
                    </a:p>
                  </a:txBody>
                  <a:tcPr marL="76200" marR="76200" marT="50800" marB="50800">
                    <a:solidFill>
                      <a:srgbClr val="F9F9F9"/>
                    </a:solidFill>
                  </a:tcPr>
                </a:tc>
                <a:extLst>
                  <a:ext uri="{0D108BD9-81ED-4DB2-BD59-A6C34878D82A}">
                    <a16:rowId xmlns:a16="http://schemas.microsoft.com/office/drawing/2014/main" val="10002"/>
                  </a:ext>
                </a:extLst>
              </a:tr>
              <a:tr h="457200">
                <a:tc>
                  <a:txBody>
                    <a:bodyPr/>
                    <a:lstStyle/>
                    <a:p>
                      <a:r>
                        <a:rPr sz="1300" b="0" i="0">
                          <a:solidFill>
                            <a:srgbClr val="2A2929"/>
                          </a:solidFill>
                          <a:latin typeface="Roboto"/>
                        </a:rPr>
                        <a:t>C3</a:t>
                      </a:r>
                    </a:p>
                  </a:txBody>
                  <a:tcPr marL="76200" marR="76200" marT="50800" marB="50800">
                    <a:solidFill>
                      <a:srgbClr val="FFFFFF"/>
                    </a:solidFill>
                  </a:tcPr>
                </a:tc>
                <a:tc>
                  <a:txBody>
                    <a:bodyPr/>
                    <a:lstStyle/>
                    <a:p>
                      <a:r>
                        <a:rPr sz="1300" b="0" i="0">
                          <a:solidFill>
                            <a:srgbClr val="2A2929"/>
                          </a:solidFill>
                          <a:latin typeface="Roboto"/>
                        </a:rPr>
                        <a:t>SQL Server licence model</a:t>
                      </a:r>
                    </a:p>
                  </a:txBody>
                  <a:tcPr marL="76200" marR="76200" marT="50800" marB="50800">
                    <a:solidFill>
                      <a:srgbClr val="FFFFFF"/>
                    </a:solidFill>
                  </a:tcPr>
                </a:tc>
                <a:tc>
                  <a:txBody>
                    <a:bodyPr/>
                    <a:lstStyle/>
                    <a:p>
                      <a:r>
                        <a:rPr sz="1300" b="0" i="0">
                          <a:solidFill>
                            <a:srgbClr val="2A2929"/>
                          </a:solidFill>
                          <a:latin typeface="Roboto"/>
                        </a:rPr>
                        <a:t>cost (licence-included vs BYOL)</a:t>
                      </a:r>
                    </a:p>
                  </a:txBody>
                  <a:tcPr marL="76200" marR="76200" marT="50800" marB="50800">
                    <a:solidFill>
                      <a:srgbClr val="FFFFFF"/>
                    </a:solidFill>
                  </a:tcPr>
                </a:tc>
                <a:extLst>
                  <a:ext uri="{0D108BD9-81ED-4DB2-BD59-A6C34878D82A}">
                    <a16:rowId xmlns:a16="http://schemas.microsoft.com/office/drawing/2014/main" val="10003"/>
                  </a:ext>
                </a:extLst>
              </a:tr>
              <a:tr h="457200">
                <a:tc>
                  <a:txBody>
                    <a:bodyPr/>
                    <a:lstStyle/>
                    <a:p>
                      <a:r>
                        <a:rPr sz="1300" b="0" i="0">
                          <a:solidFill>
                            <a:srgbClr val="2A2929"/>
                          </a:solidFill>
                          <a:latin typeface="Roboto"/>
                        </a:rPr>
                        <a:t>C4</a:t>
                      </a:r>
                    </a:p>
                  </a:txBody>
                  <a:tcPr marL="76200" marR="76200" marT="50800" marB="50800">
                    <a:solidFill>
                      <a:srgbClr val="F9F9F9"/>
                    </a:solidFill>
                  </a:tcPr>
                </a:tc>
                <a:tc>
                  <a:txBody>
                    <a:bodyPr/>
                    <a:lstStyle/>
                    <a:p>
                      <a:r>
                        <a:rPr sz="1300" b="0" i="0">
                          <a:solidFill>
                            <a:srgbClr val="2A2929"/>
                          </a:solidFill>
                          <a:latin typeface="Roboto"/>
                        </a:rPr>
                        <a:t>EBS data-volume size</a:t>
                      </a:r>
                    </a:p>
                  </a:txBody>
                  <a:tcPr marL="76200" marR="76200" marT="50800" marB="50800">
                    <a:solidFill>
                      <a:srgbClr val="F9F9F9"/>
                    </a:solidFill>
                  </a:tcPr>
                </a:tc>
                <a:tc>
                  <a:txBody>
                    <a:bodyPr/>
                    <a:lstStyle/>
                    <a:p>
                      <a:r>
                        <a:rPr sz="1300" b="0" i="0">
                          <a:solidFill>
                            <a:srgbClr val="2A2929"/>
                          </a:solidFill>
                          <a:latin typeface="Roboto"/>
                        </a:rPr>
                        <a:t>footprint + 12-month growth</a:t>
                      </a:r>
                    </a:p>
                  </a:txBody>
                  <a:tcPr marL="76200" marR="76200" marT="50800" marB="50800">
                    <a:solidFill>
                      <a:srgbClr val="F9F9F9"/>
                    </a:solidFill>
                  </a:tcPr>
                </a:tc>
                <a:extLst>
                  <a:ext uri="{0D108BD9-81ED-4DB2-BD59-A6C34878D82A}">
                    <a16:rowId xmlns:a16="http://schemas.microsoft.com/office/drawing/2014/main" val="10004"/>
                  </a:ext>
                </a:extLst>
              </a:tr>
              <a:tr h="457200">
                <a:tc>
                  <a:txBody>
                    <a:bodyPr/>
                    <a:lstStyle/>
                    <a:p>
                      <a:r>
                        <a:rPr sz="1300" b="0" i="0">
                          <a:solidFill>
                            <a:srgbClr val="2A2929"/>
                          </a:solidFill>
                          <a:latin typeface="Roboto"/>
                        </a:rPr>
                        <a:t>C5–C8</a:t>
                      </a:r>
                    </a:p>
                  </a:txBody>
                  <a:tcPr marL="76200" marR="76200" marT="50800" marB="50800">
                    <a:solidFill>
                      <a:srgbClr val="FFFFFF"/>
                    </a:solidFill>
                  </a:tcPr>
                </a:tc>
                <a:tc>
                  <a:txBody>
                    <a:bodyPr/>
                    <a:lstStyle/>
                    <a:p>
                      <a:r>
                        <a:rPr sz="1300" b="0" i="0">
                          <a:solidFill>
                            <a:srgbClr val="2A2929"/>
                          </a:solidFill>
                          <a:latin typeface="Roboto"/>
                        </a:rPr>
                        <a:t>ASG params · backup/RPO · DNS+ACM · bastion/RDP</a:t>
                      </a:r>
                    </a:p>
                  </a:txBody>
                  <a:tcPr marL="76200" marR="76200" marT="50800" marB="50800">
                    <a:solidFill>
                      <a:srgbClr val="FFFFFF"/>
                    </a:solidFill>
                  </a:tcPr>
                </a:tc>
                <a:tc>
                  <a:txBody>
                    <a:bodyPr/>
                    <a:lstStyle/>
                    <a:p>
                      <a:r>
                        <a:rPr sz="1300" b="0" i="0">
                          <a:solidFill>
                            <a:srgbClr val="2A2929"/>
                          </a:solidFill>
                          <a:latin typeface="Roboto"/>
                        </a:rPr>
                        <a:t>the workload + the design's targets</a:t>
                      </a:r>
                    </a:p>
                  </a:txBody>
                  <a:tcPr marL="76200" marR="76200" marT="50800" marB="50800">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58368" y="5943600"/>
            <a:ext cx="10881360" cy="457200"/>
          </a:xfrm>
          <a:prstGeom prst="rect">
            <a:avLst/>
          </a:prstGeom>
          <a:noFill/>
        </p:spPr>
        <p:txBody>
          <a:bodyPr wrap="square" lIns="0" tIns="0" rIns="0" bIns="0" anchor="t">
            <a:spAutoFit/>
          </a:bodyPr>
          <a:lstStyle/>
          <a:p>
            <a:r>
              <a:rPr sz="1500" b="0" i="1">
                <a:solidFill>
                  <a:srgbClr val="484848"/>
                </a:solidFill>
                <a:latin typeface="Roboto Light"/>
              </a:rPr>
              <a:t>Each is made and evidenced in the Deployment Report, justified against the Ledgerline workload.</a:t>
            </a:r>
          </a:p>
        </p:txBody>
      </p:sp>
      <p:sp>
        <p:nvSpPr>
          <p:cNvPr id="6" name="Rectangle 5"/>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14</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10881360" cy="960120"/>
          </a:xfrm>
          <a:prstGeom prst="rect">
            <a:avLst/>
          </a:prstGeom>
          <a:noFill/>
        </p:spPr>
        <p:txBody>
          <a:bodyPr wrap="square" lIns="0" tIns="0" rIns="0" bIns="0" anchor="t">
            <a:spAutoFit/>
          </a:bodyPr>
          <a:lstStyle/>
          <a:p>
            <a:r>
              <a:rPr sz="2800" b="1" i="0">
                <a:solidFill>
                  <a:srgbClr val="2A2929"/>
                </a:solidFill>
                <a:latin typeface="Roboto"/>
              </a:rPr>
              <a:t>Worked example — SQL Server licensing (C3)</a:t>
            </a:r>
          </a:p>
          <a:p>
            <a:pPr>
              <a:spcBef>
                <a:spcPts val="200"/>
              </a:spcBef>
            </a:pPr>
            <a:r>
              <a:rPr sz="1800" b="0" i="1">
                <a:solidFill>
                  <a:srgbClr val="D68E10"/>
                </a:solidFill>
                <a:latin typeface="Roboto Light"/>
              </a:rPr>
              <a:t>the method, end to end</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691640"/>
            <a:ext cx="10881360" cy="4480560"/>
          </a:xfrm>
          <a:prstGeom prst="rect">
            <a:avLst/>
          </a:prstGeom>
          <a:noFill/>
        </p:spPr>
        <p:txBody>
          <a:bodyPr wrap="square" lIns="0" tIns="0" rIns="0" bIns="0" anchor="t">
            <a:spAutoFit/>
          </a:bodyPr>
          <a:lstStyle/>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Decision: licence-included (pay hourly, includes the SQL Server licence) vs bring-your-own-licence (BYOL).</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Workload facts: steady business-hours use; YAT may already hold SQL Server licences; cost is a stated concern.</a:t>
            </a:r>
          </a:p>
          <a:p>
            <a:pPr marL="0" indent="0">
              <a:lnSpc>
                <a:spcPct val="105000"/>
              </a:lnSpc>
              <a:spcBef>
                <a:spcPts val="0"/>
              </a:spcBef>
              <a:spcAft>
                <a:spcPts val="1000"/>
              </a:spcAft>
            </a:pPr>
            <a:r>
              <a:rPr sz="1800" b="1" i="0">
                <a:solidFill>
                  <a:srgbClr val="205F61"/>
                </a:solidFill>
                <a:latin typeface="Roboto"/>
              </a:rPr>
              <a:t>■  Weigh: licence-included is simpler + better for variable/short use; BYOL is cheaper at steady use if licences are owned.</a:t>
            </a:r>
          </a:p>
          <a:p>
            <a:pPr marL="0" indent="0">
              <a:lnSpc>
                <a:spcPct val="105000"/>
              </a:lnSpc>
              <a:spcBef>
                <a:spcPts val="0"/>
              </a:spcBef>
              <a:spcAft>
                <a:spcPts val="1000"/>
              </a:spcAft>
            </a:pPr>
            <a:r>
              <a:rPr sz="1800" b="1" i="0">
                <a:solidFill>
                  <a:srgbClr val="EDAB0C"/>
                </a:solidFill>
                <a:latin typeface="Roboto"/>
              </a:rPr>
              <a:t>■  </a:t>
            </a:r>
            <a:r>
              <a:rPr sz="1800" b="0" i="0">
                <a:solidFill>
                  <a:srgbClr val="2A2929"/>
                </a:solidFill>
                <a:latin typeface="Roboto"/>
              </a:rPr>
              <a:t>Decide + justify: pick the cheaper-over-the-term option for this steady workload, and say why the other was rejected.</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15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lIns="0" tIns="0" rIns="0" bIns="0" anchor="ctr">
            <a:spAutoFit/>
          </a:bodyPr>
          <a:lstStyle/>
          <a:p>
            <a:r>
              <a:rPr sz="2600" b="1" i="0">
                <a:solidFill>
                  <a:srgbClr val="FFFFFF"/>
                </a:solidFill>
                <a:latin typeface="Roboto"/>
              </a:rPr>
              <a:t>Justify the C1–C8 decisions</a:t>
            </a:r>
          </a:p>
        </p:txBody>
      </p:sp>
      <p:sp>
        <p:nvSpPr>
          <p:cNvPr id="5" name="TextBox 4"/>
          <p:cNvSpPr txBox="1"/>
          <p:nvPr/>
        </p:nvSpPr>
        <p:spPr>
          <a:xfrm>
            <a:off x="658368" y="1554480"/>
            <a:ext cx="10881360" cy="4297680"/>
          </a:xfrm>
          <a:prstGeom prst="rect">
            <a:avLst/>
          </a:prstGeom>
          <a:noFill/>
        </p:spPr>
        <p:txBody>
          <a:bodyPr wrap="square" lIns="0" tIns="0" rIns="0" bIns="0" anchor="t">
            <a:spAutoFit/>
          </a:bodyPr>
          <a:lstStyle/>
          <a:p>
            <a:pPr marL="0" indent="0">
              <a:lnSpc>
                <a:spcPct val="105000"/>
              </a:lnSpc>
              <a:spcBef>
                <a:spcPts val="0"/>
              </a:spcBef>
              <a:spcAft>
                <a:spcPts val="1000"/>
              </a:spcAft>
            </a:pPr>
            <a:r>
              <a:rPr sz="1700" b="1" i="0">
                <a:solidFill>
                  <a:srgbClr val="EDAB0C"/>
                </a:solidFill>
                <a:latin typeface="Roboto"/>
              </a:rPr>
              <a:t>■  </a:t>
            </a:r>
            <a:r>
              <a:rPr sz="1700" b="1" i="0">
                <a:solidFill>
                  <a:srgbClr val="2A2929"/>
                </a:solidFill>
                <a:latin typeface="Roboto"/>
              </a:rPr>
              <a:t>Using the four-step method, write a justified rationale for each of the design's open decisions:</a:t>
            </a:r>
          </a:p>
          <a:p>
            <a:pPr marL="365760" indent="0">
              <a:lnSpc>
                <a:spcPct val="105000"/>
              </a:lnSpc>
              <a:spcBef>
                <a:spcPts val="0"/>
              </a:spcBef>
              <a:spcAft>
                <a:spcPts val="500"/>
              </a:spcAft>
            </a:pPr>
            <a:r>
              <a:rPr sz="1400" b="0" i="0">
                <a:solidFill>
                  <a:srgbClr val="7A7A7A"/>
                </a:solidFill>
                <a:latin typeface="Roboto"/>
              </a:rPr>
              <a:t>–  </a:t>
            </a:r>
            <a:r>
              <a:rPr sz="1400" b="0" i="0">
                <a:solidFill>
                  <a:srgbClr val="2A2929"/>
                </a:solidFill>
                <a:latin typeface="Roboto"/>
              </a:rPr>
              <a:t>ground each in the Ledgerline workload — 15–25 typical / 45–55 month-end; read-heavy month-end</a:t>
            </a:r>
          </a:p>
          <a:p>
            <a:pPr marL="365760" indent="0">
              <a:lnSpc>
                <a:spcPct val="105000"/>
              </a:lnSpc>
              <a:spcBef>
                <a:spcPts val="0"/>
              </a:spcBef>
              <a:spcAft>
                <a:spcPts val="500"/>
              </a:spcAft>
            </a:pPr>
            <a:r>
              <a:rPr sz="1400" b="0" i="0">
                <a:solidFill>
                  <a:srgbClr val="7A7A7A"/>
                </a:solidFill>
                <a:latin typeface="Roboto"/>
              </a:rPr>
              <a:t>–  </a:t>
            </a:r>
            <a:r>
              <a:rPr sz="1400" b="0" i="0">
                <a:solidFill>
                  <a:srgbClr val="2A2929"/>
                </a:solidFill>
                <a:latin typeface="Roboto"/>
              </a:rPr>
              <a:t>financial-records residency; 7-year retention; business-hours, idle overnight</a:t>
            </a:r>
          </a:p>
          <a:p>
            <a:pPr marL="0" indent="0">
              <a:lnSpc>
                <a:spcPct val="105000"/>
              </a:lnSpc>
              <a:spcBef>
                <a:spcPts val="0"/>
              </a:spcBef>
              <a:spcAft>
                <a:spcPts val="1000"/>
              </a:spcAft>
            </a:pPr>
            <a:r>
              <a:rPr sz="1700" b="1" i="0">
                <a:solidFill>
                  <a:srgbClr val="205F61"/>
                </a:solidFill>
                <a:latin typeface="Roboto"/>
              </a:rPr>
              <a:t>■  These rationales go straight into your Deployment Report.</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5943600"/>
            <a:ext cx="3657600" cy="365760"/>
          </a:xfrm>
          <a:prstGeom prst="rect">
            <a:avLst/>
          </a:prstGeom>
          <a:noFill/>
        </p:spPr>
        <p:txBody>
          <a:bodyPr wrap="square" lIns="0" tIns="0" rIns="0" bIns="0" anchor="ctr">
            <a:spAutoFit/>
          </a:bodyPr>
          <a:lstStyle/>
          <a:p>
            <a:r>
              <a:rPr sz="1500" b="1" i="0">
                <a:solidFill>
                  <a:srgbClr val="2A2929"/>
                </a:solidFill>
                <a:latin typeface="Roboto"/>
              </a:rPr>
              <a:t>⏱  ~30 min</a:t>
            </a:r>
          </a:p>
        </p:txBody>
      </p:sp>
      <p:sp>
        <p:nvSpPr>
          <p:cNvPr id="8" name="Rectangle 7"/>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16</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640080" y="548640"/>
            <a:ext cx="10881360" cy="1097280"/>
          </a:xfrm>
          <a:prstGeom prst="rect">
            <a:avLst/>
          </a:prstGeom>
          <a:noFill/>
        </p:spPr>
        <p:txBody>
          <a:bodyPr wrap="square" lIns="0" tIns="0" rIns="0" bIns="0" anchor="t">
            <a:spAutoFit/>
          </a:bodyPr>
          <a:lstStyle/>
          <a:p>
            <a:r>
              <a:rPr sz="3200" b="1" i="0">
                <a:solidFill>
                  <a:srgbClr val="2A2929"/>
                </a:solidFill>
                <a:latin typeface="Roboto"/>
              </a:rPr>
              <a:t>Key takeaways</a:t>
            </a:r>
          </a:p>
          <a:p>
            <a:pPr>
              <a:spcBef>
                <a:spcPts val="200"/>
              </a:spcBef>
            </a:pPr>
            <a:r>
              <a:rPr sz="1800" b="1" i="0">
                <a:solidFill>
                  <a:srgbClr val="205F61"/>
                </a:solidFill>
                <a:latin typeface="Roboto"/>
              </a:rPr>
              <a:t>Section 3 · Justification</a:t>
            </a:r>
          </a:p>
        </p:txBody>
      </p:sp>
      <p:sp>
        <p:nvSpPr>
          <p:cNvPr id="3" name="Rectangle 2"/>
          <p:cNvSpPr/>
          <p:nvPr/>
        </p:nvSpPr>
        <p:spPr>
          <a:xfrm>
            <a:off x="658368" y="16002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0" y="1965960"/>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965960"/>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965960"/>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A justification names the workload need, the trade-off, and the rejected alternative.</a:t>
            </a:r>
          </a:p>
        </p:txBody>
      </p:sp>
      <p:sp>
        <p:nvSpPr>
          <p:cNvPr id="7" name="Rectangle 6"/>
          <p:cNvSpPr/>
          <p:nvPr/>
        </p:nvSpPr>
        <p:spPr>
          <a:xfrm>
            <a:off x="640080" y="2916936"/>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2916936"/>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2916936"/>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Use the four-step method on every open decision.</a:t>
            </a:r>
          </a:p>
        </p:txBody>
      </p:sp>
      <p:sp>
        <p:nvSpPr>
          <p:cNvPr id="10" name="Rectangle 9"/>
          <p:cNvSpPr/>
          <p:nvPr/>
        </p:nvSpPr>
        <p:spPr>
          <a:xfrm>
            <a:off x="640080" y="3867912"/>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40080" y="3867912"/>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0120" y="3867912"/>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Ground every choice in the Ledgerline workload — not generic best practice.</a:t>
            </a:r>
          </a:p>
        </p:txBody>
      </p:sp>
      <p:sp>
        <p:nvSpPr>
          <p:cNvPr id="13" name="Rectangle 12"/>
          <p:cNvSpPr/>
          <p:nvPr/>
        </p:nvSpPr>
        <p:spPr>
          <a:xfrm>
            <a:off x="640080" y="4818888"/>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0080" y="4818888"/>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60120" y="4818888"/>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These rationales are the heart of what the report is marked on.</a:t>
            </a:r>
          </a:p>
        </p:txBody>
      </p:sp>
      <p:sp>
        <p:nvSpPr>
          <p:cNvPr id="16" name="Rectangle 15"/>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8" name="TextBox 17"/>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17</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sp>
        <p:nvSpPr>
          <p:cNvPr id="2" name="TextBox 1"/>
          <p:cNvSpPr txBox="1"/>
          <p:nvPr/>
        </p:nvSpPr>
        <p:spPr>
          <a:xfrm>
            <a:off x="640080" y="548640"/>
            <a:ext cx="10881360" cy="1097280"/>
          </a:xfrm>
          <a:prstGeom prst="rect">
            <a:avLst/>
          </a:prstGeom>
          <a:noFill/>
        </p:spPr>
        <p:txBody>
          <a:bodyPr wrap="square" lIns="0" tIns="0" rIns="0" bIns="0" anchor="t">
            <a:spAutoFit/>
          </a:bodyPr>
          <a:lstStyle/>
          <a:p>
            <a:r>
              <a:rPr sz="3200" b="1" i="0">
                <a:solidFill>
                  <a:srgbClr val="2A2929"/>
                </a:solidFill>
                <a:latin typeface="Roboto"/>
              </a:rPr>
              <a:t>Key takeaways</a:t>
            </a:r>
          </a:p>
          <a:p>
            <a:pPr>
              <a:spcBef>
                <a:spcPts val="200"/>
              </a:spcBef>
            </a:pPr>
            <a:r>
              <a:rPr sz="1800" b="1" i="0">
                <a:solidFill>
                  <a:srgbClr val="EDAB0C"/>
                </a:solidFill>
                <a:latin typeface="Roboto"/>
              </a:rPr>
              <a:t>Topic 9 · Key takeaways</a:t>
            </a:r>
          </a:p>
        </p:txBody>
      </p:sp>
      <p:sp>
        <p:nvSpPr>
          <p:cNvPr id="3" name="Rectangle 2"/>
          <p:cNvSpPr/>
          <p:nvPr/>
        </p:nvSpPr>
        <p:spPr>
          <a:xfrm>
            <a:off x="658368" y="1600200"/>
            <a:ext cx="1463040" cy="508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40080" y="1965960"/>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965960"/>
            <a:ext cx="109728" cy="841248"/>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965960"/>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Monitor the build — baseline alarms + logging (CloudWatch).</a:t>
            </a:r>
          </a:p>
        </p:txBody>
      </p:sp>
      <p:sp>
        <p:nvSpPr>
          <p:cNvPr id="7" name="Rectangle 6"/>
          <p:cNvSpPr/>
          <p:nvPr/>
        </p:nvSpPr>
        <p:spPr>
          <a:xfrm>
            <a:off x="640080" y="2916936"/>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2916936"/>
            <a:ext cx="109728" cy="841248"/>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2916936"/>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Validate it against the design and the recovery objectives; name the SPOF.</a:t>
            </a:r>
          </a:p>
        </p:txBody>
      </p:sp>
      <p:sp>
        <p:nvSpPr>
          <p:cNvPr id="10" name="Rectangle 9"/>
          <p:cNvSpPr/>
          <p:nvPr/>
        </p:nvSpPr>
        <p:spPr>
          <a:xfrm>
            <a:off x="640080" y="3867912"/>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40080" y="3867912"/>
            <a:ext cx="109728" cy="841248"/>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0120" y="3867912"/>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Justify every open decision against the workload — performance, cost, security, residency.</a:t>
            </a:r>
          </a:p>
        </p:txBody>
      </p:sp>
      <p:sp>
        <p:nvSpPr>
          <p:cNvPr id="13" name="Rectangle 12"/>
          <p:cNvSpPr/>
          <p:nvPr/>
        </p:nvSpPr>
        <p:spPr>
          <a:xfrm>
            <a:off x="640080" y="4818888"/>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0080" y="4818888"/>
            <a:ext cx="109728" cy="841248"/>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60120" y="4818888"/>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Baseline operability only — HA-tuned monitoring and availability are AT3.</a:t>
            </a:r>
          </a:p>
        </p:txBody>
      </p:sp>
      <p:sp>
        <p:nvSpPr>
          <p:cNvPr id="16" name="Rectangle 15"/>
          <p:cNvSpPr/>
          <p:nvPr/>
        </p:nvSpPr>
        <p:spPr>
          <a:xfrm>
            <a:off x="640080" y="5769864"/>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 y="5769864"/>
            <a:ext cx="109728" cy="841248"/>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120" y="5769864"/>
            <a:ext cx="10424160" cy="841248"/>
          </a:xfrm>
          <a:prstGeom prst="rect">
            <a:avLst/>
          </a:prstGeom>
          <a:noFill/>
        </p:spPr>
        <p:txBody>
          <a:bodyPr wrap="square" lIns="0" tIns="0" rIns="0" bIns="0" anchor="ctr">
            <a:spAutoFit/>
          </a:bodyPr>
          <a:lstStyle/>
          <a:p>
            <a:pPr>
              <a:lnSpc>
                <a:spcPct val="100000"/>
              </a:lnSpc>
            </a:pPr>
            <a:r>
              <a:rPr sz="1700" b="0" i="0">
                <a:solidFill>
                  <a:srgbClr val="2A2929"/>
                </a:solidFill>
                <a:latin typeface="Roboto"/>
              </a:rPr>
              <a:t>Monitoring, validation and justifications all feed the Deployment Report.</a:t>
            </a:r>
          </a:p>
        </p:txBody>
      </p:sp>
      <p:sp>
        <p:nvSpPr>
          <p:cNvPr id="19" name="Rectangle 18"/>
          <p:cNvSpPr/>
          <p:nvPr/>
        </p:nvSpPr>
        <p:spPr>
          <a:xfrm>
            <a:off x="0" y="6565392"/>
            <a:ext cx="12191695" cy="381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2920" y="6400800"/>
            <a:ext cx="5486400" cy="320040"/>
          </a:xfrm>
          <a:prstGeom prst="rect">
            <a:avLst/>
          </a:prstGeom>
          <a:noFill/>
        </p:spPr>
        <p:txBody>
          <a:bodyPr wrap="square" lIns="0" tIns="0" rIns="0" bIns="0" anchor="t">
            <a:spAutoFit/>
          </a:bodyPr>
          <a:lstStyle/>
          <a:p>
            <a:r>
              <a:rPr sz="1100" b="1" i="0">
                <a:solidFill>
                  <a:srgbClr val="2A2929"/>
                </a:solidFill>
                <a:latin typeface="Roboto"/>
              </a:rPr>
              <a:t>Kangan </a:t>
            </a:r>
            <a:r>
              <a:rPr sz="1100" b="1" i="0">
                <a:solidFill>
                  <a:srgbClr val="D68E10"/>
                </a:solidFill>
                <a:latin typeface="Roboto"/>
              </a:rPr>
              <a:t>Institute</a:t>
            </a:r>
          </a:p>
        </p:txBody>
      </p:sp>
      <p:sp>
        <p:nvSpPr>
          <p:cNvPr id="21" name="TextBox 20"/>
          <p:cNvSpPr txBox="1"/>
          <p:nvPr/>
        </p:nvSpPr>
        <p:spPr>
          <a:xfrm>
            <a:off x="10515600" y="6400800"/>
            <a:ext cx="1188720" cy="320040"/>
          </a:xfrm>
          <a:prstGeom prst="rect">
            <a:avLst/>
          </a:prstGeom>
          <a:noFill/>
        </p:spPr>
        <p:txBody>
          <a:bodyPr wrap="square" lIns="0" tIns="0" rIns="0" bIns="0" anchor="t">
            <a:spAutoFit/>
          </a:bodyPr>
          <a:lstStyle/>
          <a:p>
            <a:pPr algn="r"/>
            <a:r>
              <a:rPr sz="1100" b="0" i="0">
                <a:solidFill>
                  <a:srgbClr val="7A7A7A"/>
                </a:solidFill>
                <a:latin typeface="Roboto"/>
              </a:rPr>
              <a:t>18</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2A2929"/>
        </a:solidFill>
        <a:effectLst/>
      </p:bgPr>
    </p:bg>
    <p:spTree>
      <p:nvGrpSpPr>
        <p:cNvPr id="1" name=""/>
        <p:cNvGrpSpPr/>
        <p:nvPr/>
      </p:nvGrpSpPr>
      <p:grpSpPr>
        <a:xfrm>
          <a:off x="0" y="0"/>
          <a:ext cx="0" cy="0"/>
          <a:chOff x="0" y="0"/>
          <a:chExt cx="0" cy="0"/>
        </a:xfrm>
      </p:grpSpPr>
      <p:sp>
        <p:nvSpPr>
          <p:cNvPr id="2" name="Rectangle 1"/>
          <p:cNvSpPr/>
          <p:nvPr/>
        </p:nvSpPr>
        <p:spPr>
          <a:xfrm>
            <a:off x="0" y="0"/>
            <a:ext cx="411480" cy="68580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463040"/>
            <a:ext cx="10515600" cy="4023360"/>
          </a:xfrm>
          <a:prstGeom prst="rect">
            <a:avLst/>
          </a:prstGeom>
          <a:noFill/>
        </p:spPr>
        <p:txBody>
          <a:bodyPr wrap="square" lIns="0" tIns="0" rIns="0" bIns="0" anchor="t">
            <a:spAutoFit/>
          </a:bodyPr>
          <a:lstStyle/>
          <a:p>
            <a:r>
              <a:rPr sz="4000" b="1" i="0">
                <a:solidFill>
                  <a:srgbClr val="FFFFFF"/>
                </a:solidFill>
                <a:latin typeface="Roboto"/>
              </a:rPr>
              <a:t>Next: Topic 10 — Evidencing &amp; documenting</a:t>
            </a:r>
          </a:p>
          <a:p>
            <a:pPr>
              <a:lnSpc>
                <a:spcPct val="105000"/>
              </a:lnSpc>
              <a:spcBef>
                <a:spcPts val="1200"/>
              </a:spcBef>
            </a:pPr>
            <a:r>
              <a:rPr sz="1900" b="0" i="0">
                <a:solidFill>
                  <a:srgbClr val="E8E8E8"/>
                </a:solidFill>
                <a:latin typeface="Roboto Light"/>
              </a:rPr>
              <a:t>Assemble the evidence, the validation results and the C1–C8 justifications into the Deployment Report — the AT2 deliverable.</a:t>
            </a:r>
          </a:p>
          <a:p>
            <a:pPr>
              <a:lnSpc>
                <a:spcPct val="105000"/>
              </a:lnSpc>
              <a:spcBef>
                <a:spcPts val="1200"/>
              </a:spcBef>
            </a:pPr>
            <a:r>
              <a:rPr sz="1900" b="0" i="0">
                <a:solidFill>
                  <a:srgbClr val="E8E8E8"/>
                </a:solidFill>
                <a:latin typeface="Roboto Light"/>
              </a:rPr>
              <a:t>Everything you've captured since Topic 6 comes together here.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2850</Words>
  <Application>Microsoft Office PowerPoint</Application>
  <PresentationFormat>Widescreen</PresentationFormat>
  <Paragraphs>263</Paragraphs>
  <Slides>26</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Amazon Ember Display</vt:lpstr>
      <vt:lpstr>Aptos</vt:lpstr>
      <vt:lpstr>Arial</vt:lpstr>
      <vt:lpstr>Calibri</vt:lpstr>
      <vt:lpstr>Roboto</vt:lpstr>
      <vt:lpstr>Roboto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Timothy Baird</cp:lastModifiedBy>
  <cp:revision>6</cp:revision>
  <dcterms:created xsi:type="dcterms:W3CDTF">2013-01-27T09:14:16Z</dcterms:created>
  <dcterms:modified xsi:type="dcterms:W3CDTF">2026-06-03T06:39:06Z</dcterms:modified>
  <cp:category/>
</cp:coreProperties>
</file>