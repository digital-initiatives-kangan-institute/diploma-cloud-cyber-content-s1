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notesMaster" Target="notesMasters/notesMaster1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Frame this as the map for the whole Topic — set the pivot, don't teach content yet.</a:t>
            </a:r>
          </a:p>
          <a:p>
            <a:r>
              <a:t>• Where this sits: Topics 6–8 BUILT the workload (foundation, network, compute, data). Today is</a:t>
            </a:r>
          </a:p>
          <a:p>
            <a:r>
              <a:t>  not more building — it's making that build operable and defensible.</a:t>
            </a:r>
          </a:p>
          <a:p>
            <a:r>
              <a:t>• Read the three verbs off the accent-bold line: monitor it, validate it, justify the open</a:t>
            </a:r>
          </a:p>
          <a:p>
            <a:r>
              <a:t>  decisions. Each maps to a Section today (C1 monitoring, C2 validation, C3 justification).</a:t>
            </a:r>
          </a:p>
          <a:p>
            <a:r>
              <a:t>• The stakes line (third bullet): these three things are exactly what the Deployment Report is</a:t>
            </a:r>
          </a:p>
          <a:p>
            <a:r>
              <a:t>  MARKED on — this isn't housekeeping, it's the assessed judgement.</a:t>
            </a:r>
          </a:p>
          <a:p>
            <a:r>
              <a:t>• Point forward: Topic 10 turns today's evidence and justifications into the report itself.</a:t>
            </a:r>
          </a:p>
          <a:p>
            <a:r>
              <a:t>Misconception to pre-empt: "the build is done, so the hard part's over." No — a build nobody can</a:t>
            </a:r>
          </a:p>
          <a:p>
            <a:r>
              <a:t>monitor or defend earns few marks; the judgement work starts now.</a:t>
            </a:r>
          </a:p>
          <a:p>
            <a:r>
              <a:t>Question to pose: "You've built it and it runs — why isn't that enough to hand to the client?"</a:t>
            </a:r>
          </a:p>
          <a:p>
            <a:r>
              <a:t>(because you must show it works AND why each choice was right).</a:t>
            </a:r>
          </a:p>
          <a:p>
            <a:r>
              <a:t>UoC/AT2 tie: this Topic develops ICTCLD401 (primary) + ICTCLD502 (partial); today's outputs feed</a:t>
            </a:r>
          </a:p>
          <a:p>
            <a:r>
              <a:t>AT2 Deployment Report §4.10, §4.13 and §4.16.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— vendor-neutral fundamentals before any AWS service name. Keep it plain; the CloudWatch</a:t>
            </a:r>
          </a:p>
          <a:p>
            <a:r>
              <a:t>slide is next.</a:t>
            </a:r>
          </a:p>
          <a:p>
            <a:r>
              <a:t>• Define the three terms cleanly: a METRIC is a measurement over time (CPU %, free storage, DB</a:t>
            </a:r>
          </a:p>
          <a:p>
            <a:r>
              <a:t>  connections); an ALARM is a threshold on a metric that fires an action/notification when</a:t>
            </a:r>
          </a:p>
          <a:p>
            <a:r>
              <a:t>  crossed; a LOG is a record of events — what happened, and when.</a:t>
            </a:r>
          </a:p>
          <a:p>
            <a:r>
              <a:t>• Land the payoff line (accent-bold): you monitor so you find out before your USERS do — that's</a:t>
            </a:r>
          </a:p>
          <a:p>
            <a:r>
              <a:t>  the whole reason it exists.</a:t>
            </a:r>
          </a:p>
          <a:p>
            <a:r>
              <a:t>• Keep metric vs alarm vs log distinct — they conflate them; the metric is the number, the alarm</a:t>
            </a:r>
          </a:p>
          <a:p>
            <a:r>
              <a:t>  is the rule watching the number, the log is the diary.</a:t>
            </a:r>
          </a:p>
          <a:p>
            <a:r>
              <a:t>Misconception to pre-empt: "monitoring = looking at a dashboard sometimes." No — the value is the</a:t>
            </a:r>
          </a:p>
          <a:p>
            <a:r>
              <a:t>alarm doing the watching for you, so a human doesn't have to stare at graphs.</a:t>
            </a:r>
          </a:p>
          <a:p>
            <a:r>
              <a:t>Question to pose: "If YAT's database is about to run out of storage, would you rather find out from</a:t>
            </a:r>
          </a:p>
          <a:p>
            <a:r>
              <a:t>an alarm at 15% free, or from users when it's full?" (the alarm — proactive vs reactive).</a:t>
            </a:r>
          </a:p>
          <a:p>
            <a:r>
              <a:t>UoC/AT2 tie: ICTCLD401 KE 5 (performance monitoring and alarms); the concept the CloudWatch build</a:t>
            </a:r>
          </a:p>
          <a:p>
            <a:r>
              <a:t>and the §4.10 evidence rest 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AWS-context teach — pin the primer terms onto the real service. Lean on the diagram; source is</a:t>
            </a:r>
          </a:p>
          <a:p>
            <a:r>
              <a:t>ACA M10 monitoring section (S9–S12).</a:t>
            </a:r>
          </a:p>
          <a:p>
            <a:r>
              <a:t>• Walk the three roles: CloudWatch COLLECTS metrics + logs from AWS services into one place; ALARMS</a:t>
            </a:r>
          </a:p>
          <a:p>
            <a:r>
              <a:t>  send notifications (e.g. to SNS) or trigger actions (e.g. Auto Scaling); DASHBOARDS visualise,</a:t>
            </a:r>
          </a:p>
          <a:p>
            <a:r>
              <a:t>  and CloudWatch LOGS centralises log files.</a:t>
            </a:r>
          </a:p>
          <a:p>
            <a:r>
              <a:t>• Map each back to the primer: metric→collected, alarm→threshold+action, log→CloudWatch Logs.</a:t>
            </a:r>
          </a:p>
          <a:p>
            <a:r>
              <a:t>• Tie to the Ledgerline sketch from Topic 1 — CloudWatch is the box that was "watching all of it";</a:t>
            </a:r>
          </a:p>
          <a:p>
            <a:r>
              <a:t>  now they see what it actually does.</a:t>
            </a:r>
          </a:p>
          <a:p>
            <a:r>
              <a:t>Misconception to pre-empt: "CloudWatch is one more thing you have to build separately." Much of it</a:t>
            </a:r>
          </a:p>
          <a:p>
            <a:r>
              <a:t>is automatic — services publish metrics to it by default; you add the ALARMS and the log</a:t>
            </a:r>
          </a:p>
          <a:p>
            <a:r>
              <a:t>destinations.</a:t>
            </a:r>
          </a:p>
          <a:p>
            <a:r>
              <a:t>Question to pose: "An alarm fires — what are the two things it can do?" (notify a human via SNS, or</a:t>
            </a:r>
          </a:p>
          <a:p>
            <a:r>
              <a:t>take an action like scaling). Sets up the demo.</a:t>
            </a:r>
          </a:p>
          <a:p>
            <a:r>
              <a:t>UoC/AT2 tie: ICTCLD401 KE 5; this is the tool that produces the §4.10 monitoring evidence.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DEMONSTRATION slide (teach → demonstrate → practice). Screen/drive the demo, then relate each step</a:t>
            </a:r>
          </a:p>
          <a:p>
            <a:r>
              <a:t>to OUR build before the activity.</a:t>
            </a:r>
          </a:p>
          <a:p>
            <a:r>
              <a:t>WHERE TO FIND THE RECORDED DEMO: the catalogue has NO isolated recorded CloudWatch demo for Topic 9</a:t>
            </a:r>
          </a:p>
          <a:p>
            <a:r>
              <a:t>(aws-recorded-demos-catalogue.md, "Topic 9" row: drawn from ACA M10 monitoring content, no</a:t>
            </a:r>
          </a:p>
          <a:p>
            <a:r>
              <a:t>standalone recording). So this is the ONE live/instructor-led demo in the Topic — drive it yourself</a:t>
            </a:r>
          </a:p>
          <a:p>
            <a:r>
              <a:t>in the Learner Lab, cued to the nearest module: ACA M10 (Automated Scaling &amp; Monitoring), the</a:t>
            </a:r>
          </a:p>
          <a:p>
            <a:r>
              <a:t>CloudWatch monitoring section. Preview it before class.</a:t>
            </a:r>
          </a:p>
          <a:p>
            <a:r>
              <a:t>WHAT TO DEMONSTRATE (live, then relate to the design's §4.10):</a:t>
            </a:r>
          </a:p>
          <a:p>
            <a:r>
              <a:t>1. Pick a metric (e.g. EC2 CPU) and set a threshold and period.</a:t>
            </a:r>
          </a:p>
          <a:p>
            <a:r>
              <a:t>2. Choose the action — a notification (SNS), or an Auto Scaling action.</a:t>
            </a:r>
          </a:p>
          <a:p>
            <a:r>
              <a:t>3. Confirm the alarm state, and view it on a dashboard.</a:t>
            </a:r>
          </a:p>
          <a:p>
            <a:r>
              <a:t>WHAT TO EMPHASISE:</a:t>
            </a:r>
          </a:p>
          <a:p>
            <a:r>
              <a:t>• The threshold + period together are the alarm (e.g. ≥ 80% over 10 min) — not just the number.</a:t>
            </a:r>
          </a:p>
          <a:p>
            <a:r>
              <a:t>• Narrate the evidence capture — students screenshot the alarm for AT2; model it live.</a:t>
            </a:r>
          </a:p>
          <a:p>
            <a:r>
              <a:t>• Keep it BASELINE — HA-tuned alarms are AT3; don't gold-plate here.</a:t>
            </a:r>
          </a:p>
          <a:p>
            <a:r>
              <a:t>PREP: clean Learner Lab open (us-east-1), the Accounting Baseline Design handy for §4.10 thresholds.</a:t>
            </a:r>
          </a:p>
          <a:p>
            <a:r>
              <a:t>~6–8 min to drive + narrate before the activity.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C1 practice; students build the design's baseline monitoring in the lab.</a:t>
            </a:r>
          </a:p>
          <a:p>
            <a:r>
              <a:t>Tell students: "Open the lab and the Accounting Baseline Design at §4.10. Stand up the baseline</a:t>
            </a:r>
          </a:p>
          <a:p>
            <a:r>
              <a:t>monitoring for the Ledgerline engagement — exactly the alarms and logging the design specifies —</a:t>
            </a:r>
          </a:p>
          <a:p>
            <a:r>
              <a:t>and capture evidence as you go."</a:t>
            </a:r>
          </a:p>
          <a:p>
            <a:r>
              <a:t>Steps (put on the board):</a:t>
            </a:r>
          </a:p>
          <a:p>
            <a:r>
              <a:t>1. Create the baseline alarms: EC2/RDS CPU high, RDS free storage low, RDS connections high, ALB</a:t>
            </a:r>
          </a:p>
          <a:p>
            <a:r>
              <a:t>   5XX / unhealthy host — thresholds per §4.10.</a:t>
            </a:r>
          </a:p>
          <a:p>
            <a:r>
              <a:t>2. Enable the logging destinations: CloudWatch Logs (flow logs + RDS), ALB access logs to S3, the</a:t>
            </a:r>
          </a:p>
          <a:p>
            <a:r>
              <a:t>   CloudWatch Agent for EC2 OS logs.</a:t>
            </a:r>
          </a:p>
          <a:p>
            <a:r>
              <a:t>3. Capture the evidence — the alarms and the log configuration.</a:t>
            </a:r>
          </a:p>
          <a:p>
            <a:r>
              <a:t>Must produce: screenshots of the baseline alarms and the logging config (the AT2 §4.10 evidence).</a:t>
            </a:r>
          </a:p>
          <a:p>
            <a:r>
              <a:t>Timing: ~15 min. Where they get stuck: over-building HA-tuned alarms (rein them back to baseline),</a:t>
            </a:r>
          </a:p>
          <a:p>
            <a:r>
              <a:t>and forgetting the log destinations because alarms feel like "the monitoring."</a:t>
            </a:r>
          </a:p>
          <a:p>
            <a:r>
              <a:t>Share-back: ask one student to show their alarm list; confirm thresholds match the design.</a:t>
            </a:r>
          </a:p>
          <a:p>
            <a:r>
              <a:t>No-leakage note: this is practice on the Accounting/Ledgerline baseline; AT2 assesses the same</a:t>
            </a:r>
          </a:p>
          <a:p>
            <a:r>
              <a:t>skill on a different system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— the C2 fundamental. Short but load-bearing; students think building IS finishing.</a:t>
            </a:r>
          </a:p>
          <a:p>
            <a:r>
              <a:t>• The core distinction (first bullet): building something is NOT the same as confirming it does</a:t>
            </a:r>
          </a:p>
          <a:p>
            <a:r>
              <a:t>  what was asked. Say it twice — it's the whole point.</a:t>
            </a:r>
          </a:p>
          <a:p>
            <a:r>
              <a:t>• Define the loop (accent-bold): validation = test → observe → compare to the requirement/design →</a:t>
            </a:r>
          </a:p>
          <a:p>
            <a:r>
              <a:t>  fix. Four moves, not "have a look."</a:t>
            </a:r>
          </a:p>
          <a:p>
            <a:r>
              <a:t>• Frame it as how you AND the assessor know the build actually meets the spec — it's evidence, not</a:t>
            </a:r>
          </a:p>
          <a:p>
            <a:r>
              <a:t>  a vibe.</a:t>
            </a:r>
          </a:p>
          <a:p>
            <a:r>
              <a:t>Misconception to pre-empt: "it launched without errors, so it's validated." No — no error at build</a:t>
            </a:r>
          </a:p>
          <a:p>
            <a:r>
              <a:t>time doesn't prove it meets the requirement (e.g. that staff can actually reach the app, that it</a:t>
            </a:r>
          </a:p>
          <a:p>
            <a:r>
              <a:t>scales). You must test against the spec.</a:t>
            </a:r>
          </a:p>
          <a:p>
            <a:r>
              <a:t>Question to pose: "You deployed it and nothing errored — what have you actually PROVEN, and what</a:t>
            </a:r>
          </a:p>
          <a:p>
            <a:r>
              <a:t>haven't you?" (proven it deployed; not proven it meets the design).</a:t>
            </a:r>
          </a:p>
          <a:p>
            <a:r>
              <a:t>UoC/AT2 tie: ICTCLD401 PC 2.6 (test access, fix errors) + PC 3.2 (test scaling, fix errors) —</a:t>
            </a:r>
          </a:p>
          <a:p>
            <a:r>
              <a:t>developed in Topics 7–8, VALIDATED here against the design.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C2 teach — consolidate earlier tests into one deliberate validation. This is where scattered</a:t>
            </a:r>
          </a:p>
          <a:p>
            <a:r>
              <a:t>testing becomes a defensible check.</a:t>
            </a:r>
          </a:p>
          <a:p>
            <a:r>
              <a:t>• Walk it: pull together the tests already run in Topics 7–8 — connectivity (Reachability</a:t>
            </a:r>
          </a:p>
          <a:p>
            <a:r>
              <a:t>  Analyzer), app→database, and scaling — don't re-invent them, consolidate them.</a:t>
            </a:r>
          </a:p>
          <a:p>
            <a:r>
              <a:t>• Check against the design's RECOVERY OBJECTIVES: RPO ≤ 1 hour, RTO ≤ 1 business day. Explain both</a:t>
            </a:r>
          </a:p>
          <a:p>
            <a:r>
              <a:t>  plainly — RPO = how much data you can afford to lose; RTO = how long to be back up.</a:t>
            </a:r>
          </a:p>
          <a:p>
            <a:r>
              <a:t>• The honesty line (accent-bold): name the known limit — this baseline is SINGLE-AZ; the single AZ</a:t>
            </a:r>
          </a:p>
          <a:p>
            <a:r>
              <a:t>  and single RDS instance are SPOFs. Then the last bullet: that's TOLERABLE for a business-hours</a:t>
            </a:r>
          </a:p>
          <a:p>
            <a:r>
              <a:t>  service now, and is precisely the objective of the AT3 HA design.</a:t>
            </a:r>
          </a:p>
          <a:p>
            <a:r>
              <a:t>Misconception to pre-empt: that naming the SPOF is admitting a failure. The opposite — naming a</a:t>
            </a:r>
          </a:p>
          <a:p>
            <a:r>
              <a:t>known, accepted limit honestly is what a professional validation DOES; hiding it loses marks.</a:t>
            </a:r>
          </a:p>
          <a:p>
            <a:r>
              <a:t>Question to pose: "The build has a single-AZ SPOF — do you hide that in the report, or name it?</a:t>
            </a:r>
          </a:p>
          <a:p>
            <a:r>
              <a:t>Why?" (name it — it's honest, and it's the AT3 brief).</a:t>
            </a:r>
          </a:p>
          <a:p>
            <a:r>
              <a:t>UoC/AT2 tie: PC 2.6 · PC 3.2; AT2 §4.13 recovery objectives (baseline state), A-build / A10.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C2 practice; a validation pass in the lab against the design.</a:t>
            </a:r>
          </a:p>
          <a:p>
            <a:r>
              <a:t>Tell students: "Run a validation pass on your Ledgerline build against the Accounting Baseline</a:t>
            </a:r>
          </a:p>
          <a:p>
            <a:r>
              <a:t>Design. You're not building — you're proving it meets the spec, and recording the result."</a:t>
            </a:r>
          </a:p>
          <a:p>
            <a:r>
              <a:t>Steps (put on the board):</a:t>
            </a:r>
          </a:p>
          <a:p>
            <a:r>
              <a:t>1. Confirm connectivity: staff→ALB and app→database; and confirm the scaling behaviour.</a:t>
            </a:r>
          </a:p>
          <a:p>
            <a:r>
              <a:t>2. Check the recovery objectives are met (RPO ≤ 1 h, RTO ≤ 1 business day); note the single-AZ SPOF.</a:t>
            </a:r>
          </a:p>
          <a:p>
            <a:r>
              <a:t>3. Record each result and any fix; capture evidence.</a:t>
            </a:r>
          </a:p>
          <a:p>
            <a:r>
              <a:t>Must produce: a short validation record — each test, its result, any fix, and the named SPOF (the</a:t>
            </a:r>
          </a:p>
          <a:p>
            <a:r>
              <a:t>AT2 §4.13 / A10 evidence).</a:t>
            </a:r>
          </a:p>
          <a:p>
            <a:r>
              <a:t>Timing: ~15 min. Where they get stuck: treating it as re-testing from scratch — remind them the</a:t>
            </a:r>
          </a:p>
          <a:p>
            <a:r>
              <a:t>tests were RUN in Topics 7–8; today is consolidating + comparing to the design. Also, students omit</a:t>
            </a:r>
          </a:p>
          <a:p>
            <a:r>
              <a:t>the SPOF because it feels like a fault — push them to name it.</a:t>
            </a:r>
          </a:p>
          <a:p>
            <a:r>
              <a:t>Share-back: take one student's validation record; confirm every result is compared to a design</a:t>
            </a:r>
          </a:p>
          <a:p>
            <a:r>
              <a:t>requirement, not just "it worked."</a:t>
            </a:r>
          </a:p>
          <a:p>
            <a:r>
              <a:t>No-leakage note: practice on the Accounting baseline; the assessed validation is on the LMS system —</a:t>
            </a:r>
          </a:p>
          <a:p>
            <a:r>
              <a:t>same discipline, different system.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Primer opening the centrepiece Section — the single highest-value idea in the Topic. Slow down.</a:t>
            </a:r>
          </a:p>
          <a:p>
            <a:r>
              <a:t>• Contrast the two bullets out loud: "I chose X" is NOT a justification. "I chose X because the</a:t>
            </a:r>
          </a:p>
          <a:p>
            <a:r>
              <a:t>  workload needs Y, weighed against cost/security/residency — and the alternative was worse, for</a:t>
            </a:r>
          </a:p>
          <a:p>
            <a:r>
              <a:t>  these reasons" IS (the accent-bold line).</a:t>
            </a:r>
          </a:p>
          <a:p>
            <a:r>
              <a:t>• The defining test (last bullet): a justification is SPECIFIC to this workload and NAMES the</a:t>
            </a:r>
          </a:p>
          <a:p>
            <a:r>
              <a:t>  trade-off. Generic best practice ("it's more scalable") is not a justification.</a:t>
            </a:r>
          </a:p>
          <a:p>
            <a:r>
              <a:t>• Set expectations: this is the marked AT2 judgement (A4) — the difference between a pass build and</a:t>
            </a:r>
          </a:p>
          <a:p>
            <a:r>
              <a:t>  a strong one lives here.</a:t>
            </a:r>
          </a:p>
          <a:p>
            <a:r>
              <a:t>Misconception to pre-empt: "justify = describe what I did." No — describing the config is the</a:t>
            </a:r>
          </a:p>
          <a:p>
            <a:r>
              <a:t>build; justifying is defending WHY, against this client's needs and the rejected alternative.</a:t>
            </a:r>
          </a:p>
          <a:p>
            <a:r>
              <a:t>Question to pose: "'I picked a t3.medium because it's a good all-rounder' — why does that earn</a:t>
            </a:r>
          </a:p>
          <a:p>
            <a:r>
              <a:t>almost nothing, and what would fix it?" (no workload link, no trade-off, no alternative).</a:t>
            </a:r>
          </a:p>
          <a:p>
            <a:r>
              <a:t>UoC/AT2 tie: ICTCLD401 PC 1.1 · PC 1.3 · PC 1.8 (+ KE 6 options / KE 4 cost); AT2 §4.16, criterion</a:t>
            </a:r>
          </a:p>
          <a:p>
            <a:r>
              <a:t>A4 — the marked judgement.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C3 method slide — give students the repeatable four-step scaffold they'll apply to every</a:t>
            </a:r>
          </a:p>
          <a:p>
            <a:r>
              <a:t>decision. Teach it as a template, not prose.</a:t>
            </a:r>
          </a:p>
          <a:p>
            <a:r>
              <a:t>• Walk the four steps in order: 1. State the decision (what you chose). 2. The workload FACTS that</a:t>
            </a:r>
          </a:p>
          <a:p>
            <a:r>
              <a:t>  bear on it — load, pattern, data sensitivity, residency, cost appetite. 3. WEIGH it —</a:t>
            </a:r>
          </a:p>
          <a:p>
            <a:r>
              <a:t>  performance vs cost vs security vs residency. 4. Name the ALTERNATIVE and why you rejected it.</a:t>
            </a:r>
          </a:p>
          <a:p>
            <a:r>
              <a:t>• Stress step 4 (accent-bold): the rejected alternative is what most students skip, and it's what</a:t>
            </a:r>
          </a:p>
          <a:p>
            <a:r>
              <a:t>  proves the choice was a judgement, not a default.</a:t>
            </a:r>
          </a:p>
          <a:p>
            <a:r>
              <a:t>• Tell them: apply this SAME four steps to every open decision — consistency is what makes the</a:t>
            </a:r>
          </a:p>
          <a:p>
            <a:r>
              <a:t>  report defensible.</a:t>
            </a:r>
          </a:p>
          <a:p>
            <a:r>
              <a:t>Misconception to pre-empt: "step 2 = any facts about the workload." No — only the facts that BEAR</a:t>
            </a:r>
          </a:p>
          <a:p>
            <a:r>
              <a:t>on this decision (for an instance type: the user load/pattern, not the residency rule).</a:t>
            </a:r>
          </a:p>
          <a:p>
            <a:r>
              <a:t>Question to pose: "Which of the four steps is the one you'll be tempted to drop — and why is it the</a:t>
            </a:r>
          </a:p>
          <a:p>
            <a:r>
              <a:t>one that earns the marks?" (step 4, the rejected alternative).</a:t>
            </a:r>
          </a:p>
          <a:p>
            <a:r>
              <a:t>UoC/AT2 tie: PC 1.1 (compare) · PC 1.3 (select) · PC 1.8 (define workload); the method operationalises</a:t>
            </a:r>
          </a:p>
          <a:p>
            <a:r>
              <a:t>A4 across the §4.16 decisions.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method made concrete — run one full example end to end so the abstract four steps become a</a:t>
            </a:r>
          </a:p>
          <a:p>
            <a:r>
              <a:t>pattern students can copy. This is the model answer's shape.</a:t>
            </a:r>
          </a:p>
          <a:p>
            <a:r>
              <a:t>• Walk the four steps on C3 (SQL licensing): DECISION — licence-included (pay hourly, licence built</a:t>
            </a:r>
          </a:p>
          <a:p>
            <a:r>
              <a:t>  in) vs bring-your-own-licence (BYOL). WORKLOAD FACTS — steady business-hours use; YAT may already</a:t>
            </a:r>
          </a:p>
          <a:p>
            <a:r>
              <a:t>  hold SQL Server licences; cost is a stated concern.</a:t>
            </a:r>
          </a:p>
          <a:p>
            <a:r>
              <a:t>• WEIGH (accent-bold): licence-included is simpler + better for variable/short use; BYOL is cheaper</a:t>
            </a:r>
          </a:p>
          <a:p>
            <a:r>
              <a:t>  at steady use IF you already own licences. DECIDE + JUSTIFY: pick the cheaper-over-the-term option</a:t>
            </a:r>
          </a:p>
          <a:p>
            <a:r>
              <a:t>  for this steady workload, and say why the other was rejected.</a:t>
            </a:r>
          </a:p>
          <a:p>
            <a:r>
              <a:t>• Point at how it reuses AT1 cost thinking — the CBA muscle from Topic 3, now applied to one build</a:t>
            </a:r>
          </a:p>
          <a:p>
            <a:r>
              <a:t>  decision.</a:t>
            </a:r>
          </a:p>
          <a:p>
            <a:r>
              <a:t>Misconception to pre-empt: "there's a universally right answer here." No — it depends on YAT's</a:t>
            </a:r>
          </a:p>
          <a:p>
            <a:r>
              <a:t>facts (do they own licences? how steady?); the marks are in the reasoning, not the option chosen.</a:t>
            </a:r>
          </a:p>
          <a:p>
            <a:r>
              <a:t>Question to pose: "Change one fact — YAT owns no SQL licences — does your answer flip, and why?"</a:t>
            </a:r>
          </a:p>
          <a:p>
            <a:r>
              <a:t>(shows the justification is fact-driven, not memorised).</a:t>
            </a:r>
          </a:p>
          <a:p>
            <a:r>
              <a:t>UoC/AT2 tie: PC 1.3 + KE 4 (cost models); the template for the eight §4.16 justifications.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Facilitation — the Topic's centrepiece practice; students write a justified rationale for every</a:t>
            </a:r>
          </a:p>
          <a:p>
            <a:r>
              <a:t>open design decision. Budget the most time here.</a:t>
            </a:r>
          </a:p>
          <a:p>
            <a:r>
              <a:t>Tell students: "Using the four-step method, write a justified rationale for each of the design's</a:t>
            </a:r>
          </a:p>
          <a:p>
            <a:r>
              <a:t>open decisions — C1 to C8. Ground every one in the Ledgerline workload, not generic best practice.</a:t>
            </a:r>
          </a:p>
          <a:p>
            <a:r>
              <a:t>These go straight into your Deployment Report."</a:t>
            </a:r>
          </a:p>
          <a:p>
            <a:r>
              <a:t>Steps (put on the board):</a:t>
            </a:r>
          </a:p>
          <a:p>
            <a:r>
              <a:t>1. For each decision (EC2 type, RDS class, SQL licence, EBS sizing, ASG params, backup/RPO,</a:t>
            </a:r>
          </a:p>
          <a:p>
            <a:r>
              <a:t>   DNS/ACM, bastion/RDP): state it, give the workload facts, weigh it, name the rejected alternative.</a:t>
            </a:r>
          </a:p>
          <a:p>
            <a:r>
              <a:t>2. Anchor to the workload: 15–25 typical / 45–55 month-end users; read-heavy at month-end;</a:t>
            </a:r>
          </a:p>
          <a:p>
            <a:r>
              <a:t>   financial-records residency; 7-year retention; business-hours, idle overnight.</a:t>
            </a:r>
          </a:p>
          <a:p>
            <a:r>
              <a:t>Must produce: a justified rationale per C1–C8 decision — each with a workload link, a trade-off,</a:t>
            </a:r>
          </a:p>
          <a:p>
            <a:r>
              <a:t>and a rejected alternative (the AT2 §4.16 / A4 content).</a:t>
            </a:r>
          </a:p>
          <a:p>
            <a:r>
              <a:t>Timing: ~30 min. Where they get stuck: generic reasoning ("more scalable", "best practice") with no</a:t>
            </a:r>
          </a:p>
          <a:p>
            <a:r>
              <a:t>workload link — circulate and ask "for THIS client, why?"; and skipping the rejected alternative.</a:t>
            </a:r>
          </a:p>
          <a:p>
            <a:r>
              <a:t>Share-back: take one decision (e.g. RDS class) from two students; ask the room which is more</a:t>
            </a:r>
          </a:p>
          <a:p>
            <a:r>
              <a:t>workload-specific and which named the trade-off.</a:t>
            </a:r>
          </a:p>
          <a:p>
            <a:r>
              <a:t>No-leakage note: practice justifications on the Accounting/Ledgerline workload; AT2 assesses the</a:t>
            </a:r>
          </a:p>
          <a:p>
            <a:r>
              <a:t>same judgement on the LMS build — comparable, not identical.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3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011680"/>
            <a:ext cx="105156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000" b="1" i="0">
                <a:solidFill>
                  <a:srgbClr val="FBB900"/>
                </a:solidFill>
                <a:latin typeface="Roboto"/>
              </a:rPr>
              <a:t>TOPIC 09</a:t>
            </a:r>
          </a:p>
          <a:p>
            <a:pPr>
              <a:spcBef>
                <a:spcPts val="800"/>
              </a:spcBef>
            </a:pPr>
            <a:r>
              <a:rPr sz="4600" b="1" i="0">
                <a:solidFill>
                  <a:srgbClr val="FFFFFF"/>
                </a:solidFill>
                <a:latin typeface="Roboto"/>
              </a:rPr>
              <a:t>Operability &amp; justification</a:t>
            </a:r>
          </a:p>
          <a:p>
            <a:pPr>
              <a:spcBef>
                <a:spcPts val="1200"/>
              </a:spcBef>
            </a:pPr>
            <a:r>
              <a:rPr sz="2200" b="0" i="1">
                <a:solidFill>
                  <a:srgbClr val="D1D1D1"/>
                </a:solidFill>
                <a:latin typeface="Roboto Light"/>
              </a:rPr>
              <a:t>Monitor the build, validate it works, and justify every decision against the workload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914400" y="5943600"/>
            <a:ext cx="73152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FFFFFF"/>
                </a:solidFill>
                <a:latin typeface="Roboto"/>
              </a:rPr>
              <a:t>Kangan </a:t>
            </a:r>
            <a:r>
              <a:rPr sz="1600" b="1" i="0">
                <a:solidFill>
                  <a:srgbClr val="EDAB0C"/>
                </a:solidFill>
                <a:latin typeface="Roboto"/>
              </a:rPr>
              <a:t>Institute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From built to defensible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build needs to stand up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Topics 6–8 built the workload — foundation, network, compute, data.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Now make it operable and defensible: monitor it, validate it, and justify the open decisions.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These three things are exactly what the Deployment Report is marked 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Topic 10 then turns the evidence and justifications into the report itself.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92268F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Monitoring &amp; logging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CloudWatch baseline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monitoring is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metric is a measurement taken over time — CPU %, free storage, database connections.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An alarm is a threshold on a metric that fires an action or a notification when crossed.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log is a record of events — what happened, and when.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2400" b="1" i="0">
                <a:solidFill>
                  <a:srgbClr val="92268F"/>
                </a:solidFill>
                <a:latin typeface="Roboto"/>
              </a:rPr>
              <a:t>You monitor so you find out before your users do.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2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Amazon CloudWatch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AWS · ACA M10 S9–S12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737360"/>
            <a:ext cx="548640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Collects metrics and logs from AWS services into one place.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Alarms send notifications (e.g. to SNS) or trigger actions (e.g. Auto Scaling).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Dashboards visualise metrics and alarms; CloudWatch Logs centralises log files.</a:t>
            </a:r>
          </a:p>
        </p:txBody>
      </p:sp>
      <p:pic>
        <p:nvPicPr>
          <p:cNvPr id="5" name="Picture 4" descr="09-cloudwat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00800" y="2591191"/>
            <a:ext cx="5120640" cy="2407138"/>
          </a:xfrm>
          <a:prstGeom prst="rect">
            <a:avLst/>
          </a:prstGeom>
        </p:spPr>
      </p:pic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3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monitoring you'll build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design · §4.10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463040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7772400"/>
                <a:gridCol w="685800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Baseline alarm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Threshold</a:t>
                      </a:r>
                    </a:p>
                  </a:txBody>
                  <a:tcPr marL="76200" marR="76200">
                    <a:solidFill>
                      <a:srgbClr val="92268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EC2 CPU high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≥ 80% over 10 min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CPU high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≥ 80% over 10 min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free storage low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&lt; 15%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ALB target 5XX / unhealthy host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&gt; 5 / min, or any unhealthy host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connections high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&gt; 80% of max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Logging: VPC flow logs + RDS logs → CloudWatch Logs; ALB access logs → S3; EC2 OS logs via the CloudWatch Agent; audit-relevant logs retained 7 years. HA-tuned alarms come in AT3.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4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2240280" cy="457200"/>
          </a:xfrm>
          <a:prstGeom prst="round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300" b="1" i="0">
                <a:solidFill>
                  <a:srgbClr val="2A2929"/>
                </a:solidFill>
                <a:latin typeface="Roboto"/>
              </a:rPr>
              <a:t>DEMONSTRATION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0" y="310896"/>
            <a:ext cx="832104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500" b="1" i="0">
                <a:solidFill>
                  <a:srgbClr val="FFFFFF"/>
                </a:solidFill>
                <a:latin typeface="Roboto"/>
              </a:rPr>
              <a:t>Create a CloudWatch alarm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Pick a metric (e.g. EC2 CPU) and set a threshold and period.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Choose the action — a notification (SNS), or an Auto Scaling action.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0" i="0">
                <a:solidFill>
                  <a:srgbClr val="2A2929"/>
                </a:solidFill>
                <a:latin typeface="Roboto"/>
              </a:rPr>
              <a:t>Confirm the alarm state, and view it on a dashboard.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658368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621792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400" b="1" i="0">
                <a:solidFill>
                  <a:srgbClr val="2A2929"/>
                </a:solidFill>
                <a:latin typeface="Roboto"/>
              </a:rPr>
              <a:t>▶  Instructor demonstrates live (no recorded demo) — you do this next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5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Stand up the baseline monitoring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per the design's §4.10: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create the baseline alarms (EC2/RDS CPU, RDS storage + connections, ALB 5XX/unhealthy)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enable the logging destinations (CloudWatch Logs, ALB access logs to S3, the CloudWatch Agent)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92268F"/>
                </a:solidFill>
                <a:latin typeface="Roboto"/>
              </a:rPr>
              <a:t>■  </a:t>
            </a:r>
            <a:r>
              <a:rPr sz="1700" b="1" i="0">
                <a:solidFill>
                  <a:srgbClr val="92268F"/>
                </a:solidFill>
                <a:latin typeface="Roboto"/>
              </a:rPr>
              <a:t>Capture evidence — the alarms and the log configuration.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6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92268F"/>
                </a:solidFill>
                <a:latin typeface="Roboto"/>
              </a:rPr>
              <a:t>Section 1 · Monitoring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metric is measured over time; an alarm fires on a threshold; a log records events.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CloudWatch collects metrics + logs, alarms, and dashboards in one place.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Build the design's baseline alarms + logging — HA-tuned alarms are AT3.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Monitoring is evidence: capture the alarms and log config.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9226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7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7B5CE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Validation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does it meet the design?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validation is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Building something is not the same as confirming it does what was asked.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Validation = test → observe → compare to the requirement/design → fix.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It's how you (and the assessor) know the build actually meets the spec.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8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Validate against the design + recovery objectives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consolidate the tests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Pull together the tests you've already run: connectivity (Reachability Analyzer), app→database, and scaling.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Check the build meets the design's recovery objectives: RPO ≤ 1 hour, RTO ≤ 1 business day.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7B5CE"/>
                </a:solidFill>
                <a:latin typeface="Roboto"/>
              </a:rPr>
              <a:t>Name the known limit honestly: this baseline is single-AZ — the single AZ and single RDS instance are SPOFs.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That SPOF is tolerable for a business-hours service now, and is the objective of the AT3 HA design.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9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Validate the build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In the lab, run a validation pass against the design: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confirm connectivity (staff→ALB, app→database) and the scaling behaviour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check the recovery objectives are met; note the single-AZ SPOF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7B5CE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7B5CE"/>
                </a:solidFill>
                <a:latin typeface="Roboto"/>
              </a:rPr>
              <a:t>Record each result and any fix; capture evidence.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~15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10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7B5CE"/>
                </a:solidFill>
                <a:latin typeface="Roboto"/>
              </a:rPr>
              <a:t>Section 2 · Validation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Validation confirms the build meets the requirement — not just that it exists.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Consolidate the connectivity + scaling tests into a check against the design.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Check the recovery objectives; name the single-AZ SPOF honestly.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Record results and fixes — they're report evidence.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7B5C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11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3931920" cy="68580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65760" y="2103120"/>
            <a:ext cx="329184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3000" b="1" i="0">
                <a:solidFill>
                  <a:srgbClr val="FFFFFF"/>
                </a:solidFill>
                <a:latin typeface="Roboto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480560" y="2468880"/>
            <a:ext cx="7132320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600" b="1" i="0">
                <a:solidFill>
                  <a:srgbClr val="205F61"/>
                </a:solidFill>
                <a:latin typeface="Roboto"/>
              </a:rPr>
              <a:t>SECTION</a:t>
            </a:r>
          </a:p>
          <a:p>
            <a:pPr>
              <a:spcBef>
                <a:spcPts val="600"/>
              </a:spcBef>
            </a:pPr>
            <a:r>
              <a:rPr sz="3800" b="1" i="0">
                <a:solidFill>
                  <a:srgbClr val="2A2929"/>
                </a:solidFill>
                <a:latin typeface="Roboto"/>
              </a:rPr>
              <a:t>Justifying your decisions</a:t>
            </a:r>
          </a:p>
          <a:p>
            <a:pPr>
              <a:spcBef>
                <a:spcPts val="1000"/>
              </a:spcBef>
            </a:pPr>
            <a:r>
              <a:rPr sz="2000" b="0" i="1">
                <a:solidFill>
                  <a:srgbClr val="484848"/>
                </a:solidFill>
                <a:latin typeface="Roboto Light"/>
              </a:rPr>
              <a:t>C1–C8 against the workload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/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What it means to justify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fundamentals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“I chose X” is not a justification.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“I chose X because the workload needs Y, weighed against cost / security / residency — and the alternative was worse, for these reasons” is.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A justification is specific to this workload, and names the trade-off.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12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method — justify against the workload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four steps, every decision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1. State the decision (what you chose).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2. The workload facts that bear on it (load, pattern, data sensitivity, residency, cost appetite).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3. Weigh it — performance vs cost vs security vs residency.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4. Name the alternative and why you rejected it.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13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The decisions you'll justify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design · §4.16 (C1–C8)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4" name="Table 3"/>
          <p:cNvGraphicFramePr>
            <a:graphicFrameLocks noGrp="1"/>
          </p:cNvGraphicFramePr>
          <p:nvPr/>
        </p:nvGraphicFramePr>
        <p:xfrm>
          <a:off x="658368" y="1828800"/>
          <a:ext cx="1463040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188720"/>
                <a:gridCol w="6126480"/>
                <a:gridCol w="7315200"/>
              </a:tblGrid>
              <a:tr h="457200"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#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Decision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400" b="1" i="0">
                          <a:solidFill>
                            <a:srgbClr val="FFFFFF"/>
                          </a:solidFill>
                          <a:latin typeface="Roboto"/>
                        </a:rPr>
                        <a:t>Justify against…</a:t>
                      </a:r>
                    </a:p>
                  </a:txBody>
                  <a:tcPr marL="76200" marR="76200">
                    <a:solidFill>
                      <a:srgbClr val="205F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C1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EC2 instance type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typical 15–25 / month-end 45–55 users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C2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RDS instance class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read-heavy at month-end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C3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SQL Server licence model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cost (licence-included vs BYOL)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C4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EBS data-volume size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footprint + 12-month growth</a:t>
                      </a:r>
                    </a:p>
                  </a:txBody>
                  <a:tcPr marL="76200" marR="76200" marT="50800" marB="50800">
                    <a:solidFill>
                      <a:srgbClr val="F9F9F9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C5–C8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ASG params · backup/RPO · DNS+ACM · bastion/RDP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sz="1300" b="0" i="0">
                          <a:solidFill>
                            <a:srgbClr val="2A2929"/>
                          </a:solidFill>
                          <a:latin typeface="Roboto"/>
                        </a:rPr>
                        <a:t>the workload + the design's targets</a:t>
                      </a:r>
                    </a:p>
                  </a:txBody>
                  <a:tcPr marL="76200" marR="76200" marT="50800" marB="508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TextBox 4"/>
          <p:cNvSpPr txBox="1"/>
          <p:nvPr/>
        </p:nvSpPr>
        <p:spPr>
          <a:xfrm>
            <a:off x="658368" y="5943600"/>
            <a:ext cx="108813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500" b="0" i="1">
                <a:solidFill>
                  <a:srgbClr val="484848"/>
                </a:solidFill>
                <a:latin typeface="Roboto Light"/>
              </a:rPr>
              <a:t>Each is made and evidenced in the Deployment Report, justified against the Ledgerline workload.</a:t>
            </a:r>
          </a:p>
        </p:txBody>
      </p:sp>
      <p:sp>
        <p:nvSpPr>
          <p:cNvPr id="6" name="Rectangle 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57200"/>
            <a:ext cx="10881360" cy="9601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2800" b="1" i="0">
                <a:solidFill>
                  <a:srgbClr val="2A2929"/>
                </a:solidFill>
                <a:latin typeface="Roboto"/>
              </a:rPr>
              <a:t>Worked example — SQL Server licensing (C3)</a:t>
            </a:r>
          </a:p>
          <a:p>
            <a:pPr>
              <a:spcBef>
                <a:spcPts val="200"/>
              </a:spcBef>
            </a:pPr>
            <a:r>
              <a:rPr sz="1800" b="0" i="1">
                <a:solidFill>
                  <a:srgbClr val="D68E10"/>
                </a:solidFill>
                <a:latin typeface="Roboto Light"/>
              </a:rPr>
              <a:t>the method, end to end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3716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658368" y="1691640"/>
            <a:ext cx="10881360" cy="44805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Decision: licence-included (pay hourly, includes the SQL Server licence) vs bring-your-own-licence (BYOL).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Workload facts: steady business-hours use; YAT may already hold SQL Server licences; cost is a stated concern.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2400" b="1" i="0">
                <a:solidFill>
                  <a:srgbClr val="205F61"/>
                </a:solidFill>
                <a:latin typeface="Roboto"/>
              </a:rPr>
              <a:t>Weigh: licence-included is simpler + better for variable/short use; BYOL is cheaper at steady use if licences are owned.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24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2400" b="0" i="0">
                <a:solidFill>
                  <a:srgbClr val="2A2929"/>
                </a:solidFill>
                <a:latin typeface="Roboto"/>
              </a:rPr>
              <a:t>Decide + justify: pick the cheaper-over-the-term option for this steady workload, and say why the other was rejected.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15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40080" y="384048"/>
            <a:ext cx="1691640" cy="457200"/>
          </a:xfrm>
          <a:prstGeom prst="roundRect">
            <a:avLst/>
          </a:prstGeom>
          <a:solidFill>
            <a:srgbClr val="2A292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BB900"/>
                </a:solidFill>
                <a:latin typeface="Roboto"/>
              </a:rPr>
              <a:t>ACTIVITY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2560320" y="310896"/>
            <a:ext cx="8961120" cy="6858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2600" b="1" i="0">
                <a:solidFill>
                  <a:srgbClr val="FFFFFF"/>
                </a:solidFill>
                <a:latin typeface="Roboto"/>
              </a:rPr>
              <a:t>Justify the C1–C8 decisions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58368" y="1554480"/>
            <a:ext cx="10881360" cy="4297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EDAB0C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A2929"/>
                </a:solidFill>
                <a:latin typeface="Roboto"/>
              </a:rPr>
              <a:t>Using the four-step method, write a justified rationale for each of the design's open decisions: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ground each in the Ledgerline workload — 15–25 typical / 45–55 month-end; read-heavy month-end</a:t>
            </a:r>
          </a:p>
          <a:p>
            <a:pPr marL="365760" indent="0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400" b="0" i="0">
                <a:solidFill>
                  <a:srgbClr val="7A7A7A"/>
                </a:solidFill>
                <a:latin typeface="Roboto"/>
              </a:rPr>
              <a:t>–  </a:t>
            </a:r>
            <a:r>
              <a:rPr sz="1400" b="0" i="0">
                <a:solidFill>
                  <a:srgbClr val="2A2929"/>
                </a:solidFill>
                <a:latin typeface="Roboto"/>
              </a:rPr>
              <a:t>financial-records residency; 7-year retention; business-hours, idle overnight</a:t>
            </a:r>
          </a:p>
          <a:p>
            <a:pPr marL="0" indent="0">
              <a:lnSpc>
                <a:spcPct val="105000"/>
              </a:lnSpc>
              <a:spcBef>
                <a:spcPts val="0"/>
              </a:spcBef>
              <a:spcAft>
                <a:spcPts val="1000"/>
              </a:spcAft>
            </a:pPr>
            <a:r>
              <a:rPr sz="1700" b="1" i="0">
                <a:solidFill>
                  <a:srgbClr val="205F61"/>
                </a:solidFill>
                <a:latin typeface="Roboto"/>
              </a:rPr>
              <a:t>■  </a:t>
            </a:r>
            <a:r>
              <a:rPr sz="1700" b="1" i="0">
                <a:solidFill>
                  <a:srgbClr val="205F61"/>
                </a:solidFill>
                <a:latin typeface="Roboto"/>
              </a:rPr>
              <a:t>These rationales go straight into your Deployment Report.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5897880"/>
            <a:ext cx="4023360" cy="457200"/>
          </a:xfrm>
          <a:prstGeom prst="roundRect">
            <a:avLst/>
          </a:prstGeom>
          <a:solidFill>
            <a:srgbClr val="F9F9F9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5943600"/>
            <a:ext cx="3657600" cy="36576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r>
              <a:rPr sz="1500" b="1" i="0">
                <a:solidFill>
                  <a:srgbClr val="2A2929"/>
                </a:solidFill>
                <a:latin typeface="Roboto"/>
              </a:rPr>
              <a:t>⏱  ~30 min</a:t>
            </a:r>
          </a:p>
        </p:txBody>
      </p:sp>
      <p:sp>
        <p:nvSpPr>
          <p:cNvPr id="8" name="Rectangle 7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16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205F61"/>
                </a:solidFill>
                <a:latin typeface="Roboto"/>
              </a:rPr>
              <a:t>Section 3 · Justification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A justification names the workload need, the trade-off, and the rejected alternative.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Use the four-step method on every open decision.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Ground every choice in the Ledgerline workload — not generic best practice.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These rationales are the heart of what the report is marked 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205F6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17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9F9F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548640"/>
            <a:ext cx="1088136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3200" b="1" i="0">
                <a:solidFill>
                  <a:srgbClr val="2A2929"/>
                </a:solidFill>
                <a:latin typeface="Roboto"/>
              </a:rPr>
              <a:t>Key takeaways</a:t>
            </a:r>
          </a:p>
          <a:p>
            <a:pPr>
              <a:spcBef>
                <a:spcPts val="200"/>
              </a:spcBef>
            </a:pPr>
            <a:r>
              <a:rPr sz="1800" b="1" i="0">
                <a:solidFill>
                  <a:srgbClr val="EDAB0C"/>
                </a:solidFill>
                <a:latin typeface="Roboto"/>
              </a:rPr>
              <a:t>Topic 9 · Key takeaways</a:t>
            </a:r>
          </a:p>
        </p:txBody>
      </p:sp>
      <p:sp>
        <p:nvSpPr>
          <p:cNvPr id="3" name="Rectangle 2"/>
          <p:cNvSpPr/>
          <p:nvPr/>
        </p:nvSpPr>
        <p:spPr>
          <a:xfrm>
            <a:off x="658368" y="1600200"/>
            <a:ext cx="1463040" cy="508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640080" y="1965960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965960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60120" y="1965960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 the build — baseline alarms + logging (CloudWatch).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2916936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2916936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60120" y="2916936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Validate it against the design and the recovery objectives; name the SPOF.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3867912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867912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60120" y="3867912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Justify every open decision against the workload — performance, cost, security, residency.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40080" y="4818888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40080" y="4818888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818888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Baseline operability only — HA-tuned monitoring and availability are AT3.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40080" y="5769864"/>
            <a:ext cx="10927080" cy="841248"/>
          </a:xfrm>
          <a:prstGeom prst="rect">
            <a:avLst/>
          </a:prstGeom>
          <a:solidFill>
            <a:srgbClr val="FFFFFF"/>
          </a:solidFill>
          <a:ln w="12700">
            <a:solidFill>
              <a:srgbClr val="CCCC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40080" y="5769864"/>
            <a:ext cx="109728" cy="841248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60120" y="5769864"/>
            <a:ext cx="10424160" cy="8412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>
              <a:lnSpc>
                <a:spcPct val="100000"/>
              </a:lnSpc>
            </a:pPr>
            <a:r>
              <a:rPr sz="1700" b="0" i="0">
                <a:solidFill>
                  <a:srgbClr val="2A2929"/>
                </a:solidFill>
                <a:latin typeface="Roboto"/>
              </a:rPr>
              <a:t>Monitoring, validation and justifications all feed the Deployment Report.</a:t>
            </a:r>
          </a:p>
        </p:txBody>
      </p:sp>
      <p:sp>
        <p:nvSpPr>
          <p:cNvPr id="19" name="Rectangle 18"/>
          <p:cNvSpPr/>
          <p:nvPr/>
        </p:nvSpPr>
        <p:spPr>
          <a:xfrm>
            <a:off x="0" y="6565392"/>
            <a:ext cx="12191695" cy="381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6400800"/>
            <a:ext cx="54864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1100" b="1" i="0">
                <a:solidFill>
                  <a:srgbClr val="2A2929"/>
                </a:solidFill>
                <a:latin typeface="Roboto"/>
              </a:rPr>
              <a:t>Kangan </a:t>
            </a:r>
            <a:r>
              <a:rPr sz="1100" b="1" i="0">
                <a:solidFill>
                  <a:srgbClr val="D68E10"/>
                </a:solidFill>
                <a:latin typeface="Roboto"/>
              </a:rPr>
              <a:t>Institute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0" y="6400800"/>
            <a:ext cx="11887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 i="0">
                <a:solidFill>
                  <a:srgbClr val="7A7A7A"/>
                </a:solidFill>
                <a:latin typeface="Roboto"/>
              </a:rPr>
              <a:t>18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2A2929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411480" cy="6858000"/>
          </a:xfrm>
          <a:prstGeom prst="rect">
            <a:avLst/>
          </a:prstGeom>
          <a:solidFill>
            <a:srgbClr val="EDAB0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1463040"/>
            <a:ext cx="10515600" cy="4023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r>
              <a:rPr sz="4000" b="1" i="0">
                <a:solidFill>
                  <a:srgbClr val="FFFFFF"/>
                </a:solidFill>
                <a:latin typeface="Roboto"/>
              </a:rPr>
              <a:t>Next: Topic 10 — Evidencing &amp; documenting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Assemble the evidence, the validation results and the C1–C8 justifications into the Deployment Report — the AT2 deliverable.</a:t>
            </a:r>
          </a:p>
          <a:p>
            <a:pPr>
              <a:lnSpc>
                <a:spcPct val="105000"/>
              </a:lnSpc>
              <a:spcBef>
                <a:spcPts val="1200"/>
              </a:spcBef>
            </a:pPr>
            <a:r>
              <a:rPr sz="1900" b="0" i="0">
                <a:solidFill>
                  <a:srgbClr val="E8E8E8"/>
                </a:solidFill>
                <a:latin typeface="Roboto Light"/>
              </a:rPr>
              <a:t>Everything you've captured since Topic 6 comes together here.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