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this as the map for the whole Topic — set expectations before teaching. This Topic is</a:t>
            </a:r>
          </a:p>
          <a:p>
            <a:r>
              <a:t>different from 2–4: no new analysis, all communication.</a:t>
            </a:r>
          </a:p>
          <a:p>
            <a:r>
              <a:t>• The written business case is DONE (Topics 2–4). Today is about selling it: preparing,</a:t>
            </a:r>
          </a:p>
          <a:p>
            <a:r>
              <a:t>delivering, and defending it in the room.</a:t>
            </a:r>
          </a:p>
          <a:p>
            <a:r>
              <a:t>• Three moves (the bolded line) — prepare &amp; rehearse → deliver → handle the room; each is a</a:t>
            </a:r>
          </a:p>
          <a:p>
            <a:r>
              <a:t>section today and each maps to a phase of the real event.</a:t>
            </a:r>
          </a:p>
          <a:p>
            <a:r>
              <a:t>• Stress the assessment framing (last bullet): this is the presentation EVENT — an OBSERVED</a:t>
            </a:r>
          </a:p>
          <a:p>
            <a:r>
              <a:t>assessment. HOW you present is marked, not just what you built. A brilliant case badly pitched</a:t>
            </a:r>
          </a:p>
          <a:p>
            <a:r>
              <a:t>still fails Part B.</a:t>
            </a:r>
          </a:p>
          <a:p>
            <a:r>
              <a:t>Misconception to pre-empt: "it is all in the document." No — Part B assesses the live</a:t>
            </a:r>
          </a:p>
          <a:p>
            <a:r>
              <a:t>delivery and Q&amp;A; a strong writer who can't present loses those criteria.</a:t>
            </a:r>
          </a:p>
          <a:p>
            <a:r>
              <a:t>Question to pose: "Your business case is written and correct. What could still go wrong in the</a:t>
            </a:r>
          </a:p>
          <a:p>
            <a:r>
              <a:t>boardroom?" — surfaces that communication is a separate, assessed skill.</a:t>
            </a:r>
          </a:p>
          <a:p>
            <a:r>
              <a:t>UoC/AT1 tie: the whole Topic prepares AT1 Part B (board presentation, criteria B1–B8); today</a:t>
            </a:r>
          </a:p>
          <a:p>
            <a:r>
              <a:t>rehearses on Ledgerline what AT1 assesses on the LMS.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1 — the core mindset for the prepare phase. Give it weight; students default to</a:t>
            </a:r>
          </a:p>
          <a:p>
            <a:r>
              <a:t>pasting their document onto slides.</a:t>
            </a:r>
          </a:p>
          <a:p>
            <a:r>
              <a:t>• The board ALREADY READ the document — so a board deck isn't the business case with slide</a:t>
            </a:r>
          </a:p>
          <a:p>
            <a:r>
              <a:t>borders. Reading it back to them wastes the room's time.</a:t>
            </a:r>
          </a:p>
          <a:p>
            <a:r>
              <a:t>• The deck carries the SPINE only — the ask, the money, the risk, the plan; you fill the detail</a:t>
            </a:r>
          </a:p>
          <a:p>
            <a:r>
              <a:t>verbally. The slides prompt you; they aren't the script.</a:t>
            </a:r>
          </a:p>
          <a:p>
            <a:r>
              <a:t>• The format target (bolded): 8–10 slides, one section each, on the YAT Board</a:t>
            </a:r>
          </a:p>
          <a:p>
            <a:r>
              <a:t>Presentation Deck template — the exact shape AT1 Part B requires.</a:t>
            </a:r>
          </a:p>
          <a:p>
            <a:r>
              <a:t>Misconception to pre-empt: "more slides / more text = more thorough." The opposite — a dense deck</a:t>
            </a:r>
          </a:p>
          <a:p>
            <a:r>
              <a:t>signals you can't distil. The skill is choosing what earns a slide.</a:t>
            </a:r>
          </a:p>
          <a:p>
            <a:r>
              <a:t>Question to pose: "If the board has read every word already, what is the deck actually FOR?" (to</a:t>
            </a:r>
          </a:p>
          <a:p>
            <a:r>
              <a:t>steer the decision — a spine to talk to, not a re-read).</a:t>
            </a:r>
          </a:p>
          <a:p>
            <a:r>
              <a:t>UoC/AT1 tie: 517 PC 2.4 / PC 3.3 (provide the evaluation and action plan to a superior) → B2/B3;</a:t>
            </a:r>
          </a:p>
          <a:p>
            <a:r>
              <a:t>the deck is the vehicle for both.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running order — boards decide in a predictable sequence, so structure the deck to it.</a:t>
            </a:r>
          </a:p>
          <a:p>
            <a:r>
              <a:t>Walk the arc slowly; this is the skeleton every student's deck should share.</a:t>
            </a:r>
          </a:p>
          <a:p>
            <a:r>
              <a:t>• First half: agenda → strategic context → current state → the gap → options → recommendation.</a:t>
            </a:r>
          </a:p>
          <a:p>
            <a:r>
              <a:t>You're building to the recommendation, not burying it.</a:t>
            </a:r>
          </a:p>
          <a:p>
            <a:r>
              <a:t>• Second half: cost summary → benefits → risks → implementation plan → the decision → Q&amp;A. The</a:t>
            </a:r>
          </a:p>
          <a:p>
            <a:r>
              <a:t>recommendation and the PLAN get the airtime (bolded) — that's what the board acts on.</a:t>
            </a:r>
          </a:p>
          <a:p>
            <a:r>
              <a:t>• One section per slide: headline + a few points. Everything else is verbal or in the appendix.</a:t>
            </a:r>
          </a:p>
          <a:p>
            <a:r>
              <a:t>Misconception to pre-empt: "tell the story chronologically / how I did the work." No — order it the</a:t>
            </a:r>
          </a:p>
          <a:p>
            <a:r>
              <a:t>way a board DECIDES, not the way you analysed. They want the recommendation early, then the</a:t>
            </a:r>
          </a:p>
          <a:p>
            <a:r>
              <a:t>justification.</a:t>
            </a:r>
          </a:p>
          <a:p>
            <a:r>
              <a:t>Question to pose: "Where in this arc does the ask belong — and why not save it for the end?"</a:t>
            </a:r>
          </a:p>
          <a:p>
            <a:r>
              <a:t>(early and again at the decision; a board listens better knowing what you want).</a:t>
            </a:r>
          </a:p>
          <a:p>
            <a:r>
              <a:t>UoC/AT1 tie: 401 PC 4.1 (document and communicate work) → B4; the arc is how the communication is</a:t>
            </a:r>
          </a:p>
          <a:p>
            <a:r>
              <a:t>structured for the assessed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filtering slide — turn the "distillation" principle into a keep/cut rule students can</a:t>
            </a:r>
          </a:p>
          <a:p>
            <a:r>
              <a:t>apply to their own deck in the next activity.</a:t>
            </a:r>
          </a:p>
          <a:p>
            <a:r>
              <a:t>• KEEP (bolded): the ask · the cost comparison · key risks + mitigations · the plan · the strategic</a:t>
            </a:r>
          </a:p>
          <a:p>
            <a:r>
              <a:t>fit. These drive the decision, so they earn a slide.</a:t>
            </a:r>
          </a:p>
          <a:p>
            <a:r>
              <a:t>• CUT (bolded): line-item detail · method explanations · anything that lives in the appendices.</a:t>
            </a:r>
          </a:p>
          <a:p>
            <a:r>
              <a:t>The board doesn't decide on your method — it decides on your recommendation.</a:t>
            </a:r>
          </a:p>
          <a:p>
            <a:r>
              <a:t>• The test (accent bold): if a slide doesn't help the DECISION, it's a handout, not a pitch slide.</a:t>
            </a:r>
          </a:p>
          <a:p>
            <a:r>
              <a:t>Misconception to pre-empt: "cutting detail means I look unprepared." No — the detail lives in the</a:t>
            </a:r>
          </a:p>
          <a:p>
            <a:r>
              <a:t>appendices you can turn to in Q&amp;A; a clean pitch reads as MORE prepared, not less.</a:t>
            </a:r>
          </a:p>
          <a:p>
            <a:r>
              <a:t>Question to pose: "You spent hours on the CBA method — should that be a slide? Why or why not?"</a:t>
            </a:r>
          </a:p>
          <a:p>
            <a:r>
              <a:t>(no — the RESULT and comparison are the pitch; the method is appendix/Q&amp;A material).</a:t>
            </a:r>
          </a:p>
          <a:p>
            <a:r>
              <a:t>UoC/AT1 tie: 517 PC 2.4 → B2 (walk the evaluation through for feedback); knowing what to table vs</a:t>
            </a:r>
          </a:p>
          <a:p>
            <a:r>
              <a:t>keep in reserve is part of communicating the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High-leverage slide — the coverage spec singles rehearsal out as a MUST, and it's the step</a:t>
            </a:r>
          </a:p>
          <a:p>
            <a:r>
              <a:t>students skip. Give it real weight and model that preparation isn't done when the deck is built.</a:t>
            </a:r>
          </a:p>
          <a:p>
            <a:r>
              <a:t>• The message: a built deck is not a ready pitch. Rehearsal is where a pitch is won or lost.</a:t>
            </a:r>
          </a:p>
          <a:p>
            <a:r>
              <a:t>• Walk the four rehearsal moves: run it ALOUD (walk the board through each slide, don't read it);</a:t>
            </a:r>
          </a:p>
          <a:p>
            <a:r>
              <a:t>TIME it to 10–15 min and cut if long; ANTICIPATE the board's questions and prepare answers;</a:t>
            </a:r>
          </a:p>
          <a:p>
            <a:r>
              <a:t>practise stating the ask and asking for sign-off — the bit most often fumbled.</a:t>
            </a:r>
          </a:p>
          <a:p>
            <a:r>
              <a:t>• The contrast (accent bold): a rehearsed pitch sounds confident; an unrehearsed one reads off the</a:t>
            </a:r>
          </a:p>
          <a:p>
            <a:r>
              <a:t>slides. The board can tell instantly.</a:t>
            </a:r>
          </a:p>
          <a:p>
            <a:r>
              <a:t>Misconception to pre-empt: "I know my case, so I don't need to rehearse." Knowing the content ≠</a:t>
            </a:r>
          </a:p>
          <a:p>
            <a:r>
              <a:t>being able to present it to time under questioning; those are separate skills that only rehearsal</a:t>
            </a:r>
          </a:p>
          <a:p>
            <a:r>
              <a:t>builds.</a:t>
            </a:r>
          </a:p>
          <a:p>
            <a:r>
              <a:t>Question to pose: "Which part of a pitch do people fumble most — and how would rehearsal fix it?"</a:t>
            </a:r>
          </a:p>
          <a:p>
            <a:r>
              <a:t>(stating the ask / handling the awkward question; rehearsing both removes the wobble).</a:t>
            </a:r>
          </a:p>
          <a:p>
            <a:r>
              <a:t>UoC/AT1 tie: prepares every Part-B delivery criterion (B1–B4, B7); rehearsal is the practice that</a:t>
            </a:r>
          </a:p>
          <a:p>
            <a:r>
              <a:t>turns a written case into a deliverable AT1 presentation.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Section 1 practice: students build and rehearse the pitch for their PRACTICE</a:t>
            </a:r>
          </a:p>
          <a:p>
            <a:r>
              <a:t>business case. This is the biggest task of the Topic; protect the time for it.</a:t>
            </a:r>
          </a:p>
          <a:p>
            <a:r>
              <a:t>Tell students: "Take the business case you completed across Topics 2–4 on the Accounting System</a:t>
            </a:r>
          </a:p>
          <a:p>
            <a:r>
              <a:t>and turn it into a board deck. Eight to ten slides on the YAT Board Presentation Deck template.</a:t>
            </a:r>
          </a:p>
          <a:p>
            <a:r>
              <a:t>Then rehearse it — out loud, to time. A deck you haven't said aloud isn't</a:t>
            </a:r>
          </a:p>
          <a:p>
            <a:r>
              <a:t>ready."</a:t>
            </a:r>
          </a:p>
          <a:p>
            <a:r>
              <a:t>Steps (put on the board):</a:t>
            </a:r>
          </a:p>
          <a:p>
            <a:r>
              <a:t>1. Build the 8–10 slide deck — one section per slide, following the board arc; headline + a few</a:t>
            </a:r>
          </a:p>
          <a:p>
            <a:r>
              <a:t>points; the recommendation and plan get the airtime.</a:t>
            </a:r>
          </a:p>
          <a:p>
            <a:r>
              <a:t>2. Rehearse: run it aloud and TIME it (target 10–15 min); cut if you run long.</a:t>
            </a:r>
          </a:p>
          <a:p>
            <a:r>
              <a:t>3. In your notes, write the three questions you'd LEAST like to be asked — and your answers.</a:t>
            </a:r>
          </a:p>
          <a:p>
            <a:r>
              <a:t>Must produce: an 8–10 slide board deck, rehearsed and timed, plus three</a:t>
            </a:r>
          </a:p>
          <a:p>
            <a:r>
              <a:t>anticipated questions with prepared answers.</a:t>
            </a:r>
          </a:p>
          <a:p>
            <a:r>
              <a:t>Timing: ~30 min build + rehearse, then we present. Where they get stuck: they rebuild the whole</a:t>
            </a:r>
          </a:p>
          <a:p>
            <a:r>
              <a:t>document onto slides (too dense) — push them back to the spine/keep-cut rule; and they skip saying</a:t>
            </a:r>
          </a:p>
          <a:p>
            <a:r>
              <a:t>it aloud — insist rehearsal happens, it's not optional.</a:t>
            </a:r>
          </a:p>
          <a:p>
            <a:r>
              <a:t>Share-back: none yet — they present in the Section 2 activity; this is the build.</a:t>
            </a:r>
          </a:p>
          <a:p>
            <a:r>
              <a:t>No-leakage note: this is practice on Ledgerline; AT1 Part B assesses the SAME skill on the LMS —</a:t>
            </a:r>
          </a:p>
          <a:p>
            <a:r>
              <a:t>comparable, not identical. Keep them on the Accounting System deck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2 — the single most important delivery habit. Short slide, big point.</a:t>
            </a:r>
          </a:p>
          <a:p>
            <a:r>
              <a:t>• The principle: a board listens better when it knows what you want. Name the decision you're</a:t>
            </a:r>
          </a:p>
          <a:p>
            <a:r>
              <a:t>seeking UP FRONT, then walk the case that justifies it.</a:t>
            </a:r>
          </a:p>
          <a:p>
            <a:r>
              <a:t>• Make it concrete: "I'm asking the board to approve the action plan to migrate Ledgerline —</a:t>
            </a:r>
          </a:p>
          <a:p>
            <a:r>
              <a:t>here's why." Then the context/gap/options land as support for a known ask.</a:t>
            </a:r>
          </a:p>
          <a:p>
            <a:r>
              <a:t>• The trap (accent bold): don't hide the ask on the last slide. A board that doesn't know what</a:t>
            </a:r>
          </a:p>
          <a:p>
            <a:r>
              <a:t>you're driving at spends your pitch guessing instead of weighing.</a:t>
            </a:r>
          </a:p>
          <a:p>
            <a:r>
              <a:t>Misconception to pre-empt: "build suspense — save the recommendation for a big finish." A board is</a:t>
            </a:r>
          </a:p>
          <a:p>
            <a:r>
              <a:t>not an audience to entertain; ambiguity about the ask reads as a lack of conviction.</a:t>
            </a:r>
          </a:p>
          <a:p>
            <a:r>
              <a:t>Question to pose: "What's the first thing the board should know when you stand up — and why isn't</a:t>
            </a:r>
          </a:p>
          <a:p>
            <a:r>
              <a:t>it the background?" (the decision you want; it frames everything that follows).</a:t>
            </a:r>
          </a:p>
          <a:p>
            <a:r>
              <a:t>UoC/AT1 tie: 517 PC 1.4 (report proposed changes/gaps to a superior) → B1; leading with the ask is</a:t>
            </a:r>
          </a:p>
          <a:p>
            <a:r>
              <a:t>how the report opens.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delivery-structure slide — teach the reporting stance: you're reporting to a superior and</a:t>
            </a:r>
          </a:p>
          <a:p>
            <a:r>
              <a:t>seeking a decision, not lecturing.</a:t>
            </a:r>
          </a:p>
          <a:p>
            <a:r>
              <a:t>• Walk the sequence: report the SITUATION and the gap → walk through how you EVALUATED the options</a:t>
            </a:r>
          </a:p>
          <a:p>
            <a:r>
              <a:t>(the CBA + risk) → put the ACTION PLAN, explicitly seeking the board's feedback and approval.</a:t>
            </a:r>
          </a:p>
          <a:p>
            <a:r>
              <a:t>• Emphasise the stance (accent bold): you're reporting to a superior (Sam Walker / Pat Lin) and</a:t>
            </a:r>
          </a:p>
          <a:p>
            <a:r>
              <a:t>asking for a decision — not delivering a lecture. Tone is "here's my recommendation and why",</a:t>
            </a:r>
          </a:p>
          <a:p>
            <a:r>
              <a:t>not "let me teach you cloud".</a:t>
            </a:r>
          </a:p>
          <a:p>
            <a:r>
              <a:t>• The action plan isn't just presented — you explicitly ask for feedback and approval on it. That</a:t>
            </a:r>
          </a:p>
          <a:p>
            <a:r>
              <a:t>verbal seek is an assessed act, not a formality.</a:t>
            </a:r>
          </a:p>
          <a:p>
            <a:r>
              <a:t>Misconception to pre-empt: "present = inform." No — this is persuade-and-seek-decision. Presenting</a:t>
            </a:r>
          </a:p>
          <a:p>
            <a:r>
              <a:t>the plan without asking for approval misses the point (and the criterion).</a:t>
            </a:r>
          </a:p>
          <a:p>
            <a:r>
              <a:t>Question to pose: "You've walked them through the evaluation — what do you do next, and what words</a:t>
            </a:r>
          </a:p>
          <a:p>
            <a:r>
              <a:t>do you use?" (put the plan and explicitly seek feedback + approval).</a:t>
            </a:r>
          </a:p>
          <a:p>
            <a:r>
              <a:t>UoC/AT1 tie: 517 PC 2.4 → B2 (walk the evaluation for feedback) and PC 3.3 → B3 (provide the action</a:t>
            </a:r>
          </a:p>
          <a:p>
            <a:r>
              <a:t>plan, seek approval); this slide is the spine of both delivery criteria.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plain-English skill — the coverage spec calls this out explicitly (B7/B8). The audience</a:t>
            </a:r>
          </a:p>
          <a:p>
            <a:r>
              <a:t>is NON-technical; jargon loses them.</a:t>
            </a:r>
          </a:p>
          <a:p>
            <a:r>
              <a:t>• The rule: plain English, and translate each technical term as you use it — "RDS: a managed</a:t>
            </a:r>
          </a:p>
          <a:p>
            <a:r>
              <a:t>database the vendor runs for us." Don't assume they know the acronyms.</a:t>
            </a:r>
          </a:p>
          <a:p>
            <a:r>
              <a:t>• Pitch in BUSINESS terms (bolded axis): cost, risk, availability, continuity — not instance types</a:t>
            </a:r>
          </a:p>
          <a:p>
            <a:r>
              <a:t>and subnets. Translate every technical point into what it means for YAT.</a:t>
            </a:r>
          </a:p>
          <a:p>
            <a:r>
              <a:t>• The consequence (accent bold): jargon loses the room. The moment the board stops following, they</a:t>
            </a:r>
          </a:p>
          <a:p>
            <a:r>
              <a:t>stop being persuaded.</a:t>
            </a:r>
          </a:p>
          <a:p>
            <a:r>
              <a:t>Misconception to pre-empt: "using the technical terms shows I know my stuff." To a non-technical</a:t>
            </a:r>
          </a:p>
          <a:p>
            <a:r>
              <a:t>board it does the opposite — it signals you can't explain it. The skill being assessed is</a:t>
            </a:r>
          </a:p>
          <a:p>
            <a:r>
              <a:t>translation, not vocabulary.</a:t>
            </a:r>
          </a:p>
          <a:p>
            <a:r>
              <a:t>Question to pose: "Say 'we'll deploy across two Availability Zones' the way you'd say it to Sam</a:t>
            </a:r>
          </a:p>
          <a:p>
            <a:r>
              <a:t>Walker, who isn't technical." (e.g. "we'll run it in two separate data centres so one failing</a:t>
            </a:r>
          </a:p>
          <a:p>
            <a:r>
              <a:t>doesn't take Ledgerline down").</a:t>
            </a:r>
          </a:p>
          <a:p>
            <a:r>
              <a:t>UoC/AT1 tie: 517 FS Oral Communication → B7 and 502 FS Oral communication → B8 — plain English and</a:t>
            </a:r>
          </a:p>
          <a:p>
            <a:r>
              <a:t>translating technical terms for the intended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Section 2 practice: students present their rehearsed deck to a mock board. This</a:t>
            </a:r>
          </a:p>
          <a:p>
            <a:r>
              <a:t>is the closest rehearsal for AT1 Part B; run it like the real event.</a:t>
            </a:r>
          </a:p>
          <a:p>
            <a:r>
              <a:t>Tell students: "You're up. Present your board deck to the mock board — that's your peers plus me</a:t>
            </a:r>
          </a:p>
          <a:p>
            <a:r>
              <a:t>role-playing Sam Walker and Pat Lin. Ten to fifteen minutes. Open with the ask, walk us through</a:t>
            </a:r>
          </a:p>
          <a:p>
            <a:r>
              <a:t>it, and speak to us as a non-technical board — we're deciding, not marking your cloud knowledge."</a:t>
            </a:r>
          </a:p>
          <a:p>
            <a:r>
              <a:t>Steps:</a:t>
            </a:r>
          </a:p>
          <a:p>
            <a:r>
              <a:t>1. Open with the ask — name the decision you're seeking.</a:t>
            </a:r>
          </a:p>
          <a:p>
            <a:r>
              <a:t>2. Walk context → gap → options → recommendation → cost/risk → plan.</a:t>
            </a:r>
          </a:p>
          <a:p>
            <a:r>
              <a:t>3. Translate technical terms as you go; eyes on the room, not the slides.</a:t>
            </a:r>
          </a:p>
          <a:p>
            <a:r>
              <a:t>Must produce: a delivered 10–15 min board presentation of their practice BC, presented to persuade.</a:t>
            </a:r>
          </a:p>
          <a:p>
            <a:r>
              <a:t>Timing: 10–15 min each, then feedback. Where they get stuck: reading off the slides (remind them</a:t>
            </a:r>
          </a:p>
          <a:p>
            <a:r>
              <a:t>the deck is a prompt, they rehearsed for this); running over time (call time at 15); dropping into</a:t>
            </a:r>
          </a:p>
          <a:p>
            <a:r>
              <a:t>jargon (flag it live as a board member would — "what's an ALB?").</a:t>
            </a:r>
          </a:p>
          <a:p>
            <a:r>
              <a:t>Share-back: peers + trainer give quick feedback after each; the Q&amp;A is the NEXT activity — keep</a:t>
            </a:r>
          </a:p>
          <a:p>
            <a:r>
              <a:t>this one to the presentation itself.</a:t>
            </a:r>
          </a:p>
          <a:p>
            <a:r>
              <a:t>No-leakage note: practice delivery on Ledgerline; AT1 Part B is the same event on the LMS. Board</a:t>
            </a:r>
          </a:p>
          <a:p>
            <a:r>
              <a:t>roles (Sam Walker / Pat Lin) mirror the AT1 panel — comparable, not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Section 3 — reset expectations about Q&amp;A. Students treat it as a formality to survive; it's</a:t>
            </a:r>
          </a:p>
          <a:p>
            <a:r>
              <a:t>an assessed test of whether they own their analysis.</a:t>
            </a:r>
          </a:p>
          <a:p>
            <a:r>
              <a:t>• The point: the board's questions PROBE whether you understand your own case and the principles</a:t>
            </a:r>
          </a:p>
          <a:p>
            <a:r>
              <a:t>behind it. They're not small talk — they're where the analysis knowledge (Topics 1–4) is</a:t>
            </a:r>
          </a:p>
          <a:p>
            <a:r>
              <a:t>examined live.</a:t>
            </a:r>
          </a:p>
          <a:p>
            <a:r>
              <a:t>• The rule (accent bold): defend your case FROM YOUR EVIDENCE — your CBA, your risk register —</a:t>
            </a:r>
          </a:p>
          <a:p>
            <a:r>
              <a:t>don't bluff. A confident wrong answer is worse than "let me point you to the numbers".</a:t>
            </a:r>
          </a:p>
          <a:p>
            <a:r>
              <a:t>Misconception to pre-empt: "Q&amp;A is just wrapping up." No — it's a graded part of Part B; the board</a:t>
            </a:r>
          </a:p>
          <a:p>
            <a:r>
              <a:t>deliberately tests the reasoning behind your recommendation. Under-preparing for it puts a satisfactory result at risk.</a:t>
            </a:r>
          </a:p>
          <a:p>
            <a:r>
              <a:t>Question to pose: "The board asks 'why PaaS for the database and not IaaS?' — is that a hostile</a:t>
            </a:r>
          </a:p>
          <a:p>
            <a:r>
              <a:t>question or an assessment?" (an assessment — they're checking you understand your own design</a:t>
            </a:r>
          </a:p>
          <a:p>
            <a:r>
              <a:t>choice).</a:t>
            </a:r>
          </a:p>
          <a:p>
            <a:r>
              <a:t>UoC/AT1 tie: 502 FS Oral communication → B8 (articulate complex concepts under questioning); Q&amp;A</a:t>
            </a:r>
          </a:p>
          <a:p>
            <a:r>
              <a:t>is where the probed knowledge from Topics 1–4 is defended, not re-taught.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Q&amp;A technique — listening and questioning is itself an assessed skill (B8), not just</a:t>
            </a:r>
          </a:p>
          <a:p>
            <a:r>
              <a:t>getting the answer right.</a:t>
            </a:r>
          </a:p>
          <a:p>
            <a:r>
              <a:t>• The sequence: let the question LAND; clarify if unsure — "do you mean cost or risk?"; answer</a:t>
            </a:r>
          </a:p>
          <a:p>
            <a:r>
              <a:t>DIRECTLY, pointing to your evidence; then CHECK it landed before moving on.</a:t>
            </a:r>
          </a:p>
          <a:p>
            <a:r>
              <a:t>• Model each move. Clarifying isn't weakness — it shows you're listening and stops you answering</a:t>
            </a:r>
          </a:p>
          <a:p>
            <a:r>
              <a:t>the wrong question. Pointing to evidence (your CBA, your risk register) beats asserting.</a:t>
            </a:r>
          </a:p>
          <a:p>
            <a:r>
              <a:t>• The contrast (accent bold): a crisp "good question — here's the data" beats a long ramble. Length</a:t>
            </a:r>
          </a:p>
          <a:p>
            <a:r>
              <a:t>isn't authority; precision is.</a:t>
            </a:r>
          </a:p>
          <a:p>
            <a:r>
              <a:t>Misconception to pre-empt: "answer immediately and at length to look confident." Rambling reads as</a:t>
            </a:r>
          </a:p>
          <a:p>
            <a:r>
              <a:t>not knowing; a clarify-then-evidence answer reads as command of the material.</a:t>
            </a:r>
          </a:p>
          <a:p>
            <a:r>
              <a:t>Question to pose: "The board asks something ambiguous — what do you do before answering?" (clarify</a:t>
            </a:r>
          </a:p>
          <a:p>
            <a:r>
              <a:t>what they're really asking, so you answer the right question).</a:t>
            </a:r>
          </a:p>
          <a:p>
            <a:r>
              <a:t>UoC/AT1 tie: 517 FS Oral Communication → B8 (elicit information with effective listening/questioning)</a:t>
            </a:r>
          </a:p>
          <a:p>
            <a:r>
              <a:t>and 502 FS → B8; the listen-clarify-answer-check loop is exactly what B8 assess.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Practical prep slide — name the dimensions boards probe so students can pre-arm answers in their</a:t>
            </a:r>
          </a:p>
          <a:p>
            <a:r>
              <a:t>rehearsal. These questions come from THEIR OWN Topics 1–4 work.</a:t>
            </a:r>
          </a:p>
          <a:p>
            <a:r>
              <a:t>• Walk the dimensions: cost assumptions (what if pricing changes?); risk (the single biggest reason</a:t>
            </a:r>
          </a:p>
          <a:p>
            <a:r>
              <a:t>to say no?); prioritisation (which change carries the most risk?); strategic fit (what if YAT</a:t>
            </a:r>
          </a:p>
          <a:p>
            <a:r>
              <a:t>opens a second campus in Year 3?); service models &amp; standards (why IaaS/PaaS here? which</a:t>
            </a:r>
          </a:p>
          <a:p>
            <a:r>
              <a:t>standards informed it?).</a:t>
            </a:r>
          </a:p>
          <a:p>
            <a:r>
              <a:t>• The key line (accent bold): these come from your own Topics 1–4 work — DEFEND, don't re-derive.</a:t>
            </a:r>
          </a:p>
          <a:p>
            <a:r>
              <a:t>The answer already exists in your analysis; your job is to retrieve and state it, not rebuild it</a:t>
            </a:r>
          </a:p>
          <a:p>
            <a:r>
              <a:t>live.</a:t>
            </a:r>
          </a:p>
          <a:p>
            <a:r>
              <a:t>Misconception to pre-empt: "they'll ask something I've never thought about." Almost never — the</a:t>
            </a:r>
          </a:p>
          <a:p>
            <a:r>
              <a:t>probes track your own case; if you know your analysis, you have the answers. The panic comes from</a:t>
            </a:r>
          </a:p>
          <a:p>
            <a:r>
              <a:t>not having reviewed your own reasoning.</a:t>
            </a:r>
          </a:p>
          <a:p>
            <a:r>
              <a:t>Question to pose: "Pick one of these and answer it for Ledgerline right now — from what you already</a:t>
            </a:r>
          </a:p>
          <a:p>
            <a:r>
              <a:t>analysed." (proves the answer is already in their work).</a:t>
            </a:r>
          </a:p>
          <a:p>
            <a:r>
              <a:t>UoC/AT1 tie: defends the probed knowledge (517 PC 1.1–3.2, 401 KE 1/3, 502 PC 1.1/1.2) → B8;</a:t>
            </a:r>
          </a:p>
          <a:p>
            <a:r>
              <a:t>this is the applied-from-earlier content the coverage spec flags as defended, not re-taught.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 the close of the event — the part students forget under pressure. Seeking feedback and</a:t>
            </a:r>
          </a:p>
          <a:p>
            <a:r>
              <a:t>obtaining sign-off are distinct assessed acts (B5/B6), and the sign-off is the whole point.</a:t>
            </a:r>
          </a:p>
          <a:p>
            <a:r>
              <a:t>• Walk the closing moves: explicitly SEEK and RESPOND to the board's feedback (confirm you've</a:t>
            </a:r>
          </a:p>
          <a:p>
            <a:r>
              <a:t>understood it — reflect it back); CAPTURE it in the Business Case's Feedback section (§11); OBTAIN the board's sign-off</a:t>
            </a:r>
          </a:p>
          <a:p>
            <a:r>
              <a:t>on the action plan.</a:t>
            </a:r>
          </a:p>
          <a:p>
            <a:r>
              <a:t>• The message (accent bold): the decision is the point of the whole exercise — ASK for it. A</a:t>
            </a:r>
          </a:p>
          <a:p>
            <a:r>
              <a:t>presentation that ends without securing sign-off hasn't finished the job.</a:t>
            </a:r>
          </a:p>
          <a:p>
            <a:r>
              <a:t>Misconception to pre-empt: "if the board seems happy, sign-off is implied." No — you must explicitly</a:t>
            </a:r>
          </a:p>
          <a:p>
            <a:r>
              <a:t>seek it and capture the feedback; an assumed decision isn't evidenced. The words "can I have your</a:t>
            </a:r>
          </a:p>
          <a:p>
            <a:r>
              <a:t>approval to proceed?" have to be said.</a:t>
            </a:r>
          </a:p>
          <a:p>
            <a:r>
              <a:t>Question to pose: "The board nods and says 'good work' — are you done?" (no — seek feedback,</a:t>
            </a:r>
          </a:p>
          <a:p>
            <a:r>
              <a:t>confirm understanding, capture it, and explicitly obtain sign-off).</a:t>
            </a:r>
          </a:p>
          <a:p>
            <a:r>
              <a:t>UoC/AT1 tie: 401 PC 4.2 → B5 (seek/respond to feedback), 502 PC 5.2 → B6 (confirm/seek/respond with</a:t>
            </a:r>
          </a:p>
          <a:p>
            <a:r>
              <a:t>required personnel); securing sign-off is the closing Part-B 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Facilitation — the Section 3 practice: after each pitch the mock board runs Q&amp;A, gives feedback,</a:t>
            </a:r>
          </a:p>
          <a:p>
            <a:r>
              <a:t>and signs off. This completes the Part-B rehearsal. Run it straight after each presenter delivers.</a:t>
            </a:r>
          </a:p>
          <a:p>
            <a:r>
              <a:t>Tell students: "After you present, the board asks three to five questions, gives feedback, and</a:t>
            </a:r>
          </a:p>
          <a:p>
            <a:r>
              <a:t>makes a decision. Presenter — your job is to handle the room: clarify, answer from your evidence,</a:t>
            </a:r>
          </a:p>
          <a:p>
            <a:r>
              <a:t>seek and respond to the feedback, capture it, and close by asking for sign-off. Board — probe</a:t>
            </a:r>
          </a:p>
          <a:p>
            <a:r>
              <a:t>across the dimensions we listed."</a:t>
            </a:r>
          </a:p>
          <a:p>
            <a:r>
              <a:t>Steps:</a:t>
            </a:r>
          </a:p>
          <a:p>
            <a:r>
              <a:t>1. Presenter: clarify → answer from your evidence → seek/respond to feedback → capture it in the</a:t>
            </a:r>
          </a:p>
          <a:p>
            <a:r>
              <a:t>Business Case's Feedback section (§11) → obtain the sign-off.</a:t>
            </a:r>
          </a:p>
          <a:p>
            <a:r>
              <a:t>2. Board: probe across cost, risk, prioritisation, strategic fit, service models/standards.</a:t>
            </a:r>
          </a:p>
          <a:p>
            <a:r>
              <a:t>Must produce: a handled Q&amp;A with feedback captured and an explicit sign-off asked for and recorded.</a:t>
            </a:r>
          </a:p>
          <a:p>
            <a:r>
              <a:t>Timing: ~5 min each, then debrief. Where they get stuck: presenters answer then forget to ask for</a:t>
            </a:r>
          </a:p>
          <a:p>
            <a:r>
              <a:t>the decision — prompt them ("how do you close?"); and they get defensive under probing — coach</a:t>
            </a:r>
          </a:p>
          <a:p>
            <a:r>
              <a:t>clarify-then-evidence, not argue. Boards go too soft — push them to actually probe.</a:t>
            </a:r>
          </a:p>
          <a:p>
            <a:r>
              <a:t>Share-back: quick debrief after each — what defence landed, where the close was missed.</a:t>
            </a:r>
          </a:p>
          <a:p>
            <a:r>
              <a:t>No-leakage note: practice Q&amp;A on the Ledgerline case; AT1 Part B Q&amp;A is the same skill on the LMS</a:t>
            </a:r>
          </a:p>
          <a:p>
            <a:r>
              <a:t>presentation. The board dimensions and roles mirror AT1 — comparable, not identical.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000" b="1" i="0">
                <a:solidFill>
                  <a:srgbClr val="FBB900"/>
                </a:solidFill>
                <a:latin typeface="Roboto"/>
              </a:rPr>
              <a:t>TOPIC 05</a:t>
            </a:r>
          </a:p>
          <a:p>
            <a:pPr>
              <a:spcBef>
                <a:spcPts val="800"/>
              </a:spcBef>
            </a:pPr>
            <a:r>
              <a:rPr sz="4600" b="1" i="0">
                <a:solidFill>
                  <a:srgbClr val="FFFFFF"/>
                </a:solidFill>
                <a:latin typeface="Roboto"/>
              </a:rPr>
              <a:t>Making the case</a:t>
            </a:r>
          </a:p>
          <a:p>
            <a:pPr>
              <a:spcBef>
                <a:spcPts val="1200"/>
              </a:spcBef>
            </a:pPr>
            <a:r>
              <a:rPr sz="2200" b="0" i="1">
                <a:solidFill>
                  <a:srgbClr val="D1D1D1"/>
                </a:solidFill>
                <a:latin typeface="Roboto Light"/>
              </a:rPr>
              <a:t>Present the business case to the board — and win the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Roboto"/>
              </a:rPr>
              <a:t>Kangan </a:t>
            </a:r>
            <a:r>
              <a:rPr sz="1600" b="1" i="0">
                <a:solidFill>
                  <a:srgbClr val="EDAB0C"/>
                </a:solidFill>
                <a:latin typeface="Roboto"/>
              </a:rPr>
              <a:t>Institute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From the written case to the room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a great case still has to be sold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written case is done (Topics 2–4) — this Topic is about communicating and defending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Three moves: prepare &amp; rehearse → deliver → handle the room.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This is the presentation event — an observed assessment: how you present is assessed, not just what you built.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92268F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Prepare &amp; rehearse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from document to pitch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pitch is a distillation, not a read-through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board deck isn't your business case with slide borders — the board already read the document.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deck carries the spine — the ask, the money, the risk, the plan; you fill the rest verbally.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8–10 slides, one section each — on the YAT Board Presentation Deck template.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The board arc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order it the way a board decides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Agenda → strategic context → current state → the gap → options → recommendation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cost summary → benefits → risks → implementation plan → the decision → Q&amp;A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One section per slide: headline + a few points. The recommendation and the plan get the airtime.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What makes the cut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KEEP — the ask · the cost comparison · key risks + mitigations · the plan · the strategic fit.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CUT — line-item detail · method explanations · anything that lives in the appendices.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If a slide doesn't help the decision, it's a handout — not a pitch slide.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Rehearse — this is where pitches are won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Preparation isn't done when the deck is built. Rehearse: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run it aloud — walk the board through each slide, don't read it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time it (target 10–15 min); if you run long, cut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anticipate the board's questions and prepare your answers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21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2100" b="0" i="0">
                <a:solidFill>
                  <a:srgbClr val="2A2929"/>
                </a:solidFill>
                <a:latin typeface="Roboto"/>
              </a:rPr>
              <a:t>practise stating the ask and asking for sign-off — the bit most often fumbled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rehearsed pitch sounds confident; an unrehearsed one reads off the slides.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Build &amp; rehearse your board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Build an 8–10 slide board deck for your practice Business Case (Accounting System / Ledgerline) on the YAT Board Presentation Deck template.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Then rehearse it: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run it aloud and time it (target 10–15 min)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in your notes, write the three questions you'd least like to be asked — and your answers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Lead with the section spine; slides = headline + a few points; end on the decision.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⚠  Rehearsal isn't optional — a pitch you haven't said aloud isn't ready.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~30 min build + rehearse, then we present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92268F"/>
                </a:solidFill>
                <a:latin typeface="Roboto"/>
              </a:rPr>
              <a:t>Section 1 · Prepare &amp; rehearse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The deck is a distillation — the spine, not the whole document.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Board arc: context → gap → options → recommendation → cost/risk → plan → the ask.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Preparation includes rehearsal: run it aloud, time it, prepare for the questions.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9226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7B5CE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Deliver the case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present to the 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Lead with the ask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board listens better when it knows what you want.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Open by naming the decision you're seeking — then walk them through the case that justifies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Don't hide the ask on the last slide.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Walk the board through it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Report the situation and the gap.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Walk through how you evaluated the options — the CBA + risk.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Put the action plan — explicitly seeking the board's feedback and approval.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You're reporting to a superior and asking for a decision, not lecturing.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Speak the board's language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board is not technical.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Plain English; translate each technical term as you use it — “RDS: a managed database the vendor runs for us”.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Pitch ideas in business terms — cost, risk, availability, continuity.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Jargon loses the room.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Deliver your pitch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Present your board deck to a mock board (peers + trainer as Sam Walker / Pat Lin), 10–15 minutes.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Remember to: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open with the ask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walk context → gap → options → recommendation → cost/risk → plan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translate technical terms as you go; eyes on the room, not the slides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⚠  You're seeking a decision — present to persuade, not to inform.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10–15 min each, then feedback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7B5CE"/>
                </a:solidFill>
                <a:latin typeface="Roboto"/>
              </a:rPr>
              <a:t>Section 2 · Deliver the case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Lead with the ask, then justify 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Report → evaluate → put the plan and seek approval.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Plain English, technical terms translated, pitched to a non-technical board.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7B5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103120"/>
            <a:ext cx="329184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0" b="1" i="0">
                <a:solidFill>
                  <a:srgbClr val="FFFFFF"/>
                </a:solidFill>
                <a:latin typeface="Roboto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60" y="2468880"/>
            <a:ext cx="713232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600" b="1" i="0">
                <a:solidFill>
                  <a:srgbClr val="205F61"/>
                </a:solidFill>
                <a:latin typeface="Roboto"/>
              </a:rPr>
              <a:t>SECTION</a:t>
            </a:r>
          </a:p>
          <a:p>
            <a:pPr>
              <a:spcBef>
                <a:spcPts val="600"/>
              </a:spcBef>
            </a:pPr>
            <a:r>
              <a:rPr sz="3800" b="1" i="0">
                <a:solidFill>
                  <a:srgbClr val="2A2929"/>
                </a:solidFill>
                <a:latin typeface="Roboto"/>
              </a:rPr>
              <a:t>Handle the room</a:t>
            </a:r>
          </a:p>
          <a:p>
            <a:pPr>
              <a:spcBef>
                <a:spcPts val="1000"/>
              </a:spcBef>
            </a:pPr>
            <a:r>
              <a:rPr sz="2000" b="0" i="1">
                <a:solidFill>
                  <a:srgbClr val="484848"/>
                </a:solidFill>
                <a:latin typeface="Roboto Light"/>
              </a:rPr>
              <a:t>Q&amp;A, feedback &amp; sign-off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/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Q&amp;A is assessed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board's questions aren't a formality — they probe whether you understand your own analysis and the principles behind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Defend your case from your evidence; don't bluff.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13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Listen, then answer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Let the question land; clarify if unsure — “Do you mean cost or risk?”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Answer directly, pointing to your evidence (your CBA, your risk register).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Check it landed before moving on.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A crisp “good question — here's the data” beats a long ramble.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Be ready for these</a:t>
            </a:r>
          </a:p>
          <a:p>
            <a:pPr>
              <a:spcBef>
                <a:spcPts val="200"/>
              </a:spcBef>
            </a:pPr>
            <a:r>
              <a:rPr sz="1800" b="0" i="1">
                <a:solidFill>
                  <a:srgbClr val="D68E10"/>
                </a:solidFill>
                <a:latin typeface="Roboto Light"/>
              </a:rPr>
              <a:t>the dimensions the board probes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Cost assumptions — what if pricing changes?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Risk — the single biggest reason to say no?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Prioritisation — which change carries the most risk?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Strategic fit — what if YAT opens a second campus in Year 3?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Service models &amp; standards — why IaaS/PaaS here? which standards informed it?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These come from your own Topics 1–4 work — defend, don't re-derive.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2800" b="1" i="0">
                <a:solidFill>
                  <a:srgbClr val="2A2929"/>
                </a:solidFill>
                <a:latin typeface="Roboto"/>
              </a:rPr>
              <a:t>Seek feedback &amp; get sign-off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3716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1691640"/>
            <a:ext cx="10881360" cy="44805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Explicitly seek and respond to the board's feedback — confirm you've understood it.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Capture the feedback in the Feedback section (§11) of your Business Case.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Obtain the board's sign-off on the action plan.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24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2400" b="0" i="0">
                <a:solidFill>
                  <a:srgbClr val="2A2929"/>
                </a:solidFill>
                <a:latin typeface="Roboto"/>
              </a:rPr>
              <a:t>The decision is the point of the whole exercise — ask for it.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384048"/>
            <a:ext cx="1691640" cy="457200"/>
          </a:xfrm>
          <a:prstGeom prst="roundRect">
            <a:avLst/>
          </a:prstGeom>
          <a:solidFill>
            <a:srgbClr val="2A29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 i="0">
                <a:solidFill>
                  <a:srgbClr val="FBB900"/>
                </a:solidFill>
                <a:latin typeface="Roboto"/>
              </a:rPr>
              <a:t>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310896"/>
            <a:ext cx="896112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2600" b="1" i="0">
                <a:solidFill>
                  <a:srgbClr val="FFFFFF"/>
                </a:solidFill>
                <a:latin typeface="Roboto"/>
              </a:rPr>
              <a:t>Run the Q&amp;A, feedback &amp; sign-off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554480"/>
            <a:ext cx="10881360" cy="4297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After each pitch, the mock board asks 3–5 questions, gives feedback, and signs off.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Presenter: clarify → answer from your evidence → seek/respond to feedback → capture it → get the sign-off.</a:t>
            </a:r>
          </a:p>
          <a:p>
            <a:pPr marL="365760" indent="0">
              <a:lnSpc>
                <a:spcPct val="105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0" i="0">
                <a:solidFill>
                  <a:srgbClr val="7A7A7A"/>
                </a:solidFill>
                <a:latin typeface="Roboto"/>
              </a:rPr>
              <a:t>–  </a:t>
            </a:r>
            <a:r>
              <a:rPr sz="1400" b="0" i="0">
                <a:solidFill>
                  <a:srgbClr val="2A2929"/>
                </a:solidFill>
                <a:latin typeface="Roboto"/>
              </a:rPr>
              <a:t>Board: probe across the dimensions above.</a:t>
            </a:r>
          </a:p>
          <a:p>
            <a:pPr marL="0" indent="0">
              <a:lnSpc>
                <a:spcPct val="105000"/>
              </a:lnSpc>
              <a:spcBef>
                <a:spcPts val="0"/>
              </a:spcBef>
              <a:spcAft>
                <a:spcPts val="1000"/>
              </a:spcAft>
            </a:pPr>
            <a:r>
              <a:rPr sz="1700" b="1" i="0">
                <a:solidFill>
                  <a:srgbClr val="EDAB0C"/>
                </a:solidFill>
                <a:latin typeface="Roboto"/>
              </a:rPr>
              <a:t>■  </a:t>
            </a:r>
            <a:r>
              <a:rPr sz="1700" b="0" i="0">
                <a:solidFill>
                  <a:srgbClr val="2A2929"/>
                </a:solidFill>
                <a:latin typeface="Roboto"/>
              </a:rPr>
              <a:t>⚠  Always close by asking for the decision.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897880"/>
            <a:ext cx="4023360" cy="457200"/>
          </a:xfrm>
          <a:prstGeom prst="roundRect">
            <a:avLst/>
          </a:prstGeom>
          <a:solidFill>
            <a:srgbClr val="F9F9F9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5943600"/>
            <a:ext cx="365760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500" b="1" i="0">
                <a:solidFill>
                  <a:srgbClr val="2A2929"/>
                </a:solidFill>
                <a:latin typeface="Roboto"/>
              </a:rPr>
              <a:t>⏱  ~5 min each, then debrief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17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9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200" b="1" i="0">
                <a:solidFill>
                  <a:srgbClr val="2A2929"/>
                </a:solidFill>
                <a:latin typeface="Roboto"/>
              </a:rPr>
              <a:t>Key takeaways</a:t>
            </a:r>
          </a:p>
          <a:p>
            <a:pPr>
              <a:spcBef>
                <a:spcPts val="200"/>
              </a:spcBef>
            </a:pPr>
            <a:r>
              <a:rPr sz="1800" b="1" i="0">
                <a:solidFill>
                  <a:srgbClr val="205F61"/>
                </a:solidFill>
                <a:latin typeface="Roboto"/>
              </a:rPr>
              <a:t>Section 3 · Handle the room</a:t>
            </a:r>
          </a:p>
        </p:txBody>
      </p:sp>
      <p:sp>
        <p:nvSpPr>
          <p:cNvPr id="3" name="Rectangle 2"/>
          <p:cNvSpPr/>
          <p:nvPr/>
        </p:nvSpPr>
        <p:spPr>
          <a:xfrm>
            <a:off x="658368" y="1600200"/>
            <a:ext cx="1463040" cy="508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965960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965960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965960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Q&amp;A tests your grasp of your own case — defend it from your evidence.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916936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" y="2916936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916936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Listen, clarify, answer directly, check it landed.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67912"/>
            <a:ext cx="1092708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" y="3867912"/>
            <a:ext cx="109728" cy="841248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3867912"/>
            <a:ext cx="1042416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00000"/>
              </a:lnSpc>
            </a:pPr>
            <a:r>
              <a:rPr sz="1700" b="0" i="0">
                <a:solidFill>
                  <a:srgbClr val="2A2929"/>
                </a:solidFill>
                <a:latin typeface="Roboto"/>
              </a:rPr>
              <a:t>Seek and respond to feedback, capture it, and obtain sign-off — always ask for the decision.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38100"/>
          </a:xfrm>
          <a:prstGeom prst="rect">
            <a:avLst/>
          </a:prstGeom>
          <a:solidFill>
            <a:srgbClr val="205F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6400800"/>
            <a:ext cx="5486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100" b="1" i="0">
                <a:solidFill>
                  <a:srgbClr val="2A2929"/>
                </a:solidFill>
                <a:latin typeface="Roboto"/>
              </a:rPr>
              <a:t>Kangan </a:t>
            </a:r>
            <a:r>
              <a:rPr sz="1100" b="1" i="0">
                <a:solidFill>
                  <a:srgbClr val="D68E10"/>
                </a:solidFill>
                <a:latin typeface="Roboto"/>
              </a:rPr>
              <a:t>Institute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0" y="6400800"/>
            <a:ext cx="11887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 i="0">
                <a:solidFill>
                  <a:srgbClr val="7A7A7A"/>
                </a:solidFill>
                <a:latin typeface="Roboto"/>
              </a:rPr>
              <a:t>18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A292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" cy="6858000"/>
          </a:xfrm>
          <a:prstGeom prst="rect">
            <a:avLst/>
          </a:prstGeom>
          <a:solidFill>
            <a:srgbClr val="EDAB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515600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4000" b="1" i="0">
                <a:solidFill>
                  <a:srgbClr val="FFFFFF"/>
                </a:solidFill>
                <a:latin typeface="Roboto"/>
              </a:rPr>
              <a:t>From the practice room to the real thing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 can now build a board deck, deliver it, and handle the room — the whole communication skill.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That completes the case for the migration: analyse it, plan it, and sell it.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You practised on the Accounting System; next you do it for real.</a:t>
            </a:r>
          </a:p>
          <a:p>
            <a:pPr>
              <a:lnSpc>
                <a:spcPct val="105000"/>
              </a:lnSpc>
              <a:spcBef>
                <a:spcPts val="1200"/>
              </a:spcBef>
            </a:pPr>
            <a:r>
              <a:rPr sz="1900" b="0" i="0">
                <a:solidFill>
                  <a:srgbClr val="E8E8E8"/>
                </a:solidFill>
                <a:latin typeface="Roboto Light"/>
              </a:rPr>
              <a:t>Next: produce and present your real Business Case for the YAT LMS migration.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