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of the AT2 build arc — workbook tasks 1 to 10 today, in order.</a:t>
            </a:r>
          </a:p>
          <a:p>
            <a:r>
              <a:t>Say the region substitution out loud: the design still mandates the real region for legal reasons; the lab just can't host it.</a:t>
            </a:r>
          </a:p>
          <a:p>
            <a:r>
              <a:t>Misconception: us-east-1 means residency doesn't matter. No — substitute and label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1's subject — the benefits are the examinable list; say them as the reasons a professional uses IaC.</a:t>
            </a:r>
          </a:p>
          <a:p>
            <a:r>
              <a:t>Question to pose: you built it perfectly in the console last week and need it again today — what does the console give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tasks 2 and 3 — the upside and the downside, as separate written answers.</a:t>
            </a:r>
          </a:p>
          <a:p>
            <a:r>
              <a:t>Drift is the one to make concrete: someone hand-edits a deployed resource and the template no longer tells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4. Native versus third-party is worth naming, but the workbook asks for a justified selection, not a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1–4, all written answers.</a:t>
            </a:r>
          </a:p>
          <a:p>
            <a:r>
              <a:t>Push past generic answers — each one is about this job and this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anatomy, so students can read one. Declarative is the mindset shift — file order is not execution order.</a:t>
            </a:r>
          </a:p>
          <a:p>
            <a:r>
              <a:t>Question to pose: the template says a database and a server should exist — who decides the creation order? (the references).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5 — the assessed reading skill. Trace one reference live on the diagram.</a:t>
            </a:r>
          </a:p>
          <a:p>
            <a:r>
              <a:t>A professional reviews before running; the workbook's table asks for exactly that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5, on the practice template.</a:t>
            </a:r>
          </a:p>
          <a:p>
            <a:r>
              <a:t>The dependency question is the one to press: how do you know, from the file alone, what must exist first?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Sets up the deploy-fail-fix run the workbook stages: the practice template fails first time by design.</a:t>
            </a:r>
          </a:p>
          <a:p>
            <a:r>
              <a:t>The first-CREATE_FAILED discipline is the whole method; the later failures are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 (screen it live or your own capture — no recorded-demos catalogue in CL2).</a:t>
            </a:r>
          </a:p>
          <a:p>
            <a:r>
              <a:t>Set the region first and say the substitution out loud.</a:t>
            </a:r>
          </a:p>
          <a:p>
            <a:r>
              <a:t>Narrate the diagnosis before touching anything — model reading over guessing.</a:t>
            </a:r>
          </a:p>
          <a:p>
            <a:r>
              <a:t>Common errors worth naming as you go: a bad reference, a missing permission, an invalid property, a name clash.</a:t>
            </a:r>
          </a:p>
          <a:p>
            <a:r>
              <a:t>Prep: clean lab, the practice data-store template to hand. ~8–10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8 makes confirmation its own task — treat it as one, not as glancing at the status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6–8. The failure is planted; hitting it is the exercise, not a mistake.</a:t>
            </a:r>
          </a:p>
          <a:p>
            <a:r>
              <a:t>Watch for reading the last failure instead of the first, and for random property-poking instead of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9. Hand-editing a templated resource is drift — connect back to C1's failure modes.</a:t>
            </a:r>
          </a:p>
          <a:p>
            <a:r>
              <a:t>Pause on the change set in any demo; the review-before-run moment is the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10 — the reset, done through the tooling, confirmed like everything else.</a:t>
            </a:r>
          </a:p>
          <a:p>
            <a:r>
              <a:t>Full removal is a later closeout task; today is about returning to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tasks 9–10.</a:t>
            </a:r>
          </a:p>
          <a:p>
            <a:r>
              <a:t>Ask each student what their change set listed before they executed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Shared KE across both units, taught once here, assessed in the AT2 written questions at closeout.</a:t>
            </a:r>
          </a:p>
          <a:p>
            <a:r>
              <a:t>Make it concrete: name one standard product in this build and a baseline it implements.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IaC: fundamentals &amp; operating provided templates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Infrastructure as Code from first principles, then operating a template you were given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AT1 is signed off; AT2 begins — you build in the lab, to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what IaC is, then operating a template someone else wrote — including when it fails.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starts here: the design names its real region, but you deploy to us-east-1 in the lab.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teach, demo, practice: watch the demo, then do it on the practice workbook.</a:t>
            </a:r>
          </a:p>
        </p:txBody>
      </p:sp>
      <p:pic>
        <p:nvPicPr>
          <p:cNvPr id="5" name="Picture 4" descr="gen-80c082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Why IaC, and choosing the service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describe infrastructure, don't click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Infrastructure as Code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IaC describes infrastructure in a text template the platform provisions for you.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Benefits over manual console work: repeatable, versioned, reviewable, fast to rebuild.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same template gives the same result every time — no click-to-click drift.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automation gives, and what can go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One template stands up many related resources consistently, in the right order, without manual steps.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failure modes are real: drift from manual edits, a bad change rolling a stack back, permission and quota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Knowing what can go wrong is part of the competence — it's a workbook task, not a footnote.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Select the infrastructure-as-code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an IaC service compatible with the platform — on AWS, CloudFormation is native.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Compatibility is the criterion: the service must speak the platform's resources directly.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the choice and the reason — it's a decision, and decisions get justified.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The IaC groundwork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1, 2, 3 and 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Record why IaC fits this job, what the automation gives, what can go wrong, and the service you select.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groundwork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Repeatable, versioned, reviewable, rebuildable.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failure modes are part of the knowledge.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Select the service for compatibility, and justify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Reading a template you were given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it before you run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Template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parts: Parameters take inputs, Resources declare what to create, Outputs share results, intrinsic functions wire them together.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Resources declare desired state; the platform works out how to reach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top-down: inputs, then resources, then outputs.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provided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Determine what resources it creates and what depends on what — the build order falls out of the references.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 what a template does before you deploy it; deploying blind is how surprises get expensive.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provided data-store template is the case: read it, list its resources, trace its references.</a:t>
            </a:r>
          </a:p>
        </p:txBody>
      </p:sp>
      <p:pic>
        <p:nvPicPr>
          <p:cNvPr id="5" name="Picture 4" descr="cfn-template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data-store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5.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provided template: the resources it creates, their dependencies, and what the parameters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Parameters, resources, outputs — read top-down.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Desired state, not steps; references make the order.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Never deploy what you haven't read.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it, fix it, confirm it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first failure is the cause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tooling, and what failure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console or the CLI executes the template — either tool, same operations.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When a deployment fails it rolls back, and the rollback fills the log with consequences, not causes.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Find the first failure event and read its reason — that one is the cause.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Deploy, hit the failure, fix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provided template in the lab and let it fail.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Find the first failure event, read its reason aloud, make the one-line fix, redeploy to success.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resource exists using the console or CLI — deploy then confirm, every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Confirming a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green status is the platform's claim; confirmation is you checking the resource itself.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the console or the CLI: does the resource exist, with the properties the template declared?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Deploy, then confirm — the habit that catches the gap between claimed and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Deploy, diagnose, fix, confirm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6, 7 and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provided template, diagnose and fix the failure it hits, redeploy, and confirm the deployment properly.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Deploy and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Read the first failure event; the rest is rollback noise.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deliberate fix, then redeploy — diagnosis over trial and error.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Confirm the resource, not the status colour.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Update it, and put it 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every change is a reviewable diff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Updating through 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 change a deployed stack, change the template — never the live resources by hand.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change set shows the diff before it runs: what will be added, modified, replaced.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diff, execute, confirm — the same confirm habit as the deploy.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Return it to a known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practice environment ends where it began: return the store to its known state.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Known state means provable — the template and the deployed reality agree again, and you can say how you know.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Stacks you manage through templates go up and come back down the same 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Update and reset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tasks 9 and 10.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Update the provided template and redeploy through a change set, then return the store to its known state and show how you know.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Section 4 · Change and reset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Change the template, not the resources.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it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Known state is provable state.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cloud foundations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standards under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 and standard products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Industry technology standards underpin the build: interoperability, security and management baselines.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products are what the platform assembles from: compute families, managed databases, object and block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foundation sits under both halves of the build — the templates and the microservice — and it comes back in the written questions.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author your own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read, deploy, fix, update and reset a template someone else wrote.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write your own — and what it deploys is the microservice you designed in Topic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