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Topic 6 as the START of AT2 — the design is signed off; now you build it in the lab. Set the mode</a:t>
            </a:r>
          </a:p>
          <a:p>
            <a:r>
              <a:t>and the two conventions (Region substitution, teach→demo→practice); don't teach CloudFormation yet.</a:t>
            </a:r>
          </a:p>
          <a:p>
            <a:r>
              <a:t>• First bullet: AT1 is signed off; AT2 begins — you build in the lab, TO the approved design. The design</a:t>
            </a:r>
          </a:p>
          <a:p>
            <a:r>
              <a:t>is settled; your job is faithful implementation.</a:t>
            </a:r>
          </a:p>
          <a:p>
            <a:r>
              <a:t>• Second bullet: scope today — what IaC is, and OPERATING a template someone else wrote (authoring your</a:t>
            </a:r>
          </a:p>
          <a:p>
            <a:r>
              <a:t>own is Topic 7).</a:t>
            </a:r>
          </a:p>
          <a:p>
            <a:r>
              <a:t>• Third bullet (say it explicitly): Region substitution starts here — the design targets Sydney/India,</a:t>
            </a:r>
          </a:p>
          <a:p>
            <a:r>
              <a:t>but you deploy to us-east-1 in the Learner Lab: [scenario: ap-southeast-2 (Sydney) | deploy: us-east-1].</a:t>
            </a:r>
          </a:p>
          <a:p>
            <a:r>
              <a:t>Same build; only the console Region label differs.</a:t>
            </a:r>
          </a:p>
          <a:p>
            <a:r>
              <a:t>• Fourth bullet: the rhythm for every AWS practical — teach → demo → practice. Watch the demo, then do it</a:t>
            </a:r>
          </a:p>
          <a:p>
            <a:r>
              <a:t>on the practice scenario.</a:t>
            </a:r>
          </a:p>
          <a:p>
            <a:r>
              <a:t>Misconception to pre-empt: "us-east-1 means residency doesn't matter." No — the DESIGN still mandates the</a:t>
            </a:r>
          </a:p>
          <a:p>
            <a:r>
              <a:t>onshore Region for legal reasons; the lab just can't host it, so we substitute and label it.</a:t>
            </a:r>
          </a:p>
          <a:p>
            <a:r>
              <a:t>Question to pose: "Why describe infrastructure in a template at all, instead of just clicking it in the</a:t>
            </a:r>
          </a:p>
          <a:p>
            <a:r>
              <a:t>console?" (repeatable, versioned, reviewable — teased here, answered in C1).</a:t>
            </a:r>
          </a:p>
          <a:p>
            <a:r>
              <a:t>UoC/AT2 tie: opens the AT2 build arc — ICTCLD505 (IaC) primary; today feeds AT2 §4.2 (operate the</a:t>
            </a:r>
          </a:p>
          <a:p>
            <a:r>
              <a:t>provided data-store template).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Vendor-neutral primer — install the core idea of IaC before any AWS specifics.</a:t>
            </a:r>
          </a:p>
          <a:p>
            <a:r>
              <a:t>• First bullet: IaC describes infrastructure in a TEXT TEMPLATE the platform then provisions for you —</a:t>
            </a:r>
          </a:p>
          <a:p>
            <a:r>
              <a:t>you declare what you want, the platform builds it.</a:t>
            </a:r>
          </a:p>
          <a:p>
            <a:r>
              <a:t>• Second bullet: walk the benefits over manual console work — repeatable, versioned, reviewable, fast to</a:t>
            </a:r>
          </a:p>
          <a:p>
            <a:r>
              <a:t>rebuild. These four are KE 3; say them as the reasons a professional uses IaC.</a:t>
            </a:r>
          </a:p>
          <a:p>
            <a:r>
              <a:t>• Third bullet: the same template gives the same result every time — no click-to-click drift between two</a:t>
            </a:r>
          </a:p>
          <a:p>
            <a:r>
              <a:t>people or two environments. Determinism is the whole point.</a:t>
            </a:r>
          </a:p>
          <a:p>
            <a:r>
              <a:t>Misconception to pre-empt: "IaC is just a faster way to click." No — it's a fundamentally different</a:t>
            </a:r>
          </a:p>
          <a:p>
            <a:r>
              <a:t>model: you version and review the DESCRIPTION of infrastructure like source code, and rebuild from it.</a:t>
            </a:r>
          </a:p>
          <a:p>
            <a:r>
              <a:t>Question to pose: "You built something perfectly in the console last week and need it again in a new</a:t>
            </a:r>
          </a:p>
          <a:p>
            <a:r>
              <a:t>account today — what does the console give you vs a template?" (memory/screenshots vs a repeatable</a:t>
            </a:r>
          </a:p>
          <a:p>
            <a:r>
              <a:t>artefact).</a:t>
            </a:r>
          </a:p>
          <a:p>
            <a:r>
              <a:t>UoC/AT2 tie: ICTCLD505 PC 1.1 (benefits of IaC) + KE 3 (IaC vs manual provisioning) → AT2 §4.2 / 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the three remaining C1 ideas: how automation leverages the platform, what can go wrong, and</a:t>
            </a:r>
          </a:p>
          <a:p>
            <a:r>
              <a:t>choosing the service. Balance the benefits slide with the risks.</a:t>
            </a:r>
          </a:p>
          <a:p>
            <a:r>
              <a:t>• First bullet: automation LEVERAGES the platform — one template stands up many related resources</a:t>
            </a:r>
          </a:p>
          <a:p>
            <a:r>
              <a:t>consistently, in the right order, without manual steps.</a:t>
            </a:r>
          </a:p>
          <a:p>
            <a:r>
              <a:t>• Second bullet: the potential ISSUES (students must know these, not just the upside) — drift from</a:t>
            </a:r>
          </a:p>
          <a:p>
            <a:r>
              <a:t>manual edits, a bad change rolling back a whole stack, permission/quota errors. Name them plainly.</a:t>
            </a:r>
          </a:p>
          <a:p>
            <a:r>
              <a:t>• Third bullet: choose an IaC service COMPATIBLE with the platform — on AWS, CloudFormation is native;</a:t>
            </a:r>
          </a:p>
          <a:p>
            <a:r>
              <a:t>manage/measure deployments by stack status and change sets.</a:t>
            </a:r>
          </a:p>
          <a:p>
            <a:r>
              <a:t>Misconception to pre-empt: "IaC removes all risk." No — it introduces its OWN failure modes (drift,</a:t>
            </a:r>
          </a:p>
          <a:p>
            <a:r>
              <a:t>rollbacks, quota/permission errors); knowing them is part of using it well and is examined.</a:t>
            </a:r>
          </a:p>
          <a:p>
            <a:r>
              <a:t>Question to pose: "Someone tweaks a resource by hand after it was deployed from a template — what problem</a:t>
            </a:r>
          </a:p>
          <a:p>
            <a:r>
              <a:t>have they just created?" (drift — the template and reality no longer match).</a:t>
            </a:r>
          </a:p>
          <a:p>
            <a:r>
              <a:t>UoC/AT2 tie: ICTCLD505 PC 1.2 (automation leverages platforms) + PC 1.3 (potential issues) + PC 1.4 /</a:t>
            </a:r>
          </a:p>
          <a:p>
            <a:r>
              <a:t>KE 4 (select a compatible service) + KE 11 (manage/measure via stack status, change sets) → AT2 §5/§8.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— the anatomy of a template so students can READ one. Vendor-neutral framing, AWS examples.</a:t>
            </a:r>
          </a:p>
          <a:p>
            <a:r>
              <a:t>• First bullet: the parts — Parameters (inputs), Resources (what to create), Outputs (what to share),</a:t>
            </a:r>
          </a:p>
          <a:p>
            <a:r>
              <a:t>and intrinsic functions (!Ref, !GetAtt, !Sub) that wire them together. Name each part's job.</a:t>
            </a:r>
          </a:p>
          <a:p>
            <a:r>
              <a:t>• Second bullet: resources declare DESIRED STATE — you say what you want to exist; the platform works</a:t>
            </a:r>
          </a:p>
          <a:p>
            <a:r>
              <a:t>out how to reach it. This is the declarative mindset (contrast with scripting each step).</a:t>
            </a:r>
          </a:p>
          <a:p>
            <a:r>
              <a:t>• Third bullet: read a template TOP-DOWN — inputs → resources → outputs. Give them the reading order</a:t>
            </a:r>
          </a:p>
          <a:p>
            <a:r>
              <a:t>they'll use on the provided template next slide.</a:t>
            </a:r>
          </a:p>
          <a:p>
            <a:r>
              <a:t>Misconception to pre-empt: "a template is a script that runs line by line." No — it's a DECLARATION of</a:t>
            </a:r>
          </a:p>
          <a:p>
            <a:r>
              <a:t>the end state; the platform decides order and method. Order in the file isn't execution order.</a:t>
            </a:r>
          </a:p>
          <a:p>
            <a:r>
              <a:t>Question to pose: "If a template just says 'this database and this server should exist,' who decides the</a:t>
            </a:r>
          </a:p>
          <a:p>
            <a:r>
              <a:t>order they're created in?" (the platform, from the dependencies/references — not you).</a:t>
            </a:r>
          </a:p>
          <a:p>
            <a:r>
              <a:t>UoC/AT2 tie: ICTCLD505 PC 2.1 (template syntax) + KE 5 (template syntax) → AT2 §4.2 (read the provided</a:t>
            </a:r>
          </a:p>
          <a:p>
            <a:r>
              <a:t>template before operating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the assessed skill of READING a template you were given, before running it. Use the anatomy</a:t>
            </a:r>
          </a:p>
          <a:p>
            <a:r>
              <a:t>diagram to point at each part live.</a:t>
            </a:r>
          </a:p>
          <a:p>
            <a:r>
              <a:t>• First bullet: review a pre-defined template to determine the RESOURCES it creates and their</a:t>
            </a:r>
          </a:p>
          <a:p>
            <a:r>
              <a:t>DEPENDENCIES — what will exist and what relies on what.</a:t>
            </a:r>
          </a:p>
          <a:p>
            <a:r>
              <a:t>• Second bullet: trace !Ref / !GetAtt to see what depends on what — the build ORDER falls out of the</a:t>
            </a:r>
          </a:p>
          <a:p>
            <a:r>
              <a:t>references, you don't specify it. Follow a reference on the diagram as you say this.</a:t>
            </a:r>
          </a:p>
          <a:p>
            <a:r>
              <a:t>• Third bullet (the point): know what a template does BEFORE you deploy it. The provided data-store</a:t>
            </a:r>
          </a:p>
          <a:p>
            <a:r>
              <a:t>template is your AT2 case — reading it is the graded skill, not just running it.</a:t>
            </a:r>
          </a:p>
          <a:p>
            <a:r>
              <a:t>Misconception to pre-empt: "just deploy it and see what happens." No — a professional reviews the</a:t>
            </a:r>
          </a:p>
          <a:p>
            <a:r>
              <a:t>template first; deploying blind into a real account can create cost or clash with existing resources.</a:t>
            </a:r>
          </a:p>
          <a:p>
            <a:r>
              <a:t>Question to pose: "How can you tell, from the template alone, that the database must exist before the app</a:t>
            </a:r>
          </a:p>
          <a:p>
            <a:r>
              <a:t>server?" (the app resource !Refs the database — the reference creates the dependency).</a:t>
            </a:r>
          </a:p>
          <a:p>
            <a:r>
              <a:t>UoC/AT2 tie: ICTCLD505 PC 2.2 (review pre-defined templates; determine resources &amp; dependencies) + KE 5</a:t>
            </a:r>
          </a:p>
          <a:p>
            <a:r>
              <a:t>→ AT2 §4.2 (operate the PROVIDED DynamoDB template — criterion D2).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— the operational lifecycle of a template and the tooling that runs it, right before the demo.</a:t>
            </a:r>
          </a:p>
          <a:p>
            <a:r>
              <a:t>• First bullet: the three operations on a stack — create → update (via a CHANGE SET) → delete. That's</a:t>
            </a:r>
          </a:p>
          <a:p>
            <a:r>
              <a:t>the whole lifecycle of operating a template.</a:t>
            </a:r>
          </a:p>
          <a:p>
            <a:r>
              <a:t>• Second bullet: tooling — the CloudFormation console OR the CLI executes the template; you</a:t>
            </a:r>
          </a:p>
          <a:p>
            <a:r>
              <a:t>manage/provision/update via stacks and change sets. Either tool, same operations.</a:t>
            </a:r>
          </a:p>
          <a:p>
            <a:r>
              <a:t>• Third bullet (the safety point): every change is a REVIEWABLE DIFF before it runs — a change set shows</a:t>
            </a:r>
          </a:p>
          <a:p>
            <a:r>
              <a:t>you exactly what will change before you commit. You look before you leap.</a:t>
            </a:r>
          </a:p>
          <a:p>
            <a:r>
              <a:t>Misconception to pre-empt: "updating means editing the live resources directly." No — you edit the</a:t>
            </a:r>
          </a:p>
          <a:p>
            <a:r>
              <a:t>template and apply it; the change set computes the diff and the platform makes the changes. Don't</a:t>
            </a:r>
          </a:p>
          <a:p>
            <a:r>
              <a:t>hand-edit resources a template owns (that's drift).</a:t>
            </a:r>
          </a:p>
          <a:p>
            <a:r>
              <a:t>Question to pose: "Before you apply an update to a running stack, what should you look at first?" (the</a:t>
            </a:r>
          </a:p>
          <a:p>
            <a:r>
              <a:t>change set — the diff of what will be added/modified/removed).</a:t>
            </a:r>
          </a:p>
          <a:p>
            <a:r>
              <a:t>UoC/AT2 tie: ICTCLD505 PC 2.3–2.5 (deploy/update/delete; confirm; remove) + PE 1 + PE 3 + KE 6/10/11 →</a:t>
            </a:r>
          </a:p>
          <a:p>
            <a:r>
              <a:t>AT2 §4.2 (operate the provided template — D2).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 (educator-led — screen it live in the lab, or a screen capture you record yourself;</a:t>
            </a:r>
          </a:p>
          <a:p>
            <a:r>
              <a:t>CL2 has no recorded-demos catalogue). Demonstrate the COURSE'S OWN provided template against the</a:t>
            </a:r>
          </a:p>
          <a:p>
            <a:r>
              <a:t>lab-pack, then students replicate on the next slide.</a:t>
            </a:r>
          </a:p>
          <a:p/>
          <a:p>
            <a:r>
              <a:t>WHAT TO DEMONSTRATE (step by step, in the Learner Lab, Region us-east-1 —</a:t>
            </a:r>
          </a:p>
          <a:p>
            <a:r>
              <a:t>[scenario: ap-southeast-2 (Sydney) | deploy: us-east-1]):</a:t>
            </a:r>
          </a:p>
          <a:p>
            <a:r>
              <a:t>1. Open the provided data-store template; point out its Parameters/Resources/Outputs (tie back to the</a:t>
            </a:r>
          </a:p>
          <a:p>
            <a:r>
              <a:t>anatomy slide).</a:t>
            </a:r>
          </a:p>
          <a:p>
            <a:r>
              <a:t>2. Create the stack; watch the events to CREATE_COMPLETE; confirm the resource in the console.</a:t>
            </a:r>
          </a:p>
          <a:p>
            <a:r>
              <a:t>3. Make a change SET on one parameter, review the diff, then execute it; confirm the resource changed.</a:t>
            </a:r>
          </a:p>
          <a:p>
            <a:r>
              <a:t>4. Delete the stack; confirm the resources are removed (no orphans left behind).</a:t>
            </a:r>
          </a:p>
          <a:p/>
          <a:p>
            <a:r>
              <a:t>WHAT TO EMPHASISE:</a:t>
            </a:r>
          </a:p>
          <a:p>
            <a:r>
              <a:t>• Set the Region to us-east-1 FIRST and say the substitution out loud — everything is Region-scoped.</a:t>
            </a:r>
          </a:p>
          <a:p>
            <a:r>
              <a:t>• The change set is a DIFF you review BEFORE it runs — pause on it deliberately; don't rush past it.</a:t>
            </a:r>
          </a:p>
          <a:p>
            <a:r>
              <a:t>• Confirm at each step (console/CLI) rather than assuming — deploy → confirm is the habit.</a:t>
            </a:r>
          </a:p>
          <a:p>
            <a:r>
              <a:t>• Delete cleanly at the end — leaving stacks running costs money and clutters the account.</a:t>
            </a:r>
          </a:p>
          <a:p/>
          <a:p>
            <a:r>
              <a:t>PREP: clean Learner Lab open, the provided data-store template to hand, Region already thought about.</a:t>
            </a:r>
          </a:p>
          <a:p>
            <a:r>
              <a:t>~8–10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C3 practice; students operate the provided template through its full lifecycle on</a:t>
            </a:r>
          </a:p>
          <a:p>
            <a:r>
              <a:t>the practice scenario. They do what you just demoed.</a:t>
            </a:r>
          </a:p>
          <a:p>
            <a:r>
              <a:t>Tell students, in these words: "On the practice scenario, deploy the provided template, update a</a:t>
            </a:r>
          </a:p>
          <a:p>
            <a:r>
              <a:t>parameter via a change set, confirm it, then remove it. Work in us-east-1 — the deploy Region is the</a:t>
            </a:r>
          </a:p>
          <a:p>
            <a:r>
              <a:t>substitute, the process is identical."</a:t>
            </a:r>
          </a:p>
          <a:p>
            <a:r>
              <a:t>Steps (put on the board):</a:t>
            </a:r>
          </a:p>
          <a:p>
            <a:r>
              <a:t>1. Set the Region to us-east-1 — [scenario: ap-southeast-2 (Sydney) | deploy: us-east-1].</a:t>
            </a:r>
          </a:p>
          <a:p>
            <a:r>
              <a:t>2. Deploy the provided template; wait for CREATE_COMPLETE; confirm the resource in the console/CLI.</a:t>
            </a:r>
          </a:p>
          <a:p>
            <a:r>
              <a:t>3. Update one parameter via a change set — review the diff, then execute; confirm the change.</a:t>
            </a:r>
          </a:p>
          <a:p>
            <a:r>
              <a:t>4. Delete the stack; confirm everything is removed.</a:t>
            </a:r>
          </a:p>
          <a:p>
            <a:r>
              <a:t>Must produce: a stack taken cleanly through create → update → delete, confirmed at each step.</a:t>
            </a:r>
          </a:p>
          <a:p>
            <a:r>
              <a:t>Timing: ~25 min. Where they get stuck: forgetting to set Region first; and trying to change the resource</a:t>
            </a:r>
          </a:p>
          <a:p>
            <a:r>
              <a:t>by hand instead of via a change set — circulate and redirect them to the template/change set.</a:t>
            </a:r>
          </a:p>
          <a:p>
            <a:r>
              <a:t>Share-back prompt: "What did the change set show you BEFORE you applied it?" (the diff — reinforce the</a:t>
            </a:r>
          </a:p>
          <a:p>
            <a:r>
              <a:t>review-before-run habit).</a:t>
            </a:r>
          </a:p>
          <a:p>
            <a:r>
              <a:t>No-leakage note: practice scenario template — AT2 §4.2 operates the provided data-store template on a</a:t>
            </a:r>
          </a:p>
          <a:p>
            <a:r>
              <a:t>different case (comparable, not identical); keep them on the practice template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teach diagnosis as a METHOD, not guesswork. This is the thinking behind the "fix a broken</a:t>
            </a:r>
          </a:p>
          <a:p>
            <a:r>
              <a:t>template" demo that follows.</a:t>
            </a:r>
          </a:p>
          <a:p>
            <a:r>
              <a:t>• First bullet: to troubleshoot, read the FAILURE EVENT — find the FIRST CREATE_FAILED in the stack</a:t>
            </a:r>
          </a:p>
          <a:p>
            <a:r>
              <a:t>events and read its reason. The first failure is the cause; the rest are knock-on.</a:t>
            </a:r>
          </a:p>
          <a:p>
            <a:r>
              <a:t>• Second bullet: the common errors (KE 7) — a bad reference, a missing permission, an invalid property,</a:t>
            </a:r>
          </a:p>
          <a:p>
            <a:r>
              <a:t>a name clash. Knowing the usual suspects speeds diagnosis.</a:t>
            </a:r>
          </a:p>
          <a:p>
            <a:r>
              <a:t>• Third bullet: fix the template, redeploy, confirm — diagnosis OVER trial-and-error. You reason from</a:t>
            </a:r>
          </a:p>
          <a:p>
            <a:r>
              <a:t>the error message, you don't poke randomly.</a:t>
            </a:r>
          </a:p>
          <a:p>
            <a:r>
              <a:t>Misconception to pre-empt: "when a stack fails, start changing things until it works." No — read the</a:t>
            </a:r>
          </a:p>
          <a:p>
            <a:r>
              <a:t>first CREATE_FAILED event and its reason; the message usually tells you exactly what's wrong. Random</a:t>
            </a:r>
          </a:p>
          <a:p>
            <a:r>
              <a:t>changes create new failures.</a:t>
            </a:r>
          </a:p>
          <a:p>
            <a:r>
              <a:t>Question to pose: "A stack shows five failed resources — which one do you read first, and why?" (the</a:t>
            </a:r>
          </a:p>
          <a:p>
            <a:r>
              <a:t>FIRST CREATE_FAILED — the others likely failed because it did).</a:t>
            </a:r>
          </a:p>
          <a:p>
            <a:r>
              <a:t>UoC/AT2 tie: ICTCLD505 PC 2.6 (test &amp; troubleshoot template errors) + KE 7 (testing/debugging, common</a:t>
            </a:r>
          </a:p>
          <a:p>
            <a:r>
              <a:t>errors) → AT2 §4.2 (operate the provided template, incl. recovering from a failure).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 (educator-led — screen it live, or your own screen capture; no recorded-demos</a:t>
            </a:r>
          </a:p>
          <a:p>
            <a:r>
              <a:t>catalogue in CL2). Walk a DELIBERATELY BROKEN copy of the provided template against the lab-pack, then</a:t>
            </a:r>
          </a:p>
          <a:p>
            <a:r>
              <a:t>students replicate on the next slide.</a:t>
            </a:r>
          </a:p>
          <a:p/>
          <a:p>
            <a:r>
              <a:t>WHAT TO DEMONSTRATE (in the Learner Lab, us-east-1):</a:t>
            </a:r>
          </a:p>
          <a:p>
            <a:r>
              <a:t>1. Deploy the deliberately broken template; let it fail.</a:t>
            </a:r>
          </a:p>
          <a:p>
            <a:r>
              <a:t>2. Open the stack events; scroll to the FIRST CREATE_FAILED and read its reason out loud.</a:t>
            </a:r>
          </a:p>
          <a:p>
            <a:r>
              <a:t>3. Diagnose from the message (e.g. a bad !Ref, an invalid property, a name clash — the KE 7 suspects).</a:t>
            </a:r>
          </a:p>
          <a:p>
            <a:r>
              <a:t>4. Make the one-line fix in the template; redeploy; confirm it reaches CREATE_COMPLETE.</a:t>
            </a:r>
          </a:p>
          <a:p/>
          <a:p>
            <a:r>
              <a:t>WHAT TO EMPHASISE:</a:t>
            </a:r>
          </a:p>
          <a:p>
            <a:r>
              <a:t>• Model reading the error BEFORE touching anything — narrate the diagnosis, don't just fix it silently.</a:t>
            </a:r>
          </a:p>
          <a:p>
            <a:r>
              <a:t>• It's the FIRST failure that matters — show how the later failures were downstream of it.</a:t>
            </a:r>
          </a:p>
          <a:p>
            <a:r>
              <a:t>• One deliberate fix, then redeploy — reinforce diagnosis over trial-and-error.</a:t>
            </a:r>
          </a:p>
          <a:p>
            <a:r>
              <a:t>• Clean up (delete the stack) at the end.</a:t>
            </a:r>
          </a:p>
          <a:p/>
          <a:p>
            <a:r>
              <a:t>PREP: have a broken copy of the provided template ready (a single planted error), the events view</a:t>
            </a:r>
          </a:p>
          <a:p>
            <a:r>
              <a:t>familiar, lab open in us-east-1. ~6–8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C4 practice; students diagnose and fix the broken template on the practice scenario.</a:t>
            </a:r>
          </a:p>
          <a:p>
            <a:r>
              <a:t>They apply the method you just demoed.</a:t>
            </a:r>
          </a:p>
          <a:p>
            <a:r>
              <a:t>Tell students, in these words: "On the practice scenario, deploy the broken template, read the error,</a:t>
            </a:r>
          </a:p>
          <a:p>
            <a:r>
              <a:t>fix it, and redeploy to success."</a:t>
            </a:r>
          </a:p>
          <a:p>
            <a:r>
              <a:t>Steps (put on the board):</a:t>
            </a:r>
          </a:p>
          <a:p>
            <a:r>
              <a:t>1. Deploy the broken template in us-east-1; let it fail.</a:t>
            </a:r>
          </a:p>
          <a:p>
            <a:r>
              <a:t>2. Open the stack events; find the FIRST CREATE_FAILED and read its reason.</a:t>
            </a:r>
          </a:p>
          <a:p>
            <a:r>
              <a:t>3. Diagnose (bad reference / missing permission / invalid property / name clash) and make the fix.</a:t>
            </a:r>
          </a:p>
          <a:p>
            <a:r>
              <a:t>4. Redeploy; confirm CREATE_COMPLETE; then delete the stack.</a:t>
            </a:r>
          </a:p>
          <a:p>
            <a:r>
              <a:t>Must produce: the once-broken stack redeployed to success, plus a one-line statement of what the error</a:t>
            </a:r>
          </a:p>
          <a:p>
            <a:r>
              <a:t>was and how they knew.</a:t>
            </a:r>
          </a:p>
          <a:p>
            <a:r>
              <a:t>Timing: ~20 min. Where they get stuck: they read the LAST failure not the first, or start changing</a:t>
            </a:r>
          </a:p>
          <a:p>
            <a:r>
              <a:t>random properties — circulate and point them at the first CREATE_FAILED and its message.</a:t>
            </a:r>
          </a:p>
          <a:p>
            <a:r>
              <a:t>Share-back prompt: "What did the first failure event actually say, and what did that tell you to fix?"</a:t>
            </a:r>
          </a:p>
          <a:p>
            <a:r>
              <a:t>No-leakage note: practice scenario — AT2 assesses troubleshooting on the provided data-store template</a:t>
            </a:r>
          </a:p>
          <a:p>
            <a:r>
              <a:t>(comparable, not identical).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the shared-foundations KE: the standards and standard products under the build. This is</a:t>
            </a:r>
          </a:p>
          <a:p>
            <a:r>
              <a:t>knowledge shared across BOTH units (503 and 505), so teach it once here.</a:t>
            </a:r>
          </a:p>
          <a:p>
            <a:r>
              <a:t>• First bullet: industry technology STANDARDS that underpin cloud building — interoperability, security,</a:t>
            </a:r>
          </a:p>
          <a:p>
            <a:r>
              <a:t>and management baselines (KE 1). These are the agreed rules that make cloud components work together and</a:t>
            </a:r>
          </a:p>
          <a:p>
            <a:r>
              <a:t>stay secure.</a:t>
            </a:r>
          </a:p>
          <a:p>
            <a:r>
              <a:t>• Second bullet: standard PRODUCTS the platform is built on (KE 2) — compute families, managed</a:t>
            </a:r>
          </a:p>
          <a:p>
            <a:r>
              <a:t>databases, object/block storage. The building blocks you assemble, not things you invent.</a:t>
            </a:r>
          </a:p>
          <a:p>
            <a:r>
              <a:t>• Third bullet: this is the shared foundation behind both the IaC strand (505) and the microservice</a:t>
            </a:r>
          </a:p>
          <a:p>
            <a:r>
              <a:t>strand (503) — flag that it earns marks in the written KE appendix, assembled in Topic 10.</a:t>
            </a:r>
          </a:p>
          <a:p>
            <a:r>
              <a:t>Misconception to pre-empt: "standards are abstract theory with no bearing on my build." No — they're why</a:t>
            </a:r>
          </a:p>
          <a:p>
            <a:r>
              <a:t>your template's resources interoperate and why the managed products behave predictably; it's the ground</a:t>
            </a:r>
          </a:p>
          <a:p>
            <a:r>
              <a:t>the whole build stands on.</a:t>
            </a:r>
          </a:p>
          <a:p>
            <a:r>
              <a:t>Question to pose: "Name a standard PRODUCT you'll use in this build and a standard it depends on." (e.g.</a:t>
            </a:r>
          </a:p>
          <a:p>
            <a:r>
              <a:t>a managed database + the security/interoperability baselines it implements).</a:t>
            </a:r>
          </a:p>
          <a:p>
            <a:r>
              <a:t>UoC/AT2 tie: ICTCLD503 KE 1/KE 2 + ICTCLD505 KE 1/KE 2 (industry standards + standard hardware/software/</a:t>
            </a:r>
          </a:p>
          <a:p>
            <a:r>
              <a:t>storage) → the AT2 written KE appendix (§8, assembled in Topic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06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IaC: fundamentals &amp; operating provided templates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Infrastructure as Code from first principles, then operating a template you were given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design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AT1 is signed off; AT2 begins — you build in the lab, to the approved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Topic: what IaC is, and operating a template someone else wrote.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Region substitution starts here: the design targets Sydney/India, but you deploy to us-east-1 — [scenario: ap-southeast-2 (Sydney) | deploy: us-east-1]. Same build, only the console Region differs.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teach → demo → practice: watch the demo, then do it on the practice scenario.</a:t>
            </a:r>
          </a:p>
        </p:txBody>
      </p:sp>
      <p:pic>
        <p:nvPicPr>
          <p:cNvPr id="5" name="Picture 4" descr="gen-80c082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Why IaC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describe infrastructure, don't click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Infrastructure as Code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IaC describes infrastructure in a text template the platform provisions for you.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Benefits over manual console work: repeatable, versioned, reviewable, fast to rebuild (KE 3).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same template gives the same result every time — no click-to-click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Automation, risks &amp; choosing a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Automation leverages the platform: one template stands up many related resources consistently.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Potential issues: drift from manual edits, a bad change rolling back a stack, permission/quota errors.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an IaC service compatible with the platform — on AWS, CloudFormation is native (KE 4); manage/measure deployments by stack status and change sets (KE 11).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Template anatomy &amp; review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a template before you run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Template syntax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parts: Parameters (inputs), Resources (what to create), Outputs (what to share), intrinsic functions (!Ref, !GetAtt, !Sub).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Resources declare desired state; the platform works out how to reach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Learn to read it top-down: inputs → resources → outputs (KE 5).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a provided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Review a pre-defined template to determine the resources it creates and their dependencies.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Trace !Ref/!GetAtt to see what depends on what — the build order falls out of the references.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Know what a template does before you deploy it (the provided data-store template is your AT2 case).</a:t>
            </a:r>
          </a:p>
        </p:txBody>
      </p:sp>
      <p:pic>
        <p:nvPicPr>
          <p:cNvPr id="5" name="Picture 4" descr="cfn-template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12064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Operating a provided template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deploy, update, delete — cleanly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template lifecycle &amp; tooling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Create → update (change set) → delete: the three operations on a stack.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Tooling: the CloudFormation console or the CLI executes the template (KE 6); manage/provision/update via stacks and change sets (KE 10).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change is a reviewable diff before it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Operate the provided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the provided template in the lab (Region us-east-1 — [scenario: ap-southeast-2 (Sydney) | deploy: us-east-1]).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Update a parameter via a change set; confirm the resource in the console/CLI; then delete the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Deploy, update,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deploy the provided template, update a parameter, confirm it, then remove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in us-east-1; the deploy Region is the substitute, the process is identical.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Troubleshooting templates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the error, don't guess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Diagnose a template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Test and troubleshoot template errors: read the failure event, find the first CREATE_FAILED, read its reason.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Common errors: a bad reference, a missing permission, an invalid property, a name clash (KE 7).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Fix the template, redeploy, confirm — diagnosis over trial-and-error.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Fix a broken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Walk a deliberately broken copy: the error event, the diagnosis, the one-line fix, the redeploy.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Troubleshoot the broken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deploy the broken template, read the error, fix it, and redeploy to success.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Shared cloud foundations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standards under the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 &amp; standard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Industry technology standards that underpin cloud building — interoperability, security, and management baselines (KE 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Standard hardware/software/storage products the platform is built on — compute families, managed databases, object/block storage (KE 2).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shared foundation behind both the IaC (505) and the microservice (503) strands.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7 — author your own template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read and operate a provided template; next you write one from scratch.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Same tooling, same lifecycle — this time you author the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