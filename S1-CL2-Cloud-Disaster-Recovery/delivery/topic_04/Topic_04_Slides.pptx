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consumes Topic 3's output — the register and objectives stay on the desk; workbook tasks 28 to 37 in order.</a:t>
            </a:r>
          </a:p>
          <a:p>
            <a:r>
              <a:t>Misconception: the plan is just picking a strategy. The strategy is one row; the plan is everything from detection to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spectrum of cost against speed, walked cheapest to priciest — the core examinable content of the Topic.</a:t>
            </a:r>
          </a:p>
          <a:p>
            <a:r>
              <a:t>Misconception: active-active is "best". The best strategy is the simplest that meets the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28 and 29 — the evaluation then the recommendation, as separate written steps.</a:t>
            </a:r>
          </a:p>
          <a:p>
            <a:r>
              <a:t>The step-up reasoning is what markers look for: start cheap, move up only when a target forces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28–29.</a:t>
            </a:r>
          </a:p>
          <a:p>
            <a:r>
              <a:t>Watch for jumping straight to active-active "to be safe", and choices made with no numbers cited.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30. Recovery order is set by the Topic 3 ranking, not by convenience.</a:t>
            </a:r>
          </a:p>
          <a:p>
            <a:r>
              <a:t>Question to pose: you can't bring everything back at once — what decides the order?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31 and 32. Insurance sits alongside recovery, never instead of it — a refund buys back none of your recovery time.</a:t>
            </a:r>
          </a:p>
          <a:p>
            <a:r>
              <a:t>The human components are the ones students forget; prompt "who declares the disaster?"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30–32.</a:t>
            </a:r>
          </a:p>
          <a:p>
            <a:r>
              <a:t>Push past the technical parts — escalation, communications and ownership are assessed components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33 — detection as part of the plan, not an assumption. The RTO clock starts at the event, not at the discovery.</a:t>
            </a:r>
          </a:p>
          <a:p>
            <a:r>
              <a:t>Tie back to the alarm work they'll do in AT2 — same machinery, planning-side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34 — the runbook. Walk the diagram: detect, declare, recover in priority order, verify.</a:t>
            </a:r>
          </a:p>
          <a:p>
            <a:r>
              <a:t>No anonymous actions; every step carries a who and a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35 — the explicit objectives argument. Listing the right steps is not proof; the addition is.</a:t>
            </a:r>
          </a:p>
          <a:p>
            <a:r>
              <a:t>This is where a cheap strategy honestly fails and gets stepped up — that revision is good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33–35.</a:t>
            </a:r>
          </a:p>
          <a:p>
            <a:r>
              <a:t>Make them add the timings up — the missing arithmetic is the most common gap in the whole Part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36 — which standards the plan reflects, and why referencing them matters.</a:t>
            </a:r>
          </a:p>
          <a:p>
            <a:r>
              <a:t>Misconception: you must implement the standard. At this level you reference it to structure and justify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37 — assembly. The reader test: someone cold can follow any recovery action back to its risk.</a:t>
            </a:r>
          </a:p>
          <a:p>
            <a:r>
              <a:t>Everything from Topics 3 and 4 exists to produce this one artefact.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36–37 + assessment Q7 rehearsed from the assembled plan.</a:t>
            </a:r>
          </a:p>
          <a:p>
            <a:r>
              <a:t>The practice workbook carries no questions — use the assessment's, answered from the plan just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04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DR: strategy &amp; plan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Choose a recovery strategy to the objectives and assemble the documented DR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analysis to a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Topic 3 set the objectives and ranked the risks; Topic 4 turns them into a recovery plan.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You evaluate the strategies, recommend one, add everything else a plan carries, and assemble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plan must map to the prioritised risks and provably meet the objectives you set.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Planning only — recovery is not executed here.</a:t>
            </a:r>
          </a:p>
        </p:txBody>
      </p:sp>
      <p:pic>
        <p:nvPicPr>
          <p:cNvPr id="5" name="Picture 4" descr="gen-58b218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Evaluate the options, recommend an approach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four strategies, one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four cloud DR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Backup and restore: cheapest, slowest — restore from backups after an event.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Pilot light: core data live in a second region, minimal standby; scale up on failover.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Warm standby: a scaled-down running copy, ready to take load quickly.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Multi-region active-active: full running copies, near-zero recovery targets, highest cost.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Strategy trade-offs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Strategy</a:t>
                      </a:r>
                    </a:p>
                  </a:txBody>
                  <a:tcPr marL="76200" marR="76200">
                    <a:solidFill>
                      <a:srgbClr val="9226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RTO</a:t>
                      </a:r>
                    </a:p>
                  </a:txBody>
                  <a:tcPr marL="76200" marR="76200">
                    <a:solidFill>
                      <a:srgbClr val="9226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RPO</a:t>
                      </a:r>
                    </a:p>
                  </a:txBody>
                  <a:tcPr marL="76200" marR="76200">
                    <a:solidFill>
                      <a:srgbClr val="9226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Cost</a:t>
                      </a:r>
                    </a:p>
                  </a:txBody>
                  <a:tcPr marL="76200" marR="76200">
                    <a:solidFill>
                      <a:srgbClr val="9226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Backup &amp; restore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Hours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Hours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Low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Pilot light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~10s of min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Minutes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Medium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Warm standby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Minutes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Seconds–min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Higher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Active-active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Near-zero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Near-zero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Highest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The right choice is the simplest that meets the objectives.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Evaluate the options, then recommend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Evaluate each strategy against the objectives and budget from your own analysis — a range considered is part of the evidence.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Recommend the simplest option that meets the requirements, and say what ruled out the cheaper ones.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Cheaper is right until it fails an objective.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Evaluate and recommend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28 and 29.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Evaluate the recovery options against your objectives, then record the recommended approach and what ruled the others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Four strategies trade recovery speed against standing 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Show the range considered; recommend the simplest that fits.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Every elimination cites an objective.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rest of the plan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native protections, priorities, and the parts everyone forgets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Lean on native protections and prioritise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Use the vendor's native protections: automated backups, cross-region copy, durable storage.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Prioritise recovery against the ranked risks — the highest-severity, business-critical parts come back first.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Native durability does the heavy lifting; your plan sequences and governs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Insurance, and the other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Insurance transfers residual loss — it covers money, it does not restore service.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other components: the runbook, declaration and escalation, communications, failover of the entry point.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plan is who does what, in what order, and how people are told — not just a strategy name.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Priorities, insurance and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30, 31 and 32.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Record the vendor protections leaned on and the recovery priorities, the role insurance plays, and the other components your plan carries.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The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Build on native protections; sequence by severity.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Insurance covers residual loss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Runbook, escalation, communications, failover — the plan's working parts.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Detection, steps, and proving the targets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detect it, recover it, prove the clock 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Detection and alerting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plan that starts with "when someone notices" has already spent its recovery time.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State what detects each event class — monitoring, alarms, health checks — and who gets told, how.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Detection time is inside the recovery clock; the objective includes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recovery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Ordered steps with timelines, key features, and the service providers involved.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Name who executes each step and what recovered looks like — an owner and a definition of done per step.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Recover in priority order; the sequence comes from your ranking, not from habit.</a:t>
            </a:r>
          </a:p>
        </p:txBody>
      </p:sp>
      <p:pic>
        <p:nvPicPr>
          <p:cNvPr id="5" name="Picture 4" descr="dr-runbook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781" y="1783080"/>
            <a:ext cx="1586677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Show the plan meets the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Add the step timings up and set the total against the recovery time objective — the arithmetic is the proof.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Do the same for data: what the plan can lose against what the objective allows.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If the numbers don't fit, the plan changes — re-sequence, parallelise, or step the strategy 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Detection, steps and the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33, 34 and 35.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State the detection and alerting, write the recovery steps with owners and timings, then show the plan meets the recovery objectives.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The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Detection time is inside the recovery clock.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Every step has an owner, a timing, and a definition of done.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arithmetic against the objectives is the proof.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Standards, and the assembled plan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to a standard, in one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Continuity standards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ISO/IEC 27031 — ICT readiness for business continuity; 27001/27002 — the security management context around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Standards give the plan a recognised structure and assurance language.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Reference them so the plan is auditable, not ad hoc.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Assemble the Disaster Recovery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Bring the parts into one document: requirements, objectives, risks, strategy, components, steps, proof.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Complete, internally consistent, and traceable — any action leads back to the risk and requirement that drove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Written for the business in plain professional English; this is the deliverable of the whole Part 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The standards, and the assembled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36 and 37, then the assessment's Part B question Q7 from your own plan.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Record the standards the plan reflects, assemble the full Disaster Recovery Plan, then explain the recovery techniques available and why yours fits.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Topic 4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Recommend the simplest strategy the objectives allow, and show your working.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plan is detection, steps, owners, timings, components — with the arithmetic proving the targets.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Reference the continuity standards; assemble one traceable document.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5 — present for approval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Solution Design and the Disaster Recovery Plan are both complete.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 you take them to the client: the walkthrough, the feedback, the lodgement and the sign-off.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