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 Topic 7 as the step up from Topic 6 — you operated a template someone else wrote; now you AUTHOR</a:t>
            </a:r>
          </a:p>
          <a:p>
            <a:r>
              <a:t>your own. Set the mode; don't teach syntax yet.</a:t>
            </a:r>
          </a:p>
          <a:p>
            <a:r>
              <a:t>• First bullet: Topic 6 operated a PROVIDED template; now you write your OWN from scratch. The skill</a:t>
            </a:r>
          </a:p>
          <a:p>
            <a:r>
              <a:t>shifts from reading to producing.</a:t>
            </a:r>
          </a:p>
          <a:p>
            <a:r>
              <a:t>• Second bullet: same tooling and lifecycle as Topic 6 — this time YOU declare the resources and their</a:t>
            </a:r>
          </a:p>
          <a:p>
            <a:r>
              <a:t>relationships, rather than reading someone else's declarations.</a:t>
            </a:r>
          </a:p>
          <a:p>
            <a:r>
              <a:t>• Third bullet: still deploy to us-east-1 in the lab — [scenario: ap-southeast-2 (Sydney) | deploy:</a:t>
            </a:r>
          </a:p>
          <a:p>
            <a:r>
              <a:t>us-east-1]. The substitution convention carries over unchanged.</a:t>
            </a:r>
          </a:p>
          <a:p>
            <a:r>
              <a:t>• Fourth bullet (why it matters): this is the skill you APPLY in Topic 8 to build the microservice</a:t>
            </a:r>
          </a:p>
          <a:p>
            <a:r>
              <a:t>template. Today is the general skill; Topic 8 is the real artefact.</a:t>
            </a:r>
          </a:p>
          <a:p>
            <a:r>
              <a:t>Misconception to pre-empt: "authoring is just editing the provided template." No — you start from the</a:t>
            </a:r>
          </a:p>
          <a:p>
            <a:r>
              <a:t>OUTCOME (what resources, what relationships) and declare them yourself; editing someone else's is still</a:t>
            </a:r>
          </a:p>
          <a:p>
            <a:r>
              <a:t>operating, not authoring.</a:t>
            </a:r>
          </a:p>
          <a:p>
            <a:r>
              <a:t>Question to pose: "When you write a template from scratch, what do you decide that you only READ in</a:t>
            </a:r>
          </a:p>
          <a:p>
            <a:r>
              <a:t>Topic 6?" (the resources, their dependencies, the parameters and outputs — the design of the template).</a:t>
            </a:r>
          </a:p>
          <a:p>
            <a:r>
              <a:t>UoC/AT2 tie: opens the author-your-own arc — ICTCLD505 element 3 (PE 2, at least one own template) →</a:t>
            </a:r>
          </a:p>
          <a:p>
            <a:r>
              <a:t>AT2 §4.3 (the student's own microservice template).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Primer — how to actually author a template: apply the syntax to build a related resource set.</a:t>
            </a:r>
          </a:p>
          <a:p>
            <a:r>
              <a:t>• First bullet: apply the template syntax (from Topic 6) to CREATE a template that provisions a SET of</a:t>
            </a:r>
          </a:p>
          <a:p>
            <a:r>
              <a:t>RELATED resources — not one resource, a related set that works together.</a:t>
            </a:r>
          </a:p>
          <a:p>
            <a:r>
              <a:t>• Second bullet: start from the OUTCOME — what resources, what depends on what, what inputs and outputs.</a:t>
            </a:r>
          </a:p>
          <a:p>
            <a:r>
              <a:t>Design the template before you type it.</a:t>
            </a:r>
          </a:p>
          <a:p>
            <a:r>
              <a:t>• Third bullet: build INCREMENTALLY — a few resources, deploy, confirm, add more. Don't write 200 lines</a:t>
            </a:r>
          </a:p>
          <a:p>
            <a:r>
              <a:t>then deploy and drown in errors.</a:t>
            </a:r>
          </a:p>
          <a:p>
            <a:r>
              <a:t>Misconception to pre-empt: "write the whole template, then deploy once at the end." No — incremental</a:t>
            </a:r>
          </a:p>
          <a:p>
            <a:r>
              <a:t>authoring (deploy early, deploy often) catches each error in isolation; a big-bang deploy buries the</a:t>
            </a:r>
          </a:p>
          <a:p>
            <a:r>
              <a:t>first failure under many.</a:t>
            </a:r>
          </a:p>
          <a:p>
            <a:r>
              <a:t>Question to pose: "Before you type a single resource, what three things should you have decided?" (what</a:t>
            </a:r>
          </a:p>
          <a:p>
            <a:r>
              <a:t>resources, their dependencies, and the inputs/outputs).</a:t>
            </a:r>
          </a:p>
          <a:p>
            <a:r>
              <a:t>UoC/AT2 tie: ICTCLD505 PC 3.1 (template syntax) + PC 3.2 (create &amp; deploy a related resource set) + PE 2</a:t>
            </a:r>
          </a:p>
          <a:p>
            <a:r>
              <a:t>(at least one own template) → AT2 §4.3 (D3).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Bespoke — the industry-standard practices that make an authored template professional. KE 9. Teach as a</a:t>
            </a:r>
          </a:p>
          <a:p>
            <a:r>
              <a:t>checklist they'll be judged against.</a:t>
            </a:r>
          </a:p>
          <a:p>
            <a:r>
              <a:t>• First bullet: PARAMETERS over hard-coded values; LEAST-PRIVILEGE on any role; TAG every resource.</a:t>
            </a:r>
          </a:p>
          <a:p>
            <a:r>
              <a:t>Three habits that separate a professional template from a throwaway.</a:t>
            </a:r>
          </a:p>
          <a:p>
            <a:r>
              <a:t>• Second bullet: OUTPUTS expose what other stacks/services need — the integration seam (KE 9). Outputs</a:t>
            </a:r>
          </a:p>
          <a:p>
            <a:r>
              <a:t>are how your template plugs into the rest of the system.</a:t>
            </a:r>
          </a:p>
          <a:p>
            <a:r>
              <a:t>• Third bullet (the why): standard practice is what makes a template safe to REUSE and to HAND OVER.</a:t>
            </a:r>
          </a:p>
          <a:p>
            <a:r>
              <a:t>You're building something someone else will run — write it so they can.</a:t>
            </a:r>
          </a:p>
          <a:p>
            <a:r>
              <a:t>Misconception to pre-empt: "hard-coding values is fine, it works." It runs, but it can't be reused or</a:t>
            </a:r>
          </a:p>
          <a:p>
            <a:r>
              <a:t>safely handed over — the same template can't target another environment, and a broad role is a security</a:t>
            </a:r>
          </a:p>
          <a:p>
            <a:r>
              <a:t>finding. "It works" isn't the bar; "safe to reuse and hand over" is.</a:t>
            </a:r>
          </a:p>
          <a:p>
            <a:r>
              <a:t>Question to pose: "Your template hard-codes the Region and grants AdministratorAccess to a role — name</a:t>
            </a:r>
          </a:p>
          <a:p>
            <a:r>
              <a:t>the two industry practices you've just broken." (parameterisation; least privilege).</a:t>
            </a:r>
          </a:p>
          <a:p>
            <a:r>
              <a:t>UoC/AT2 tie: ICTCLD505 KE 9 (industry-standard practices to define IaC) + PC 3.2 → AT2 §4.3 + §5 config</a:t>
            </a:r>
          </a:p>
          <a:p>
            <a:r>
              <a:t>decisions (D3/D8).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 DEMONSTRATION (educator-led — screen it live, or your own screen capture; CL2 has no recorded-demos</a:t>
            </a:r>
          </a:p>
          <a:p>
            <a:r>
              <a:t>catalogue). Author a small template FROM SCRATCH against the lab-pack, then students replicate on the</a:t>
            </a:r>
          </a:p>
          <a:p>
            <a:r>
              <a:t>next slide.</a:t>
            </a:r>
          </a:p>
          <a:p/>
          <a:p>
            <a:r>
              <a:t>WHAT TO DEMONSTRATE (in the Learner Lab, us-east-1 —</a:t>
            </a:r>
          </a:p>
          <a:p>
            <a:r>
              <a:t>[scenario: ap-southeast-2 (Sydney) | deploy: us-east-1]):</a:t>
            </a:r>
          </a:p>
          <a:p>
            <a:r>
              <a:t>1. Start from the outcome — state the small related resource set you'll create and the dependency</a:t>
            </a:r>
          </a:p>
          <a:p>
            <a:r>
              <a:t>between them.</a:t>
            </a:r>
          </a:p>
          <a:p>
            <a:r>
              <a:t>2. Author the template incrementally — write a couple of resources, applying the industry practices</a:t>
            </a:r>
          </a:p>
          <a:p>
            <a:r>
              <a:t>(a parameter instead of a hard-coded value, a tag, least privilege on any role).</a:t>
            </a:r>
          </a:p>
          <a:p>
            <a:r>
              <a:t>3. Deploy it; watch it reach CREATE_COMPLETE.</a:t>
            </a:r>
          </a:p>
          <a:p>
            <a:r>
              <a:t>4. Confirm the resources exist in the console/CLI.</a:t>
            </a:r>
          </a:p>
          <a:p/>
          <a:p>
            <a:r>
              <a:t>WHAT TO EMPHASISE:</a:t>
            </a:r>
          </a:p>
          <a:p>
            <a:r>
              <a:t>• Design BEFORE typing — say the resources and dependencies out loud first.</a:t>
            </a:r>
          </a:p>
          <a:p>
            <a:r>
              <a:t>• Build incrementally — deploy the small set, confirm, and note how you'd add more; don't write it all</a:t>
            </a:r>
          </a:p>
          <a:p>
            <a:r>
              <a:t>at once.</a:t>
            </a:r>
          </a:p>
          <a:p>
            <a:r>
              <a:t>• Point at each industry practice AS you write it (parameter, tag, least-privilege role) — model the</a:t>
            </a:r>
          </a:p>
          <a:p>
            <a:r>
              <a:t>habits from the previous slide.</a:t>
            </a:r>
          </a:p>
          <a:p>
            <a:r>
              <a:t>• Set Region us-east-1 first and name the substitution.</a:t>
            </a:r>
          </a:p>
          <a:p/>
          <a:p>
            <a:r>
              <a:t>PREP: clean Learner Lab in us-east-1, a small resource set in mind (e.g. a couple of related resources</a:t>
            </a:r>
          </a:p>
          <a:p>
            <a:r>
              <a:t>with one dependency), editor ready. ~8–10 min to screen + narrate before the activity.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Facilitation — the C1 practice; students author their OWN template on the practice scenario. First</a:t>
            </a:r>
          </a:p>
          <a:p>
            <a:r>
              <a:t>from-scratch authoring — expect it to be slower than operating.</a:t>
            </a:r>
          </a:p>
          <a:p>
            <a:r>
              <a:t>Tell students, in these words: "On the practice scenario, author a template that provisions a related</a:t>
            </a:r>
          </a:p>
          <a:p>
            <a:r>
              <a:t>resource set to a business need. Deploy it to us-east-1 and confirm it."</a:t>
            </a:r>
          </a:p>
          <a:p>
            <a:r>
              <a:t>Steps (put on the board):</a:t>
            </a:r>
          </a:p>
          <a:p>
            <a:r>
              <a:t>1. Decide the outcome first — what related resources, what depends on what, inputs and outputs.</a:t>
            </a:r>
          </a:p>
          <a:p>
            <a:r>
              <a:t>2. Author incrementally — a couple of resources, apply the industry practices (parameters, tags,</a:t>
            </a:r>
          </a:p>
          <a:p>
            <a:r>
              <a:t>least-privilege), deploy, confirm, add more.</a:t>
            </a:r>
          </a:p>
          <a:p>
            <a:r>
              <a:t>3. Deploy in us-east-1 — [scenario: ap-southeast-2 (Sydney) | deploy: us-east-1] — to CREATE_COMPLETE;</a:t>
            </a:r>
          </a:p>
          <a:p>
            <a:r>
              <a:t>confirm the resources.</a:t>
            </a:r>
          </a:p>
          <a:p>
            <a:r>
              <a:t>Must produce: their own working template that deploys a related resource set to CREATE_COMPLETE,</a:t>
            </a:r>
          </a:p>
          <a:p>
            <a:r>
              <a:t>confirmed.</a:t>
            </a:r>
          </a:p>
          <a:p>
            <a:r>
              <a:t>Timing: ~30 min (authoring is slower). Where they get stuck: syntax errors (a bad !Ref, indentation) and</a:t>
            </a:r>
          </a:p>
          <a:p>
            <a:r>
              <a:t>trying to write it all before deploying — push them to deploy a tiny version early and grow it.</a:t>
            </a:r>
          </a:p>
          <a:p>
            <a:r>
              <a:t>Share-back prompt: "What was your first CREATE_FAILED, and what fixed it?" (normalises debugging your own</a:t>
            </a:r>
          </a:p>
          <a:p>
            <a:r>
              <a:t>template).</a:t>
            </a:r>
          </a:p>
          <a:p>
            <a:r>
              <a:t>No-leakage note: practice scenario — AT2 §4.3 has students author their OWN microservice template on a</a:t>
            </a:r>
          </a:p>
          <a:p>
            <a:r>
              <a:t>different case (comparable, not identical); keep them on the practice need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Primer — parameterisation as the code-reuse outcome. This is the "aha" of IaC: one template, many</a:t>
            </a:r>
          </a:p>
          <a:p>
            <a:r>
              <a:t>configurations.</a:t>
            </a:r>
          </a:p>
          <a:p>
            <a:r>
              <a:t>• First bullet: parameterise the template so the SAME body deploys to different configurations WITHOUT</a:t>
            </a:r>
          </a:p>
          <a:p>
            <a:r>
              <a:t>editing it (KE 8). The template stays fixed; the values change at deploy time.</a:t>
            </a:r>
          </a:p>
          <a:p>
            <a:r>
              <a:t>• Second bullet: the things you pass IN, not bake in — Region, sizes, names, environment. Anything that</a:t>
            </a:r>
          </a:p>
          <a:p>
            <a:r>
              <a:t>varies between deployments is a parameter.</a:t>
            </a:r>
          </a:p>
          <a:p>
            <a:r>
              <a:t>• Third bullet (the point): parameterisation IS the code-reuse outcome — write once, deploy many. This is</a:t>
            </a:r>
          </a:p>
          <a:p>
            <a:r>
              <a:t>why parameters matter, not just how.</a:t>
            </a:r>
          </a:p>
          <a:p>
            <a:r>
              <a:t>Misconception to pre-empt: "to deploy to a different environment I copy the template and edit it." No —</a:t>
            </a:r>
          </a:p>
          <a:p>
            <a:r>
              <a:t>that's two templates to maintain and they drift apart. One parameterised template, different values in.</a:t>
            </a:r>
          </a:p>
          <a:p>
            <a:r>
              <a:t>Question to pose: "You need dev, test and prod versions of the same infrastructure — do you write three</a:t>
            </a:r>
          </a:p>
          <a:p>
            <a:r>
              <a:t>templates?" (No — one template, three sets of parameter values).</a:t>
            </a:r>
          </a:p>
          <a:p>
            <a:r>
              <a:t>UoC/AT2 tie: ICTCLD505 PC 3.5 (parameterise &amp; deploy to reuse) + KE 8 (parameterisation for config &amp;</a:t>
            </a:r>
          </a:p>
          <a:p>
            <a:r>
              <a:t>code reuse) → AT2 §4.3 + §5 (D3/D8).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Bespoke — updating an authored template safely and confirming it, and the Region-as-parameter payoff.</a:t>
            </a:r>
          </a:p>
          <a:p>
            <a:r>
              <a:t>• First bullet: UPDATE and redeploy to modify AND add resources — via a CHANGE SET (the same</a:t>
            </a:r>
          </a:p>
          <a:p>
            <a:r>
              <a:t>review-the-diff discipline from Topic 6, now on your own template).</a:t>
            </a:r>
          </a:p>
          <a:p>
            <a:r>
              <a:t>• Second bullet: CONFIRM the deployment via console or CLI after each change — deploy → confirm, every</a:t>
            </a:r>
          </a:p>
          <a:p>
            <a:r>
              <a:t>time.</a:t>
            </a:r>
          </a:p>
          <a:p>
            <a:r>
              <a:t>• Third bullet (the neat payoff): Region is itself a PARAMETER — the same template targets us-east-1 in</a:t>
            </a:r>
          </a:p>
          <a:p>
            <a:r>
              <a:t>the lab OR the design Region in production. This is exactly the [scenario | deploy] substitution</a:t>
            </a:r>
          </a:p>
          <a:p>
            <a:r>
              <a:t>expressed as a parameter.</a:t>
            </a:r>
          </a:p>
          <a:p>
            <a:r>
              <a:t>Misconception to pre-empt: "to add a resource I tear down and rebuild the stack." No — you update via a</a:t>
            </a:r>
          </a:p>
          <a:p>
            <a:r>
              <a:t>change set; the platform adds/modifies in place and shows you the diff first. Rebuilding loses state and</a:t>
            </a:r>
          </a:p>
          <a:p>
            <a:r>
              <a:t>data.</a:t>
            </a:r>
          </a:p>
          <a:p>
            <a:r>
              <a:t>Question to pose: "Why is 'Region as a parameter' the cleanest way to handle our scenario/deploy</a:t>
            </a:r>
          </a:p>
          <a:p>
            <a:r>
              <a:t>substitution?" (one template, deploy to us-east-1 in the lab or the design Region in prod — no editing).</a:t>
            </a:r>
          </a:p>
          <a:p>
            <a:r>
              <a:t>UoC/AT2 tie: ICTCLD505 PC 3.3 (update &amp; redeploy) + PC 3.4 (confirm via console/CLI) + PE 2 → AT2 §4.3</a:t>
            </a:r>
          </a:p>
          <a:p>
            <a:r>
              <a:t>(D3).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Facilitation — the C2 practice; students parameterise their own template and prove reuse by redeploying</a:t>
            </a:r>
          </a:p>
          <a:p>
            <a:r>
              <a:t>with different values.</a:t>
            </a:r>
          </a:p>
          <a:p>
            <a:r>
              <a:t>Tell students, in these words: "On the practice scenario, parameterise your template and redeploy it</a:t>
            </a:r>
          </a:p>
          <a:p>
            <a:r>
              <a:t>with different values. Confirm the reconfigured resources."</a:t>
            </a:r>
          </a:p>
          <a:p>
            <a:r>
              <a:t>Steps (put on the board):</a:t>
            </a:r>
          </a:p>
          <a:p>
            <a:r>
              <a:t>1. Pick a hard-coded value in your template (name, size, or Region) and make it a Parameter.</a:t>
            </a:r>
          </a:p>
          <a:p>
            <a:r>
              <a:t>2. Redeploy with one set of values via a change set; confirm.</a:t>
            </a:r>
          </a:p>
          <a:p>
            <a:r>
              <a:t>3. Redeploy AGAIN with different values; confirm the SAME template produced a different configuration.</a:t>
            </a:r>
          </a:p>
          <a:p>
            <a:r>
              <a:t>Must produce: one parameterised template deployed twice with different values, each confirmed — reuse</a:t>
            </a:r>
          </a:p>
          <a:p>
            <a:r>
              <a:t>demonstrated.</a:t>
            </a:r>
          </a:p>
          <a:p>
            <a:r>
              <a:t>Timing: ~25 min. Where they get stuck: they edit the template body instead of just the parameter values</a:t>
            </a:r>
          </a:p>
          <a:p>
            <a:r>
              <a:t>(defeats the point) — insist the body stays fixed between the two deploys; and parameter type/default</a:t>
            </a:r>
          </a:p>
          <a:p>
            <a:r>
              <a:t>errors.</a:t>
            </a:r>
          </a:p>
          <a:p>
            <a:r>
              <a:t>Share-back prompt: "Prove your template is reusable — what changed between your two deploys, and what</a:t>
            </a:r>
          </a:p>
          <a:p>
            <a:r>
              <a:t>stayed the same?" (values changed; body fixed).</a:t>
            </a:r>
          </a:p>
          <a:p>
            <a:r>
              <a:t>No-leakage note: practice scenario — AT2 §4.3 assesses parameterisation on the student's own</a:t>
            </a:r>
          </a:p>
          <a:p>
            <a:r>
              <a:t>microservice template (comparable, not identical).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Facilitation — the C2 practice; students parameterise their own template and prove reuse by redeploying</a:t>
            </a:r>
          </a:p>
          <a:p>
            <a:r>
              <a:t>with different values.</a:t>
            </a:r>
          </a:p>
          <a:p>
            <a:r>
              <a:t>Tell students, in these words: "On the practice scenario, parameterise your template and redeploy it</a:t>
            </a:r>
          </a:p>
          <a:p>
            <a:r>
              <a:t>with different values. Confirm the reconfigured resources."</a:t>
            </a:r>
          </a:p>
          <a:p>
            <a:r>
              <a:t>Steps (put on the board):</a:t>
            </a:r>
          </a:p>
          <a:p>
            <a:r>
              <a:t>1. Pick a hard-coded value in your template (name, size, or Region) and make it a Parameter.</a:t>
            </a:r>
          </a:p>
          <a:p>
            <a:r>
              <a:t>2. Redeploy with one set of values via a change set; confirm.</a:t>
            </a:r>
          </a:p>
          <a:p>
            <a:r>
              <a:t>3. Redeploy AGAIN with different values; confirm the SAME template produced a different configuration.</a:t>
            </a:r>
          </a:p>
          <a:p>
            <a:r>
              <a:t>Must produce: one parameterised template deployed twice with different values, each confirmed — reuse</a:t>
            </a:r>
          </a:p>
          <a:p>
            <a:r>
              <a:t>demonstrated.</a:t>
            </a:r>
          </a:p>
          <a:p>
            <a:r>
              <a:t>Timing: ~25 min. Where they get stuck: they edit the template body instead of just the parameter values</a:t>
            </a:r>
          </a:p>
          <a:p>
            <a:r>
              <a:t>(defeats the point) — insist the body stays fixed between the two deploys; and parameter type/default</a:t>
            </a:r>
          </a:p>
          <a:p>
            <a:r>
              <a:t>errors.</a:t>
            </a:r>
          </a:p>
          <a:p>
            <a:r>
              <a:t>Share-back prompt: "Prove your template is reusable — what changed between your two deploys, and what</a:t>
            </a:r>
          </a:p>
          <a:p>
            <a:r>
              <a:t>stayed the same?" (values changed; body fixed).</a:t>
            </a:r>
          </a:p>
          <a:p>
            <a:r>
              <a:t>No-leakage note: practice scenario — AT2 §4.3 assesses parameterisation on the student's own</a:t>
            </a:r>
          </a:p>
          <a:p>
            <a:r>
              <a:t>microservice template (comparable, not identical).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Bespoke — the two C3 skills: clean removal and troubleshooting your OWN template. Close the lifecycle.</a:t>
            </a:r>
          </a:p>
          <a:p>
            <a:r>
              <a:t>• First bullet: remove the deployed resources and DELETE the template cleanly — no orphaned resources, no</a:t>
            </a:r>
          </a:p>
          <a:p>
            <a:r>
              <a:t>lingering cost. Deleting the stack should leave nothing behind.</a:t>
            </a:r>
          </a:p>
          <a:p>
            <a:r>
              <a:t>• Second bullet: test and troubleshoot errors in your OWN template — read the event, diagnose, fix,</a:t>
            </a:r>
          </a:p>
          <a:p>
            <a:r>
              <a:t>redeploy (the Topic 6 method, now on code you wrote).</a:t>
            </a:r>
          </a:p>
          <a:p>
            <a:r>
              <a:t>• Third bullet (the encouragement): your own bugs are the best teacher — a bad !Ref or property tells you</a:t>
            </a:r>
          </a:p>
          <a:p>
            <a:r>
              <a:t>exactly what to fix. Debugging your own template is how the skill sticks.</a:t>
            </a:r>
          </a:p>
          <a:p>
            <a:r>
              <a:t>Misconception to pre-empt: "if a delete fails, just leave it — it's gone from my view." No — orphaned</a:t>
            </a:r>
          </a:p>
          <a:p>
            <a:r>
              <a:t>resources keep costing money and can block a rebuild; confirm the delete actually removed everything.</a:t>
            </a:r>
          </a:p>
          <a:p>
            <a:r>
              <a:t>Question to pose: "You delete your stack but a resource lingers — why does that matter, and what do you</a:t>
            </a:r>
          </a:p>
          <a:p>
            <a:r>
              <a:t>check?" (ongoing cost / clashes on rebuild; check the delete events and the console for orphans).</a:t>
            </a:r>
          </a:p>
          <a:p>
            <a:r>
              <a:t>UoC/AT2 tie: ICTCLD505 PC 3.6 (remove resources; delete templates) + PC 3.7 (troubleshoot own template</a:t>
            </a:r>
          </a:p>
          <a:p>
            <a:r>
              <a:t>errors) + PE 2 → AT2 §4.3 (D3).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Facilitation — the C3 practice; students introduce and fix an error in their own template, then remove</a:t>
            </a:r>
          </a:p>
          <a:p>
            <a:r>
              <a:t>the stack cleanly. Closes the author-your-own lifecycle.</a:t>
            </a:r>
          </a:p>
          <a:p>
            <a:r>
              <a:t>Tell students, in these words: "On the practice scenario, introduce and fix a template error, then remove</a:t>
            </a:r>
          </a:p>
          <a:p>
            <a:r>
              <a:t>the stack cleanly."</a:t>
            </a:r>
          </a:p>
          <a:p>
            <a:r>
              <a:t>Steps (put on the board):</a:t>
            </a:r>
          </a:p>
          <a:p>
            <a:r>
              <a:t>1. Introduce a deliberate error into your own template (e.g. a bad !Ref or an invalid property).</a:t>
            </a:r>
          </a:p>
          <a:p>
            <a:r>
              <a:t>2. Deploy; read the first CREATE_FAILED event; diagnose and fix; redeploy to success.</a:t>
            </a:r>
          </a:p>
          <a:p>
            <a:r>
              <a:t>3. Remove the stack cleanly; confirm no resources are left behind.</a:t>
            </a:r>
          </a:p>
          <a:p>
            <a:r>
              <a:t>Must produce: a template broken and fixed by its author, then a clean teardown with no orphaned</a:t>
            </a:r>
          </a:p>
          <a:p>
            <a:r>
              <a:t>resources.</a:t>
            </a:r>
          </a:p>
          <a:p>
            <a:r>
              <a:t>Timing: ~20 min. Where they get stuck: fixing by trial-and-error instead of reading the first failure;</a:t>
            </a:r>
          </a:p>
          <a:p>
            <a:r>
              <a:t>and assuming delete worked — make them confirm the teardown in the console.</a:t>
            </a:r>
          </a:p>
          <a:p>
            <a:r>
              <a:t>Share-back prompt: "What error did you plant, how did the event tell you, and did your teardown leave</a:t>
            </a:r>
          </a:p>
          <a:p>
            <a:r>
              <a:t>anything behind?"</a:t>
            </a:r>
          </a:p>
          <a:p>
            <a:r>
              <a:t>No-leakage note: practice scenario — AT2 §4.3 assesses troubleshooting + clean removal on the student's</a:t>
            </a:r>
          </a:p>
          <a:p>
            <a:r>
              <a:t>own microservice template (comparable, not identical).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EDA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5156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000" b="1" i="0">
                <a:solidFill>
                  <a:srgbClr val="FBB900"/>
                </a:solidFill>
                <a:latin typeface="Roboto"/>
              </a:rPr>
              <a:t>TOPIC 07</a:t>
            </a:r>
          </a:p>
          <a:p>
            <a:pPr>
              <a:spcBef>
                <a:spcPts val="800"/>
              </a:spcBef>
            </a:pPr>
            <a:r>
              <a:rPr sz="4600" b="1" i="0">
                <a:solidFill>
                  <a:srgbClr val="FFFFFF"/>
                </a:solidFill>
                <a:latin typeface="Roboto"/>
              </a:rPr>
              <a:t>Authoring &amp; parameterising your own IaC template</a:t>
            </a:r>
          </a:p>
          <a:p>
            <a:pPr>
              <a:spcBef>
                <a:spcPts val="1200"/>
              </a:spcBef>
            </a:pPr>
            <a:r>
              <a:rPr sz="2200" b="0" i="1">
                <a:solidFill>
                  <a:srgbClr val="D1D1D1"/>
                </a:solidFill>
                <a:latin typeface="Roboto Light"/>
              </a:rPr>
              <a:t>Write your own template from scratch, parameterise it for reuse, redeploy and remove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Roboto"/>
              </a:rPr>
              <a:t>Kangan </a:t>
            </a:r>
            <a:r>
              <a:rPr sz="1600" b="1" i="0">
                <a:solidFill>
                  <a:srgbClr val="EDAB0C"/>
                </a:solidFill>
                <a:latin typeface="Roboto"/>
              </a:rPr>
              <a:t>Institute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From operating to authoring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EDA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737360"/>
            <a:ext cx="548640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Topic 6 operated a provided template; now you write your own from scratch.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Same tooling and lifecycle — this time you declare the resources and their relationships.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You still deploy to us-east-1 in the lab — [scenario: ap-southeast-2 (Sydney) | deploy: us-east-1].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This is the skill you apply to build the microservice template in Topic 8.</a:t>
            </a:r>
          </a:p>
        </p:txBody>
      </p:sp>
      <p:pic>
        <p:nvPicPr>
          <p:cNvPr id="5" name="Picture 4" descr="gen-d655a9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783080"/>
            <a:ext cx="4023360" cy="40233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EDA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103120"/>
            <a:ext cx="32918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0" b="1" i="0">
                <a:solidFill>
                  <a:srgbClr val="FFFFFF"/>
                </a:solidFill>
                <a:latin typeface="Roboto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0" y="2468880"/>
            <a:ext cx="71323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92268F"/>
                </a:solidFill>
                <a:latin typeface="Roboto"/>
              </a:rPr>
              <a:t>SECTION</a:t>
            </a:r>
          </a:p>
          <a:p>
            <a:pPr>
              <a:spcBef>
                <a:spcPts val="600"/>
              </a:spcBef>
            </a:pPr>
            <a:r>
              <a:rPr sz="3800" b="1" i="0">
                <a:solidFill>
                  <a:srgbClr val="2A2929"/>
                </a:solidFill>
                <a:latin typeface="Roboto"/>
              </a:rPr>
              <a:t>Authoring a template</a:t>
            </a:r>
          </a:p>
          <a:p>
            <a:pPr>
              <a:spcBef>
                <a:spcPts val="1000"/>
              </a:spcBef>
            </a:pPr>
            <a:r>
              <a:rPr sz="2000" b="0" i="1">
                <a:solidFill>
                  <a:srgbClr val="484848"/>
                </a:solidFill>
                <a:latin typeface="Roboto Light"/>
              </a:rPr>
              <a:t>declare a related set of resources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/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Authoring from syntax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Apply the template syntax to create a template that provisions a set of related resources.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Start from the outcome: what resources, what depends on what, what inputs and outputs.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Build incrementally — a few resources, deploy, confirm, add more.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Industry IaC practice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Parameters over hard-coded values; least-privilege on any role; tag every resource.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Outputs expose what other stacks/services need — the integration seam (KE 9).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Standard practice is what makes a template safe to reuse and hand over.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A2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2331720" cy="457200"/>
          </a:xfrm>
          <a:prstGeom prst="round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2A2929"/>
                </a:solidFill>
                <a:latin typeface="Roboto"/>
              </a:rPr>
              <a:t>RECORDED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310896"/>
            <a:ext cx="83210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500" b="1" i="0">
                <a:solidFill>
                  <a:srgbClr val="FFFFFF"/>
                </a:solidFill>
                <a:latin typeface="Roboto"/>
              </a:rPr>
              <a:t>Author &amp; deploy a template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54480"/>
            <a:ext cx="1088136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Author a small template (a related resource set) and deploy it in the lab (us-east-1).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Confirm the stack reaches CREATE_COMPLETE and the resources exist.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897880"/>
            <a:ext cx="7863840" cy="457200"/>
          </a:xfrm>
          <a:prstGeom prst="roundRect">
            <a:avLst/>
          </a:prstGeom>
          <a:solidFill>
            <a:srgbClr val="F9F9F9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74980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400" b="1" i="0">
                <a:solidFill>
                  <a:srgbClr val="2A2929"/>
                </a:solidFill>
                <a:latin typeface="Roboto"/>
              </a:rPr>
              <a:t>▶  Play the AWS recorded demo (recorded/live demo) — you do this next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691640" cy="457200"/>
          </a:xfrm>
          <a:prstGeom prst="roundRect">
            <a:avLst/>
          </a:prstGeom>
          <a:solidFill>
            <a:srgbClr val="2A2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BB900"/>
                </a:solidFill>
                <a:latin typeface="Roboto"/>
              </a:rPr>
              <a:t>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310896"/>
            <a:ext cx="89611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Roboto"/>
              </a:rPr>
              <a:t>Author your own template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54480"/>
            <a:ext cx="1088136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On the practice scenario, author a template that provisions a related resource set to a business need.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Deploy it to us-east-1 and confirm 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897880"/>
            <a:ext cx="4023360" cy="457200"/>
          </a:xfrm>
          <a:prstGeom prst="roundRect">
            <a:avLst/>
          </a:prstGeom>
          <a:solidFill>
            <a:srgbClr val="F9F9F9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 i="0">
                <a:solidFill>
                  <a:srgbClr val="2A2929"/>
                </a:solidFill>
                <a:latin typeface="Roboto"/>
              </a:rPr>
              <a:t>⏱  ~30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103120"/>
            <a:ext cx="32918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0" b="1" i="0">
                <a:solidFill>
                  <a:srgbClr val="FFFFFF"/>
                </a:solidFill>
                <a:latin typeface="Roboto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0" y="2468880"/>
            <a:ext cx="71323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27B5CE"/>
                </a:solidFill>
                <a:latin typeface="Roboto"/>
              </a:rPr>
              <a:t>SECTION</a:t>
            </a:r>
          </a:p>
          <a:p>
            <a:pPr>
              <a:spcBef>
                <a:spcPts val="600"/>
              </a:spcBef>
            </a:pPr>
            <a:r>
              <a:rPr sz="3800" b="1" i="0">
                <a:solidFill>
                  <a:srgbClr val="2A2929"/>
                </a:solidFill>
                <a:latin typeface="Roboto"/>
              </a:rPr>
              <a:t>Update &amp; parameterise for reuse</a:t>
            </a:r>
          </a:p>
          <a:p>
            <a:pPr>
              <a:spcBef>
                <a:spcPts val="1000"/>
              </a:spcBef>
            </a:pPr>
            <a:r>
              <a:rPr sz="2000" b="0" i="1">
                <a:solidFill>
                  <a:srgbClr val="484848"/>
                </a:solidFill>
                <a:latin typeface="Roboto Light"/>
              </a:rPr>
              <a:t>one template, many configurations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/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Parameterisation &amp; reuse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Parameterise the template so the same body deploys to different configurations without editing it (KE 8).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Region, sizes, names, environment — pass them in, don't bake them in.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Parameterisation is the code-reuse outcome: write once, deploy many.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Update, redeploy &amp; confirm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Update and redeploy the template to modify and add resources — via a change set.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Confirm the deployment via console or CLI after each change.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Region is itself a parameter — the same template targets us-east-1 in the lab or the design region in production.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A2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2331720" cy="457200"/>
          </a:xfrm>
          <a:prstGeom prst="round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2A2929"/>
                </a:solidFill>
                <a:latin typeface="Roboto"/>
              </a:rPr>
              <a:t>RECORDED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310896"/>
            <a:ext cx="83210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500" b="1" i="0">
                <a:solidFill>
                  <a:srgbClr val="FFFFFF"/>
                </a:solidFill>
                <a:latin typeface="Roboto"/>
              </a:rPr>
              <a:t>Parameterise &amp; redeploy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54480"/>
            <a:ext cx="1088136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Add parameters to the template, then redeploy with new values to show the same template producing a different configuration.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897880"/>
            <a:ext cx="7863840" cy="457200"/>
          </a:xfrm>
          <a:prstGeom prst="roundRect">
            <a:avLst/>
          </a:prstGeom>
          <a:solidFill>
            <a:srgbClr val="F9F9F9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74980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400" b="1" i="0">
                <a:solidFill>
                  <a:srgbClr val="2A2929"/>
                </a:solidFill>
                <a:latin typeface="Roboto"/>
              </a:rPr>
              <a:t>▶  Play the AWS recorded demo (recorded/live demo) — you do this next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691640" cy="457200"/>
          </a:xfrm>
          <a:prstGeom prst="roundRect">
            <a:avLst/>
          </a:prstGeom>
          <a:solidFill>
            <a:srgbClr val="2A2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BB900"/>
                </a:solidFill>
                <a:latin typeface="Roboto"/>
              </a:rPr>
              <a:t>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310896"/>
            <a:ext cx="89611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Roboto"/>
              </a:rPr>
              <a:t>Parameterise &amp; redeploy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54480"/>
            <a:ext cx="1088136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On the practice scenario, parameterise your template and redeploy it with different values.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Confirm the reconfigured resources.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897880"/>
            <a:ext cx="4023360" cy="457200"/>
          </a:xfrm>
          <a:prstGeom prst="roundRect">
            <a:avLst/>
          </a:prstGeom>
          <a:solidFill>
            <a:srgbClr val="F9F9F9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 i="0">
                <a:solidFill>
                  <a:srgbClr val="2A2929"/>
                </a:solidFill>
                <a:latin typeface="Roboto"/>
              </a:rPr>
              <a:t>⏱  ~25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103120"/>
            <a:ext cx="32918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0" b="1" i="0">
                <a:solidFill>
                  <a:srgbClr val="FFFFFF"/>
                </a:solidFill>
                <a:latin typeface="Roboto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0" y="2468880"/>
            <a:ext cx="71323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205F61"/>
                </a:solidFill>
                <a:latin typeface="Roboto"/>
              </a:rPr>
              <a:t>SECTION</a:t>
            </a:r>
          </a:p>
          <a:p>
            <a:pPr>
              <a:spcBef>
                <a:spcPts val="600"/>
              </a:spcBef>
            </a:pPr>
            <a:r>
              <a:rPr sz="3800" b="1" i="0">
                <a:solidFill>
                  <a:srgbClr val="2A2929"/>
                </a:solidFill>
                <a:latin typeface="Roboto"/>
              </a:rPr>
              <a:t>Remove &amp; troubleshoot</a:t>
            </a:r>
          </a:p>
          <a:p>
            <a:pPr>
              <a:spcBef>
                <a:spcPts val="1000"/>
              </a:spcBef>
            </a:pPr>
            <a:r>
              <a:rPr sz="2000" b="0" i="1">
                <a:solidFill>
                  <a:srgbClr val="484848"/>
                </a:solidFill>
                <a:latin typeface="Roboto Light"/>
              </a:rPr>
              <a:t>clean up, and fix your own errors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/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Remove cleanly &amp; troubleshoot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Remove the deployed resources and delete the template cleanly — no orphaned resources, no lingering cost.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Test and troubleshoot errors in your own template: read the event, diagnose, fix, redeploy.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Your own bugs are the best teacher — a bad !Ref or property tells you exactly what to fix.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691640" cy="457200"/>
          </a:xfrm>
          <a:prstGeom prst="roundRect">
            <a:avLst/>
          </a:prstGeom>
          <a:solidFill>
            <a:srgbClr val="2A2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BB900"/>
                </a:solidFill>
                <a:latin typeface="Roboto"/>
              </a:rPr>
              <a:t>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310896"/>
            <a:ext cx="89611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Roboto"/>
              </a:rPr>
              <a:t>Remove &amp; troubleshoot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54480"/>
            <a:ext cx="1088136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On the practice scenario, introduce and fix a template error, then remove the stack cleanly.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897880"/>
            <a:ext cx="4023360" cy="457200"/>
          </a:xfrm>
          <a:prstGeom prst="roundRect">
            <a:avLst/>
          </a:prstGeom>
          <a:solidFill>
            <a:srgbClr val="F9F9F9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 i="0">
                <a:solidFill>
                  <a:srgbClr val="2A2929"/>
                </a:solidFill>
                <a:latin typeface="Roboto"/>
              </a:rPr>
              <a:t>⏱  ~20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b="1" i="0">
                <a:solidFill>
                  <a:srgbClr val="2A2929"/>
                </a:solidFill>
                <a:latin typeface="Roboto"/>
              </a:rPr>
              <a:t>Key takeaways</a:t>
            </a:r>
          </a:p>
          <a:p>
            <a:pPr>
              <a:spcBef>
                <a:spcPts val="200"/>
              </a:spcBef>
            </a:pPr>
            <a:r>
              <a:rPr sz="1800" b="1" i="0">
                <a:solidFill>
                  <a:srgbClr val="205F61"/>
                </a:solidFill>
                <a:latin typeface="Roboto"/>
              </a:rPr>
              <a:t>Topic 7 · Key takeaways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600200"/>
            <a:ext cx="1463040" cy="508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965960"/>
            <a:ext cx="109728" cy="841248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65960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Author a template that provisions a related resource set — declare desired state, build incrementally.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916936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916936"/>
            <a:ext cx="109728" cy="841248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916936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Industry practice: parameters over hard-coding, least-privilege, tagging, outputs for integration.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867912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867912"/>
            <a:ext cx="109728" cy="841248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867912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Parameterise for reuse — the same template, many configurations (Region included).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818888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4818888"/>
            <a:ext cx="109728" cy="841248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818888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Update via change sets, confirm each change, and remove cleanly.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EDA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51560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Roboto"/>
              </a:rPr>
              <a:t>Next: Topic 8 — build the microservice</a:t>
            </a:r>
          </a:p>
          <a:p>
            <a:pPr>
              <a:lnSpc>
                <a:spcPct val="105000"/>
              </a:lnSpc>
              <a:spcBef>
                <a:spcPts val="1200"/>
              </a:spcBef>
            </a:pPr>
            <a:r>
              <a:rPr sz="1900" b="0" i="0">
                <a:solidFill>
                  <a:srgbClr val="E8E8E8"/>
                </a:solidFill>
                <a:latin typeface="Roboto Light"/>
              </a:rPr>
              <a:t>You can now author and parameterise your own template.</a:t>
            </a:r>
          </a:p>
          <a:p>
            <a:pPr>
              <a:lnSpc>
                <a:spcPct val="105000"/>
              </a:lnSpc>
              <a:spcBef>
                <a:spcPts val="1200"/>
              </a:spcBef>
            </a:pPr>
            <a:r>
              <a:rPr sz="1900" b="0" i="0">
                <a:solidFill>
                  <a:srgbClr val="E8E8E8"/>
                </a:solidFill>
                <a:latin typeface="Roboto Light"/>
              </a:rPr>
              <a:t>Next you use that skill to provision the serverless audit-log microservice from the supplied code.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