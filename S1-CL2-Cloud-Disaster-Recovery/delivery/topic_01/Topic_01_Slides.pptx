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slide of AT1 and the cluster's design work — set the job and the boundary, don't teach yet.</a:t>
            </a:r>
          </a:p>
          <a:p>
            <a:r>
              <a:t>The workbook walks them through this design task by task; today runs tasks 1 to 14 in order.</a:t>
            </a:r>
          </a:p>
          <a:p>
            <a:r>
              <a:t>Hold the line: design only, to the supplied requirements — gold-plating is a defect, not a bonus.</a:t>
            </a:r>
          </a:p>
          <a:p>
            <a:r>
              <a:t>Question to pose: name one thing that has to change about how a site is delivered when its audience goes global.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Vocabulary slide — vendor-neutral, tight. Stress "without manual intervention"; that separates web-scale from buying a bigger server.</a:t>
            </a:r>
          </a:p>
          <a:p>
            <a:r>
              <a:t>The network/compute/storage triple is the spine of the whole design — every change scales one of the three.</a:t>
            </a:r>
          </a:p>
          <a:p>
            <a:r>
              <a:t>Misconception: scaling up (one big server) vs scaling out (many small units, added and removed automatically).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workbook task 1's discipline: needs with sources. A consultant reads the brief; they don't invent numbers.</a:t>
            </a:r>
          </a:p>
          <a:p>
            <a:r>
              <a:t>Press the attribution line — "where would 99.9% availability actually be written down?"</a:t>
            </a:r>
          </a:p>
          <a:p>
            <a:r>
              <a:t>The load-bearing requirements are non-functional; a feature list doesn't size an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review is a comparison against requirements, not a description. Every gap ties to the need it fails.</a:t>
            </a:r>
          </a:p>
          <a:p>
            <a:r>
              <a:t>The already-adequate layers are the trap worth naming — the workbook's worked example row deliberately answers "yes".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1–2. Both are table tasks with a given example row.</a:t>
            </a:r>
          </a:p>
          <a:p>
            <a:r>
              <a:t>Where they get stuck: vague needs with no source — point them back to the named intranet documents.</a:t>
            </a:r>
          </a:p>
          <a:p>
            <a:r>
              <a:t>Share-back: one gap and the exact requirement it breaks.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3 — read the residency requirements document and record what it does and does not oblige.</a:t>
            </a:r>
          </a:p>
          <a:p>
            <a:r>
              <a:t>The over-read is the common failure: assuming everything must live onshore when only certain data must.</a:t>
            </a:r>
          </a:p>
          <a:p>
            <a:r>
              <a:t>This constraint recurs through the whole cluster; establish the careful-reading habit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4 — identify the services before designing with them. Keeps the design honest: every box on the later diagram comes from this list.</a:t>
            </a:r>
          </a:p>
          <a:p>
            <a:r>
              <a:t>Press "what job does it do" over brand names — the service category is the decision, the product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3–4.</a:t>
            </a:r>
          </a:p>
          <a:p>
            <a:r>
              <a:t>Watch for the residency over-read; the document says precisely what is in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Turns the triple into three concrete moves, one layer per line — still vendor-neutral.</a:t>
            </a:r>
          </a:p>
          <a:p>
            <a:r>
              <a:t>The read-heavy audience is why scaling reads is the storage job; connect it back to the recorded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keystone slide — assemble the diagram live, tier by tier, mapping each tier to a gap from C1.</a:t>
            </a:r>
          </a:p>
          <a:p>
            <a:r>
              <a:t>Every box answers a named gap; a component that closes no requirement doesn't belong.</a:t>
            </a:r>
          </a:p>
          <a:p>
            <a:r>
              <a:t>This is a worked example to adapt, not a template to copy — their workbook design is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global-reach slice — task 8's subject. "Healthy" matters: routing is an availability mechanism too.</a:t>
            </a:r>
          </a:p>
          <a:p>
            <a:r>
              <a:t>The four principles are examinable and underpin every box; students cite them in the knowledge questions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9 makes caching its own decision — treat it as one, not a checkbox.</a:t>
            </a:r>
          </a:p>
          <a:p>
            <a:r>
              <a:t>The staleness trade-off is the discussion: what happens when the cached copy is wrong, and how long can that last?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5–9, one design table per tier. The biggest block of the Topic.</a:t>
            </a:r>
          </a:p>
          <a:p>
            <a:r>
              <a:t>Circulate against orphan components — every choice traces to a recorded need from tasks 1–3.</a:t>
            </a:r>
          </a:p>
          <a:p>
            <a:r>
              <a:t>They design their own; the teaching diagram is a model, not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10 — a thought experiment against their own design, layer by layer.</a:t>
            </a:r>
          </a:p>
          <a:p>
            <a:r>
              <a:t>Push for the mechanism: "what exactly adds capacity at this layer, and what triggers it?"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11's subject — availability and security are one check, not two: a volumetric attack is an availability attack.</a:t>
            </a:r>
          </a:p>
          <a:p>
            <a:r>
              <a:t>The three threat classes map one-to-one to the defences; have students make the pairing.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12 — the review discipline. It is an engineering step that can send you back, not a proofread.</a:t>
            </a:r>
          </a:p>
          <a:p>
            <a:r>
              <a:t>A recorded revision is good evidence, not an admission of error — say so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10–12, all against their own tasks 5–9 answers.</a:t>
            </a:r>
          </a:p>
          <a:p>
            <a:r>
              <a:t>The common miss is skipping the revise step — press for at least an honest "checked, nothing changed, because…".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13. The drawing is evidence the design hangs together — mismatches with tasks 5–9 surface here.</a:t>
            </a:r>
          </a:p>
          <a:p>
            <a:r>
              <a:t>Any drawing tool is fine; legibility and agreement with the design beat prettiness.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14 closes the web-scale half — the written argument for the design.</a:t>
            </a:r>
          </a:p>
          <a:p>
            <a:r>
              <a:t>Push requirement-option-why as the sentence shape; "because it is best practice" is not a justification.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13–14.</a:t>
            </a:r>
          </a:p>
          <a:p>
            <a:r>
              <a:t>Have pairs swap diagrams and try to read each other's — the questions they ask are the missing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01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Web-scale architecture design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Design the changes that scale the platform for a global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From design to web-scale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Topic 1 opens AT1: you design the changes that ready a platform for serving a large, distant audience.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Design for scale, reach, availability and a public surface — to the supplied requirements, with a source for every number.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This Topic is the web-scale half of the design; the microservice half is Topic 2.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Design only — the build is AT2.</a:t>
            </a:r>
          </a:p>
        </p:txBody>
      </p:sp>
      <p:pic>
        <p:nvPicPr>
          <p:cNvPr id="5" name="Picture 4" descr="gen-24f7e0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needs, and the current position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what to scale, and the gaps to close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web-scale 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Web-scale means serving large, variable, global demand without manual intervention.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Scale elastically: add capacity as load rises, release it as load falls — pay for what you use.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three things that scale: network, compute, storage.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Establish what the design is held 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Before designing anything, read the requirements and the application specification and record the needs.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Who uses it, from where, how much, how variable — plus the non-functionals: availability, latency, cost.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Name the document each need came from. A target you cannot attribute is one you have assumed.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Review the current architecture against those needs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Go through the current architecture layer by layer and ask: does it meet the needs just recorded?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Where it does not, say why not — that gap is what the design must close.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Some layers already meet their needs. Finding those matters as much as finding the gaps — a review that rebuilds what already works has misread the job.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Record the needs and review the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1 and 2.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Record the scaling and performance needs with the document each came from, then review the current architecture layer by layer against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Needs and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Web-scale is elastic scaling of network, compute and storage to variable global demand.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Every need carries a source; every gap ties to a need.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layer that already meets its needs stays as it 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design inputs: residency and services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constraints and building blocks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residency obligation is a design input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Some data is legally obliged to stay in, or be copied to, a particular country — read what the obligation actually requires before designing around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Record what it obliges, and just as importantly what it does not — an obligation read too broadly costs as much as one ignored.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is a constraint you carry through the design, not a feature you add at the end.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Choose the services before you place them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List the cloud services the design needs, layer by layer, and what job each does.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Managed services first: they scale, replicate and patch without you operating them.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list is the palette; the next section arranges it into an architecture.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Record the obligation and pick the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3 and 4.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Record what the residency requirements oblige and do not oblige, then list the cloud services the design needs and the job each does.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Inputs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Read the obligation; record what it requires and what it does 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Pick the services and the job each does before arranging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Designing the tiers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scale by layer, reach the globe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Scaling by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Network: load balancing spreads traffic; edge delivery shortens the path to the user.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Compute: a pool that grows and shrinks on demand, not one fixed server.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Storage: managed, replicated data services that scale reads.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target web-scale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edge absorbs read-heavy global traffic and the public attack surface.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 load balancer fronts an auto-scaling application tier spread across locations.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Managed data tiers and an in-memory cache scale the reads.</a:t>
            </a:r>
          </a:p>
        </p:txBody>
      </p:sp>
      <p:pic>
        <p:nvPicPr>
          <p:cNvPr id="5" name="Picture 4" descr="web-scale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104" y="1783080"/>
            <a:ext cx="4760031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Designing for a distant audience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Serve static and cacheable content from the edge, close to the users.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DNS and a global entry point route each user to the nearest healthy edge.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web-scaling principles at work: statelessness, caching, horizontal scale, loose coupling.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caching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Two different caches solve two different problems: the edge caches static content near users; an in-memory cache holds hot data near compute.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Cache what is read often and changes rarely; every cache carries a staleness trade-off.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Choose the simplest option that meets the requirement, and be ready to say why.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four web-scale choices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828800"/>
          <a:ext cx="1088136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Choice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Use when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Trade-off</a:t>
                      </a:r>
                    </a:p>
                  </a:txBody>
                  <a:tcPr marL="76200" marR="76200">
                    <a:solidFill>
                      <a:srgbClr val="205F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SQL vs NoSQL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relational + transactional vs flexible, high-scale reads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consistency vs scale/flexibility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Monolith vs microservice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simple and small vs independent scale and deploy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simplicity vs operational complexity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VM / container / serverless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control vs portability vs no-ops scale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management overhead vs flexibility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CDN vs in-memory cache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cache static at the edge vs cache hot data near compute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global static reads vs dynamic hot data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484848"/>
                </a:solidFill>
                <a:latin typeface="Roboto Light"/>
              </a:rPr>
              <a:t>Choose the simplest option that meets the requirement — you will justify each choice in writing.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Design the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5 to 9.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Design the network and entry point, the compute tier, the database and storage tier, the global serving approach, and make the caching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The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Scale each layer with its own mechanism; deliver at the edge.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Statelessness, caching, horizontal scale, loose coupling.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Two caches, two problems; every cache trades staleness for speed.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4488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Checking the design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prove it scales, keep it up, keep it safe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Check it scales as utilisation increases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Walk the design up: double the load, then ten times it — which layer moves first, and does anything sit fixed?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fixed component in a scaling path is the next bottleneck; find it on paper before it finds you in production.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Protecting the public surface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 public site faces the open internet: web exploits, bots and volumetric attacks.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Defend at the edge: a firewall for malicious requests, the delivery network absorbing volume.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Deployment across locations plus health checks keeps the service available through failures.</a:t>
            </a:r>
          </a:p>
        </p:txBody>
      </p:sp>
      <p:pic>
        <p:nvPicPr>
          <p:cNvPr id="5" name="Picture 4" descr="gen-f3305c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Review your design and revise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Read the whole design back against every requirement: scale, reach, availability, security, residency.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Where a requirement is not met, make the simplest change that satisfies it, and record what you changed.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review that changes nothing and finds nothing has usually not been done.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Check, harden and revise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10, 11 and 12.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Check the design scales with utilisation, confirm availability and security are maintained, then review the whole design and record any revision.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004488"/>
                </a:solidFill>
                <a:latin typeface="Roboto"/>
              </a:rPr>
              <a:t>Section 4 · The checks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Walk the load up and find the fixed component.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Availability and security are one check on a public surface.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Review against every requirement; record what changed.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Draw it, and justify it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one picture, one argument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Draw the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One diagram of the whole design: every tier, every service you chose, and where the users come in.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Label what each component is, not just what product it uses — a reader should see the job of every box.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diagram must agree with the tables that produced it; a box with no design decision behind it is a decoration.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Justify the design in writing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For each major choice: the requirement it serves, the option you took, and why that option over the alternative.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Write to be checked: someone holding the requirements should be able to tick your justification off against them.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simplest design that meets the requirements is the strongest claim you can make.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Draw and justify the web-scale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13 and 14.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Draw the full architecture, then justify the design choice by choice against the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Topic 1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Needs with sources; gaps tied to needs; constraints read precisely.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Scale each layer with its own mechanism; check it scales, stays up and stays safe.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Draw the whole design; justify every choice against a requirement.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Next: Topic 2 — the microservice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The web-scale half of the design is done: designed, checked, drawn and justified.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 you design the second half — a small service with its own architecture and contract — and it plugs into this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